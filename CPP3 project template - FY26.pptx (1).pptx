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mo Bold" charset="1" panose="020B0704020202020204"/>
      <p:regular r:id="rId32"/>
    </p:embeddedFont>
    <p:embeddedFont>
      <p:font typeface="Arimo" charset="1" panose="020B0604020202020204"/>
      <p:regular r:id="rId33"/>
    </p:embeddedFont>
    <p:embeddedFont>
      <p:font typeface="Canva Sans Bold" charset="1" panose="020B0803030501040103"/>
      <p:regular r:id="rId34"/>
    </p:embeddedFont>
    <p:embeddedFont>
      <p:font typeface="Canva Sans" charset="1" panose="020B05030305010401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https://github.com/SuvidhJ/QUIC_Identification_and_Policing_HPE_CPP/tree/master" TargetMode="External" Type="http://schemas.openxmlformats.org/officeDocument/2006/relationships/hyperlink"/><Relationship Id="rId7"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2.png" Type="http://schemas.openxmlformats.org/officeDocument/2006/relationships/image"/><Relationship Id="rId6"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3.png" Type="http://schemas.openxmlformats.org/officeDocument/2006/relationships/image"/><Relationship Id="rId6"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1.png" Type="http://schemas.openxmlformats.org/officeDocument/2006/relationships/image"/><Relationship Id="rId6" Target="../media/image3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3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0.png" Type="http://schemas.openxmlformats.org/officeDocument/2006/relationships/image"/><Relationship Id="rId6"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7.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3.png" Type="http://schemas.openxmlformats.org/officeDocument/2006/relationships/image"/><Relationship Id="rId4" Target="../media/image44.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5">
              <a:extLst>
                <a:ext uri="{96DAC541-7B7A-43D3-8B79-37D633B846F1}">
                  <asvg:svgBlip xmlns:asvg="http://schemas.microsoft.com/office/drawing/2016/SVG/main" r:embed="rId6"/>
                </a:ext>
              </a:extLst>
            </a:blip>
            <a:stretch>
              <a:fillRect l="-27" t="0" r="-28" b="0"/>
            </a:stretch>
          </a:blipFill>
        </p:spPr>
      </p:sp>
      <p:sp>
        <p:nvSpPr>
          <p:cNvPr name="Freeform 4" id="4"/>
          <p:cNvSpPr/>
          <p:nvPr/>
        </p:nvSpPr>
        <p:spPr>
          <a:xfrm flipH="false" flipV="false" rot="0">
            <a:off x="562356" y="576072"/>
            <a:ext cx="1536192" cy="438912"/>
          </a:xfrm>
          <a:custGeom>
            <a:avLst/>
            <a:gdLst/>
            <a:ahLst/>
            <a:cxnLst/>
            <a:rect r="r" b="b" t="t" l="l"/>
            <a:pathLst>
              <a:path h="438912" w="1536192">
                <a:moveTo>
                  <a:pt x="0" y="0"/>
                </a:moveTo>
                <a:lnTo>
                  <a:pt x="1536192" y="0"/>
                </a:lnTo>
                <a:lnTo>
                  <a:pt x="1536192" y="438912"/>
                </a:lnTo>
                <a:lnTo>
                  <a:pt x="0" y="438912"/>
                </a:lnTo>
                <a:lnTo>
                  <a:pt x="0" y="0"/>
                </a:lnTo>
                <a:close/>
              </a:path>
            </a:pathLst>
          </a:custGeom>
          <a:blipFill>
            <a:blip r:embed="rId7">
              <a:extLst>
                <a:ext uri="{96DAC541-7B7A-43D3-8B79-37D633B846F1}">
                  <asvg:svgBlip xmlns:asvg="http://schemas.microsoft.com/office/drawing/2016/SVG/main" r:embed="rId8"/>
                </a:ext>
              </a:extLst>
            </a:blip>
            <a:stretch>
              <a:fillRect l="0" t="0" r="0" b="-1542"/>
            </a:stretch>
          </a:blipFill>
        </p:spPr>
      </p:sp>
      <p:grpSp>
        <p:nvGrpSpPr>
          <p:cNvPr name="Group 5" id="5"/>
          <p:cNvGrpSpPr/>
          <p:nvPr/>
        </p:nvGrpSpPr>
        <p:grpSpPr>
          <a:xfrm rot="0">
            <a:off x="562356" y="2720683"/>
            <a:ext cx="15018534" cy="2446424"/>
            <a:chOff x="0" y="0"/>
            <a:chExt cx="20024712" cy="3261899"/>
          </a:xfrm>
        </p:grpSpPr>
        <p:sp>
          <p:nvSpPr>
            <p:cNvPr name="Freeform 6" id="6"/>
            <p:cNvSpPr/>
            <p:nvPr/>
          </p:nvSpPr>
          <p:spPr>
            <a:xfrm flipH="false" flipV="false" rot="0">
              <a:off x="0" y="0"/>
              <a:ext cx="20024717" cy="3261894"/>
            </a:xfrm>
            <a:custGeom>
              <a:avLst/>
              <a:gdLst/>
              <a:ahLst/>
              <a:cxnLst/>
              <a:rect r="r" b="b" t="t" l="l"/>
              <a:pathLst>
                <a:path h="3261894" w="20024717">
                  <a:moveTo>
                    <a:pt x="0" y="0"/>
                  </a:moveTo>
                  <a:lnTo>
                    <a:pt x="20024717" y="0"/>
                  </a:lnTo>
                  <a:lnTo>
                    <a:pt x="20024717" y="3261894"/>
                  </a:lnTo>
                  <a:lnTo>
                    <a:pt x="0" y="3261894"/>
                  </a:lnTo>
                  <a:close/>
                </a:path>
              </a:pathLst>
            </a:custGeom>
            <a:blipFill>
              <a:blip r:embed="rId9">
                <a:alphaModFix amt="0"/>
              </a:blip>
              <a:stretch>
                <a:fillRect l="0" t="-71268" r="0" b="-67967"/>
              </a:stretch>
            </a:blipFill>
          </p:spPr>
        </p:sp>
        <p:sp>
          <p:nvSpPr>
            <p:cNvPr name="TextBox 7" id="7"/>
            <p:cNvSpPr txBox="true"/>
            <p:nvPr/>
          </p:nvSpPr>
          <p:spPr>
            <a:xfrm>
              <a:off x="0" y="57150"/>
              <a:ext cx="20024712" cy="3204749"/>
            </a:xfrm>
            <a:prstGeom prst="rect">
              <a:avLst/>
            </a:prstGeom>
          </p:spPr>
          <p:txBody>
            <a:bodyPr anchor="b" rtlCol="false" tIns="0" lIns="0" bIns="0" rIns="0"/>
            <a:lstStyle/>
            <a:p>
              <a:pPr algn="l">
                <a:lnSpc>
                  <a:spcPts val="7776"/>
                </a:lnSpc>
              </a:pPr>
              <a:r>
                <a:rPr lang="en-US" sz="7200" b="true">
                  <a:solidFill>
                    <a:srgbClr val="292D3A"/>
                  </a:solidFill>
                  <a:latin typeface="Arimo Bold"/>
                  <a:ea typeface="Arimo Bold"/>
                  <a:cs typeface="Arimo Bold"/>
                  <a:sym typeface="Arimo Bold"/>
                </a:rPr>
                <a:t>FY-26: Career Preview Program </a:t>
              </a:r>
            </a:p>
            <a:p>
              <a:pPr algn="l">
                <a:lnSpc>
                  <a:spcPts val="7776"/>
                </a:lnSpc>
              </a:pPr>
              <a:r>
                <a:rPr lang="en-US" sz="7200" b="true">
                  <a:solidFill>
                    <a:srgbClr val="292D3A"/>
                  </a:solidFill>
                  <a:latin typeface="Arimo Bold"/>
                  <a:ea typeface="Arimo Bold"/>
                  <a:cs typeface="Arimo Bold"/>
                  <a:sym typeface="Arimo Bold"/>
                </a:rPr>
                <a:t>               Project Review  (CPP-3)</a:t>
              </a:r>
            </a:p>
          </p:txBody>
        </p:sp>
      </p:grpSp>
      <p:sp>
        <p:nvSpPr>
          <p:cNvPr name="TextBox 8" id="8"/>
          <p:cNvSpPr txBox="true"/>
          <p:nvPr/>
        </p:nvSpPr>
        <p:spPr>
          <a:xfrm rot="0">
            <a:off x="562356" y="7638419"/>
            <a:ext cx="15018534" cy="733371"/>
          </a:xfrm>
          <a:prstGeom prst="rect">
            <a:avLst/>
          </a:prstGeom>
        </p:spPr>
        <p:txBody>
          <a:bodyPr anchor="t" rtlCol="false" tIns="0" lIns="0" bIns="0" rIns="0">
            <a:spAutoFit/>
          </a:bodyPr>
          <a:lstStyle/>
          <a:p>
            <a:pPr algn="l">
              <a:lnSpc>
                <a:spcPts val="2879"/>
              </a:lnSpc>
            </a:pPr>
            <a:r>
              <a:rPr lang="en-US" sz="2400" b="true">
                <a:solidFill>
                  <a:srgbClr val="292D3A"/>
                </a:solidFill>
                <a:latin typeface="Arimo Bold"/>
                <a:ea typeface="Arimo Bold"/>
                <a:cs typeface="Arimo Bold"/>
                <a:sym typeface="Arimo Bold"/>
              </a:rPr>
              <a:t>Vellore Institute of Technology, Vellore</a:t>
            </a:r>
          </a:p>
          <a:p>
            <a:pPr algn="l">
              <a:lnSpc>
                <a:spcPts val="2879"/>
              </a:lnSpc>
            </a:pPr>
          </a:p>
        </p:txBody>
      </p:sp>
      <p:grpSp>
        <p:nvGrpSpPr>
          <p:cNvPr name="Group 9" id="9"/>
          <p:cNvGrpSpPr/>
          <p:nvPr/>
        </p:nvGrpSpPr>
        <p:grpSpPr>
          <a:xfrm rot="0">
            <a:off x="7607808" y="9603467"/>
            <a:ext cx="9326499" cy="285750"/>
            <a:chOff x="0" y="0"/>
            <a:chExt cx="12435332" cy="381000"/>
          </a:xfrm>
        </p:grpSpPr>
        <p:sp>
          <p:nvSpPr>
            <p:cNvPr name="Freeform 10" id="10"/>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9">
                <a:alphaModFix amt="0"/>
              </a:blip>
              <a:stretch>
                <a:fillRect l="0" t="-585965" r="0" b="-585965"/>
              </a:stretch>
            </a:blipFill>
          </p:spPr>
        </p:sp>
        <p:sp>
          <p:nvSpPr>
            <p:cNvPr name="TextBox 11" id="11"/>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2" id="12"/>
          <p:cNvGrpSpPr/>
          <p:nvPr/>
        </p:nvGrpSpPr>
        <p:grpSpPr>
          <a:xfrm rot="0">
            <a:off x="17202150" y="9603467"/>
            <a:ext cx="511169" cy="285750"/>
            <a:chOff x="0" y="0"/>
            <a:chExt cx="681558" cy="381000"/>
          </a:xfrm>
        </p:grpSpPr>
        <p:sp>
          <p:nvSpPr>
            <p:cNvPr name="Freeform 13" id="13"/>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9">
                <a:alphaModFix amt="0"/>
              </a:blip>
              <a:stretch>
                <a:fillRect l="-21723" t="0" r="-21722" b="0"/>
              </a:stretch>
            </a:blipFill>
          </p:spPr>
        </p:sp>
        <p:sp>
          <p:nvSpPr>
            <p:cNvPr name="TextBox 14" id="14"/>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6861450" y="1860569"/>
            <a:ext cx="4565100" cy="0"/>
          </a:xfrm>
          <a:prstGeom prst="line">
            <a:avLst/>
          </a:prstGeom>
          <a:ln cap="rnd" w="12382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957834" y="2713056"/>
            <a:ext cx="8330129" cy="6221198"/>
            <a:chOff x="0" y="0"/>
            <a:chExt cx="2193943" cy="1638505"/>
          </a:xfrm>
        </p:grpSpPr>
        <p:sp>
          <p:nvSpPr>
            <p:cNvPr name="Freeform 6" id="6"/>
            <p:cNvSpPr/>
            <p:nvPr/>
          </p:nvSpPr>
          <p:spPr>
            <a:xfrm flipH="false" flipV="false" rot="0">
              <a:off x="0" y="0"/>
              <a:ext cx="2193943" cy="1638505"/>
            </a:xfrm>
            <a:custGeom>
              <a:avLst/>
              <a:gdLst/>
              <a:ahLst/>
              <a:cxnLst/>
              <a:rect r="r" b="b" t="t" l="l"/>
              <a:pathLst>
                <a:path h="1638505" w="2193943">
                  <a:moveTo>
                    <a:pt x="27882" y="0"/>
                  </a:moveTo>
                  <a:lnTo>
                    <a:pt x="2166062" y="0"/>
                  </a:lnTo>
                  <a:cubicBezTo>
                    <a:pt x="2181460" y="0"/>
                    <a:pt x="2193943" y="12483"/>
                    <a:pt x="2193943" y="27882"/>
                  </a:cubicBezTo>
                  <a:lnTo>
                    <a:pt x="2193943" y="1610623"/>
                  </a:lnTo>
                  <a:cubicBezTo>
                    <a:pt x="2193943" y="1626022"/>
                    <a:pt x="2181460" y="1638505"/>
                    <a:pt x="2166062" y="1638505"/>
                  </a:cubicBezTo>
                  <a:lnTo>
                    <a:pt x="27882" y="1638505"/>
                  </a:lnTo>
                  <a:cubicBezTo>
                    <a:pt x="12483" y="1638505"/>
                    <a:pt x="0" y="1626022"/>
                    <a:pt x="0" y="1610623"/>
                  </a:cubicBezTo>
                  <a:lnTo>
                    <a:pt x="0" y="27882"/>
                  </a:lnTo>
                  <a:cubicBezTo>
                    <a:pt x="0" y="12483"/>
                    <a:pt x="12483" y="0"/>
                    <a:pt x="27882" y="0"/>
                  </a:cubicBezTo>
                  <a:close/>
                </a:path>
              </a:pathLst>
            </a:custGeom>
            <a:solidFill>
              <a:srgbClr val="F9FAFC"/>
            </a:solidFill>
            <a:ln w="28575" cap="rnd">
              <a:solidFill>
                <a:srgbClr val="ECF0F6"/>
              </a:solidFill>
              <a:prstDash val="solid"/>
              <a:round/>
            </a:ln>
          </p:spPr>
        </p:sp>
        <p:sp>
          <p:nvSpPr>
            <p:cNvPr name="TextBox 7" id="7"/>
            <p:cNvSpPr txBox="true"/>
            <p:nvPr/>
          </p:nvSpPr>
          <p:spPr>
            <a:xfrm>
              <a:off x="0" y="-19050"/>
              <a:ext cx="2193943" cy="1657555"/>
            </a:xfrm>
            <a:prstGeom prst="rect">
              <a:avLst/>
            </a:prstGeom>
          </p:spPr>
          <p:txBody>
            <a:bodyPr anchor="ctr" rtlCol="false" tIns="50800" lIns="50800" bIns="50800" rIns="50800"/>
            <a:lstStyle/>
            <a:p>
              <a:pPr algn="ctr">
                <a:lnSpc>
                  <a:spcPts val="1620"/>
                </a:lnSpc>
              </a:pPr>
            </a:p>
          </p:txBody>
        </p:sp>
      </p:grpSp>
      <p:sp>
        <p:nvSpPr>
          <p:cNvPr name="AutoShape 8" id="8"/>
          <p:cNvSpPr/>
          <p:nvPr/>
        </p:nvSpPr>
        <p:spPr>
          <a:xfrm>
            <a:off x="1599595" y="4138916"/>
            <a:ext cx="6872064" cy="0"/>
          </a:xfrm>
          <a:prstGeom prst="line">
            <a:avLst/>
          </a:prstGeom>
          <a:ln cap="flat" w="38100">
            <a:solidFill>
              <a:srgbClr val="ECF0F6"/>
            </a:solidFill>
            <a:prstDash val="solid"/>
            <a:headEnd type="none" len="sm" w="sm"/>
            <a:tailEnd type="none" len="sm" w="sm"/>
          </a:ln>
        </p:spPr>
      </p:sp>
      <p:sp>
        <p:nvSpPr>
          <p:cNvPr name="AutoShape 9" id="9"/>
          <p:cNvSpPr/>
          <p:nvPr/>
        </p:nvSpPr>
        <p:spPr>
          <a:xfrm>
            <a:off x="1599595" y="5294676"/>
            <a:ext cx="6872064" cy="0"/>
          </a:xfrm>
          <a:prstGeom prst="line">
            <a:avLst/>
          </a:prstGeom>
          <a:ln cap="flat" w="19050">
            <a:solidFill>
              <a:srgbClr val="ECF0F6"/>
            </a:solidFill>
            <a:prstDash val="solid"/>
            <a:headEnd type="none" len="sm" w="sm"/>
            <a:tailEnd type="none" len="sm" w="sm"/>
          </a:ln>
        </p:spPr>
      </p:sp>
      <p:sp>
        <p:nvSpPr>
          <p:cNvPr name="AutoShape 10" id="10"/>
          <p:cNvSpPr/>
          <p:nvPr/>
        </p:nvSpPr>
        <p:spPr>
          <a:xfrm>
            <a:off x="1599595" y="6053526"/>
            <a:ext cx="6872064" cy="0"/>
          </a:xfrm>
          <a:prstGeom prst="line">
            <a:avLst/>
          </a:prstGeom>
          <a:ln cap="flat" w="19050">
            <a:solidFill>
              <a:srgbClr val="ECF0F6"/>
            </a:solidFill>
            <a:prstDash val="solid"/>
            <a:headEnd type="none" len="sm" w="sm"/>
            <a:tailEnd type="none" len="sm" w="sm"/>
          </a:ln>
        </p:spPr>
      </p:sp>
      <p:sp>
        <p:nvSpPr>
          <p:cNvPr name="AutoShape 11" id="11"/>
          <p:cNvSpPr/>
          <p:nvPr/>
        </p:nvSpPr>
        <p:spPr>
          <a:xfrm>
            <a:off x="1599595" y="6793326"/>
            <a:ext cx="6872064" cy="0"/>
          </a:xfrm>
          <a:prstGeom prst="line">
            <a:avLst/>
          </a:prstGeom>
          <a:ln cap="flat" w="19050">
            <a:solidFill>
              <a:srgbClr val="ECF0F6"/>
            </a:solidFill>
            <a:prstDash val="solid"/>
            <a:headEnd type="none" len="sm" w="sm"/>
            <a:tailEnd type="none" len="sm" w="sm"/>
          </a:ln>
        </p:spPr>
      </p:sp>
      <p:sp>
        <p:nvSpPr>
          <p:cNvPr name="AutoShape 12" id="12"/>
          <p:cNvSpPr/>
          <p:nvPr/>
        </p:nvSpPr>
        <p:spPr>
          <a:xfrm>
            <a:off x="1599595" y="7542651"/>
            <a:ext cx="6872064" cy="0"/>
          </a:xfrm>
          <a:prstGeom prst="line">
            <a:avLst/>
          </a:prstGeom>
          <a:ln cap="flat" w="19050">
            <a:solidFill>
              <a:srgbClr val="ECF0F6"/>
            </a:solidFill>
            <a:prstDash val="solid"/>
            <a:headEnd type="none" len="sm" w="sm"/>
            <a:tailEnd type="none" len="sm" w="sm"/>
          </a:ln>
        </p:spPr>
      </p:sp>
      <p:sp>
        <p:nvSpPr>
          <p:cNvPr name="AutoShape 13" id="13"/>
          <p:cNvSpPr/>
          <p:nvPr/>
        </p:nvSpPr>
        <p:spPr>
          <a:xfrm>
            <a:off x="1599595" y="8291976"/>
            <a:ext cx="6872064" cy="0"/>
          </a:xfrm>
          <a:prstGeom prst="line">
            <a:avLst/>
          </a:prstGeom>
          <a:ln cap="flat" w="19050">
            <a:solidFill>
              <a:srgbClr val="ECF0F6"/>
            </a:solidFill>
            <a:prstDash val="solid"/>
            <a:headEnd type="none" len="sm" w="sm"/>
            <a:tailEnd type="none" len="sm" w="sm"/>
          </a:ln>
        </p:spPr>
      </p:sp>
      <p:grpSp>
        <p:nvGrpSpPr>
          <p:cNvPr name="Group 14" id="14"/>
          <p:cNvGrpSpPr/>
          <p:nvPr/>
        </p:nvGrpSpPr>
        <p:grpSpPr>
          <a:xfrm rot="0">
            <a:off x="9754688" y="2713056"/>
            <a:ext cx="7504612" cy="6221198"/>
            <a:chOff x="0" y="0"/>
            <a:chExt cx="1976523" cy="1638505"/>
          </a:xfrm>
        </p:grpSpPr>
        <p:sp>
          <p:nvSpPr>
            <p:cNvPr name="Freeform 15" id="15"/>
            <p:cNvSpPr/>
            <p:nvPr/>
          </p:nvSpPr>
          <p:spPr>
            <a:xfrm flipH="false" flipV="false" rot="0">
              <a:off x="0" y="0"/>
              <a:ext cx="1976523" cy="1638505"/>
            </a:xfrm>
            <a:custGeom>
              <a:avLst/>
              <a:gdLst/>
              <a:ahLst/>
              <a:cxnLst/>
              <a:rect r="r" b="b" t="t" l="l"/>
              <a:pathLst>
                <a:path h="1638505" w="1976523">
                  <a:moveTo>
                    <a:pt x="30949" y="0"/>
                  </a:moveTo>
                  <a:lnTo>
                    <a:pt x="1945575" y="0"/>
                  </a:lnTo>
                  <a:cubicBezTo>
                    <a:pt x="1962667" y="0"/>
                    <a:pt x="1976523" y="13856"/>
                    <a:pt x="1976523" y="30949"/>
                  </a:cubicBezTo>
                  <a:lnTo>
                    <a:pt x="1976523" y="1607556"/>
                  </a:lnTo>
                  <a:cubicBezTo>
                    <a:pt x="1976523" y="1615764"/>
                    <a:pt x="1973263" y="1623636"/>
                    <a:pt x="1967459" y="1629440"/>
                  </a:cubicBezTo>
                  <a:cubicBezTo>
                    <a:pt x="1961655" y="1635244"/>
                    <a:pt x="1953783" y="1638505"/>
                    <a:pt x="1945575" y="1638505"/>
                  </a:cubicBezTo>
                  <a:lnTo>
                    <a:pt x="30949" y="1638505"/>
                  </a:lnTo>
                  <a:cubicBezTo>
                    <a:pt x="22741" y="1638505"/>
                    <a:pt x="14869" y="1635244"/>
                    <a:pt x="9065" y="1629440"/>
                  </a:cubicBezTo>
                  <a:cubicBezTo>
                    <a:pt x="3261" y="1623636"/>
                    <a:pt x="0" y="1615764"/>
                    <a:pt x="0" y="1607556"/>
                  </a:cubicBezTo>
                  <a:lnTo>
                    <a:pt x="0" y="30949"/>
                  </a:lnTo>
                  <a:cubicBezTo>
                    <a:pt x="0" y="22741"/>
                    <a:pt x="3261" y="14869"/>
                    <a:pt x="9065" y="9065"/>
                  </a:cubicBezTo>
                  <a:cubicBezTo>
                    <a:pt x="14869" y="3261"/>
                    <a:pt x="22741" y="0"/>
                    <a:pt x="30949" y="0"/>
                  </a:cubicBezTo>
                  <a:close/>
                </a:path>
              </a:pathLst>
            </a:custGeom>
            <a:solidFill>
              <a:srgbClr val="F9FAFC"/>
            </a:solidFill>
            <a:ln w="28575" cap="rnd">
              <a:solidFill>
                <a:srgbClr val="ECF0F6"/>
              </a:solidFill>
              <a:prstDash val="solid"/>
              <a:round/>
            </a:ln>
          </p:spPr>
        </p:sp>
        <p:sp>
          <p:nvSpPr>
            <p:cNvPr name="TextBox 16" id="16"/>
            <p:cNvSpPr txBox="true"/>
            <p:nvPr/>
          </p:nvSpPr>
          <p:spPr>
            <a:xfrm>
              <a:off x="0" y="-19050"/>
              <a:ext cx="1976523" cy="1657555"/>
            </a:xfrm>
            <a:prstGeom prst="rect">
              <a:avLst/>
            </a:prstGeom>
          </p:spPr>
          <p:txBody>
            <a:bodyPr anchor="ctr" rtlCol="false" tIns="50800" lIns="50800" bIns="50800" rIns="50800"/>
            <a:lstStyle/>
            <a:p>
              <a:pPr algn="ctr">
                <a:lnSpc>
                  <a:spcPts val="1620"/>
                </a:lnSpc>
              </a:pPr>
            </a:p>
          </p:txBody>
        </p:sp>
      </p:grpSp>
      <p:sp>
        <p:nvSpPr>
          <p:cNvPr name="AutoShape 17" id="17"/>
          <p:cNvSpPr/>
          <p:nvPr/>
        </p:nvSpPr>
        <p:spPr>
          <a:xfrm>
            <a:off x="10332851" y="4138916"/>
            <a:ext cx="6191042" cy="0"/>
          </a:xfrm>
          <a:prstGeom prst="line">
            <a:avLst/>
          </a:prstGeom>
          <a:ln cap="flat" w="38100">
            <a:solidFill>
              <a:srgbClr val="ECF0F6"/>
            </a:solidFill>
            <a:prstDash val="solid"/>
            <a:headEnd type="none" len="sm" w="sm"/>
            <a:tailEnd type="none" len="sm" w="sm"/>
          </a:ln>
        </p:spPr>
      </p:sp>
      <p:sp>
        <p:nvSpPr>
          <p:cNvPr name="Freeform 18" id="18"/>
          <p:cNvSpPr/>
          <p:nvPr/>
        </p:nvSpPr>
        <p:spPr>
          <a:xfrm flipH="false" flipV="false" rot="0">
            <a:off x="10332851" y="4510391"/>
            <a:ext cx="233384" cy="239401"/>
          </a:xfrm>
          <a:custGeom>
            <a:avLst/>
            <a:gdLst/>
            <a:ahLst/>
            <a:cxnLst/>
            <a:rect r="r" b="b" t="t" l="l"/>
            <a:pathLst>
              <a:path h="239401" w="233384">
                <a:moveTo>
                  <a:pt x="0" y="0"/>
                </a:moveTo>
                <a:lnTo>
                  <a:pt x="233383" y="0"/>
                </a:lnTo>
                <a:lnTo>
                  <a:pt x="233383" y="239401"/>
                </a:lnTo>
                <a:lnTo>
                  <a:pt x="0" y="239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6861450" y="719982"/>
            <a:ext cx="4565100"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Project Details</a:t>
            </a:r>
          </a:p>
        </p:txBody>
      </p:sp>
      <p:sp>
        <p:nvSpPr>
          <p:cNvPr name="TextBox 20" id="20"/>
          <p:cNvSpPr txBox="true"/>
          <p:nvPr/>
        </p:nvSpPr>
        <p:spPr>
          <a:xfrm rot="0">
            <a:off x="1599595" y="3314894"/>
            <a:ext cx="2046184" cy="596899"/>
          </a:xfrm>
          <a:prstGeom prst="rect">
            <a:avLst/>
          </a:prstGeom>
        </p:spPr>
        <p:txBody>
          <a:bodyPr anchor="t" rtlCol="false" tIns="0" lIns="0" bIns="0" rIns="0">
            <a:spAutoFit/>
          </a:bodyPr>
          <a:lstStyle/>
          <a:p>
            <a:pPr algn="ctr">
              <a:lnSpc>
                <a:spcPts val="4900"/>
              </a:lnSpc>
            </a:pPr>
            <a:r>
              <a:rPr lang="en-US" sz="3500" b="true">
                <a:solidFill>
                  <a:srgbClr val="292D3A"/>
                </a:solidFill>
                <a:latin typeface="Canva Sans Bold"/>
                <a:ea typeface="Canva Sans Bold"/>
                <a:cs typeface="Canva Sans Bold"/>
                <a:sym typeface="Canva Sans Bold"/>
              </a:rPr>
              <a:t>Overview</a:t>
            </a:r>
          </a:p>
        </p:txBody>
      </p:sp>
      <p:sp>
        <p:nvSpPr>
          <p:cNvPr name="TextBox 21" id="21"/>
          <p:cNvSpPr txBox="true"/>
          <p:nvPr/>
        </p:nvSpPr>
        <p:spPr>
          <a:xfrm rot="0">
            <a:off x="1599595" y="4462766"/>
            <a:ext cx="1752654"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Project Name:</a:t>
            </a:r>
          </a:p>
        </p:txBody>
      </p:sp>
      <p:sp>
        <p:nvSpPr>
          <p:cNvPr name="TextBox 22" id="22"/>
          <p:cNvSpPr txBox="true"/>
          <p:nvPr/>
        </p:nvSpPr>
        <p:spPr>
          <a:xfrm rot="0">
            <a:off x="1599595" y="5466126"/>
            <a:ext cx="929973"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College</a:t>
            </a:r>
          </a:p>
        </p:txBody>
      </p:sp>
      <p:sp>
        <p:nvSpPr>
          <p:cNvPr name="TextBox 23" id="23"/>
          <p:cNvSpPr txBox="true"/>
          <p:nvPr/>
        </p:nvSpPr>
        <p:spPr>
          <a:xfrm rot="0">
            <a:off x="1599595" y="6224976"/>
            <a:ext cx="1575684"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Source Code</a:t>
            </a:r>
          </a:p>
        </p:txBody>
      </p:sp>
      <p:sp>
        <p:nvSpPr>
          <p:cNvPr name="TextBox 24" id="24"/>
          <p:cNvSpPr txBox="true"/>
          <p:nvPr/>
        </p:nvSpPr>
        <p:spPr>
          <a:xfrm rot="0">
            <a:off x="1599595" y="6964776"/>
            <a:ext cx="1494370"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HPE Mentor</a:t>
            </a:r>
          </a:p>
        </p:txBody>
      </p:sp>
      <p:sp>
        <p:nvSpPr>
          <p:cNvPr name="TextBox 25" id="25"/>
          <p:cNvSpPr txBox="true"/>
          <p:nvPr/>
        </p:nvSpPr>
        <p:spPr>
          <a:xfrm rot="0">
            <a:off x="1599595" y="7714101"/>
            <a:ext cx="1378284"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VIT Mentor</a:t>
            </a:r>
          </a:p>
        </p:txBody>
      </p:sp>
      <p:sp>
        <p:nvSpPr>
          <p:cNvPr name="TextBox 26" id="26"/>
          <p:cNvSpPr txBox="true"/>
          <p:nvPr/>
        </p:nvSpPr>
        <p:spPr>
          <a:xfrm rot="0">
            <a:off x="3645779" y="4462766"/>
            <a:ext cx="4997744" cy="701727"/>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QUIC Traffic Identification, Classification &amp; Policing</a:t>
            </a:r>
          </a:p>
        </p:txBody>
      </p:sp>
      <p:sp>
        <p:nvSpPr>
          <p:cNvPr name="TextBox 27" id="27"/>
          <p:cNvSpPr txBox="true"/>
          <p:nvPr/>
        </p:nvSpPr>
        <p:spPr>
          <a:xfrm rot="0">
            <a:off x="3645779" y="5466126"/>
            <a:ext cx="4825881" cy="349275"/>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Vellore Institute of Technology, Vellore</a:t>
            </a:r>
          </a:p>
        </p:txBody>
      </p:sp>
      <p:sp>
        <p:nvSpPr>
          <p:cNvPr name="TextBox 28" id="28"/>
          <p:cNvSpPr txBox="true"/>
          <p:nvPr/>
        </p:nvSpPr>
        <p:spPr>
          <a:xfrm rot="0">
            <a:off x="3645779" y="6964776"/>
            <a:ext cx="4825881" cy="349275"/>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Sivakumar Ramasamy</a:t>
            </a:r>
          </a:p>
        </p:txBody>
      </p:sp>
      <p:sp>
        <p:nvSpPr>
          <p:cNvPr name="TextBox 29" id="29"/>
          <p:cNvSpPr txBox="true"/>
          <p:nvPr/>
        </p:nvSpPr>
        <p:spPr>
          <a:xfrm rot="0">
            <a:off x="3645779" y="7714101"/>
            <a:ext cx="4825881" cy="349275"/>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Dr. Ruby D</a:t>
            </a:r>
          </a:p>
        </p:txBody>
      </p:sp>
      <p:sp>
        <p:nvSpPr>
          <p:cNvPr name="TextBox 30" id="30"/>
          <p:cNvSpPr txBox="true"/>
          <p:nvPr/>
        </p:nvSpPr>
        <p:spPr>
          <a:xfrm rot="0">
            <a:off x="3645779" y="6314828"/>
            <a:ext cx="5498221" cy="198118"/>
          </a:xfrm>
          <a:prstGeom prst="rect">
            <a:avLst/>
          </a:prstGeom>
        </p:spPr>
        <p:txBody>
          <a:bodyPr anchor="t" rtlCol="false" tIns="0" lIns="0" bIns="0" rIns="0">
            <a:spAutoFit/>
          </a:bodyPr>
          <a:lstStyle/>
          <a:p>
            <a:pPr algn="l">
              <a:lnSpc>
                <a:spcPts val="1680"/>
              </a:lnSpc>
            </a:pPr>
            <a:r>
              <a:rPr lang="en-US" sz="1200" u="sng">
                <a:solidFill>
                  <a:srgbClr val="292D3A"/>
                </a:solidFill>
                <a:latin typeface="Canva Sans"/>
                <a:ea typeface="Canva Sans"/>
                <a:cs typeface="Canva Sans"/>
                <a:sym typeface="Canva Sans"/>
                <a:hlinkClick r:id="rId6" tooltip="https://github.com/SuvidhJ/QUIC_Identification_and_Policing_HPE_CPP/tree/master"/>
              </a:rPr>
              <a:t>https://github.com/SuvidhJ/QUIC_Identification_and_Policing_HPE_CPP</a:t>
            </a:r>
          </a:p>
        </p:txBody>
      </p:sp>
      <p:sp>
        <p:nvSpPr>
          <p:cNvPr name="TextBox 31" id="31"/>
          <p:cNvSpPr txBox="true"/>
          <p:nvPr/>
        </p:nvSpPr>
        <p:spPr>
          <a:xfrm rot="0">
            <a:off x="10332851" y="3314894"/>
            <a:ext cx="4952043" cy="596899"/>
          </a:xfrm>
          <a:prstGeom prst="rect">
            <a:avLst/>
          </a:prstGeom>
        </p:spPr>
        <p:txBody>
          <a:bodyPr anchor="t" rtlCol="false" tIns="0" lIns="0" bIns="0" rIns="0">
            <a:spAutoFit/>
          </a:bodyPr>
          <a:lstStyle/>
          <a:p>
            <a:pPr algn="l">
              <a:lnSpc>
                <a:spcPts val="4900"/>
              </a:lnSpc>
            </a:pPr>
            <a:r>
              <a:rPr lang="en-US" sz="3500" b="true">
                <a:solidFill>
                  <a:srgbClr val="292D3A"/>
                </a:solidFill>
                <a:latin typeface="Canva Sans Bold"/>
                <a:ea typeface="Canva Sans Bold"/>
                <a:cs typeface="Canva Sans Bold"/>
                <a:sym typeface="Canva Sans Bold"/>
              </a:rPr>
              <a:t>Project Participants</a:t>
            </a:r>
          </a:p>
        </p:txBody>
      </p:sp>
      <p:sp>
        <p:nvSpPr>
          <p:cNvPr name="TextBox 32" id="32"/>
          <p:cNvSpPr txBox="true"/>
          <p:nvPr/>
        </p:nvSpPr>
        <p:spPr>
          <a:xfrm rot="0">
            <a:off x="10856893" y="4424663"/>
            <a:ext cx="1462033"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Kavya Jain</a:t>
            </a:r>
          </a:p>
        </p:txBody>
      </p:sp>
      <p:sp>
        <p:nvSpPr>
          <p:cNvPr name="Freeform 33" id="33"/>
          <p:cNvSpPr/>
          <p:nvPr/>
        </p:nvSpPr>
        <p:spPr>
          <a:xfrm flipH="false" flipV="false" rot="0">
            <a:off x="10332851" y="5088269"/>
            <a:ext cx="233384" cy="239401"/>
          </a:xfrm>
          <a:custGeom>
            <a:avLst/>
            <a:gdLst/>
            <a:ahLst/>
            <a:cxnLst/>
            <a:rect r="r" b="b" t="t" l="l"/>
            <a:pathLst>
              <a:path h="239401" w="233384">
                <a:moveTo>
                  <a:pt x="0" y="0"/>
                </a:moveTo>
                <a:lnTo>
                  <a:pt x="233383" y="0"/>
                </a:lnTo>
                <a:lnTo>
                  <a:pt x="233383" y="239401"/>
                </a:lnTo>
                <a:lnTo>
                  <a:pt x="0" y="239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4" id="34"/>
          <p:cNvSpPr txBox="true"/>
          <p:nvPr/>
        </p:nvSpPr>
        <p:spPr>
          <a:xfrm rot="0">
            <a:off x="10856893" y="4998113"/>
            <a:ext cx="1587658"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Suvidh Jain</a:t>
            </a:r>
          </a:p>
        </p:txBody>
      </p:sp>
      <p:sp>
        <p:nvSpPr>
          <p:cNvPr name="Freeform 35" id="35"/>
          <p:cNvSpPr/>
          <p:nvPr/>
        </p:nvSpPr>
        <p:spPr>
          <a:xfrm flipH="false" flipV="false" rot="0">
            <a:off x="10332851" y="5666148"/>
            <a:ext cx="233384" cy="239401"/>
          </a:xfrm>
          <a:custGeom>
            <a:avLst/>
            <a:gdLst/>
            <a:ahLst/>
            <a:cxnLst/>
            <a:rect r="r" b="b" t="t" l="l"/>
            <a:pathLst>
              <a:path h="239401" w="233384">
                <a:moveTo>
                  <a:pt x="0" y="0"/>
                </a:moveTo>
                <a:lnTo>
                  <a:pt x="233383" y="0"/>
                </a:lnTo>
                <a:lnTo>
                  <a:pt x="233383" y="239400"/>
                </a:lnTo>
                <a:lnTo>
                  <a:pt x="0" y="239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6" id="36"/>
          <p:cNvSpPr txBox="true"/>
          <p:nvPr/>
        </p:nvSpPr>
        <p:spPr>
          <a:xfrm rot="0">
            <a:off x="10856893" y="5584538"/>
            <a:ext cx="2255423"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Shubham Kumar</a:t>
            </a:r>
          </a:p>
        </p:txBody>
      </p:sp>
      <p:sp>
        <p:nvSpPr>
          <p:cNvPr name="Freeform 37" id="37"/>
          <p:cNvSpPr/>
          <p:nvPr/>
        </p:nvSpPr>
        <p:spPr>
          <a:xfrm flipH="false" flipV="false" rot="0">
            <a:off x="10332851" y="6244026"/>
            <a:ext cx="233384" cy="239401"/>
          </a:xfrm>
          <a:custGeom>
            <a:avLst/>
            <a:gdLst/>
            <a:ahLst/>
            <a:cxnLst/>
            <a:rect r="r" b="b" t="t" l="l"/>
            <a:pathLst>
              <a:path h="239401" w="233384">
                <a:moveTo>
                  <a:pt x="0" y="0"/>
                </a:moveTo>
                <a:lnTo>
                  <a:pt x="233383" y="0"/>
                </a:lnTo>
                <a:lnTo>
                  <a:pt x="233383" y="239400"/>
                </a:lnTo>
                <a:lnTo>
                  <a:pt x="0" y="239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10856893" y="6158298"/>
            <a:ext cx="1680472"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Vansh Chani</a:t>
            </a:r>
          </a:p>
        </p:txBody>
      </p:sp>
      <p:sp>
        <p:nvSpPr>
          <p:cNvPr name="Freeform 39" id="39"/>
          <p:cNvSpPr/>
          <p:nvPr/>
        </p:nvSpPr>
        <p:spPr>
          <a:xfrm flipH="false" flipV="false" rot="0">
            <a:off x="10332851" y="6821904"/>
            <a:ext cx="233384" cy="239401"/>
          </a:xfrm>
          <a:custGeom>
            <a:avLst/>
            <a:gdLst/>
            <a:ahLst/>
            <a:cxnLst/>
            <a:rect r="r" b="b" t="t" l="l"/>
            <a:pathLst>
              <a:path h="239401" w="233384">
                <a:moveTo>
                  <a:pt x="0" y="0"/>
                </a:moveTo>
                <a:lnTo>
                  <a:pt x="233383" y="0"/>
                </a:lnTo>
                <a:lnTo>
                  <a:pt x="233383" y="239400"/>
                </a:lnTo>
                <a:lnTo>
                  <a:pt x="0" y="239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0" id="40"/>
          <p:cNvSpPr txBox="true"/>
          <p:nvPr/>
        </p:nvSpPr>
        <p:spPr>
          <a:xfrm rot="0">
            <a:off x="10856893" y="6736176"/>
            <a:ext cx="1665184"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Rajan Hasija</a:t>
            </a:r>
          </a:p>
        </p:txBody>
      </p:sp>
      <p:grpSp>
        <p:nvGrpSpPr>
          <p:cNvPr name="Group 41" id="41"/>
          <p:cNvGrpSpPr/>
          <p:nvPr/>
        </p:nvGrpSpPr>
        <p:grpSpPr>
          <a:xfrm rot="0">
            <a:off x="7607808" y="9603467"/>
            <a:ext cx="9326499" cy="285750"/>
            <a:chOff x="0" y="0"/>
            <a:chExt cx="12435332" cy="381000"/>
          </a:xfrm>
        </p:grpSpPr>
        <p:sp>
          <p:nvSpPr>
            <p:cNvPr name="Freeform 42" id="42"/>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7">
                <a:alphaModFix amt="0"/>
              </a:blip>
              <a:stretch>
                <a:fillRect l="0" t="-585965" r="0" b="-585965"/>
              </a:stretch>
            </a:blipFill>
          </p:spPr>
        </p:sp>
        <p:sp>
          <p:nvSpPr>
            <p:cNvPr name="TextBox 43" id="43"/>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44" id="44"/>
          <p:cNvGrpSpPr/>
          <p:nvPr/>
        </p:nvGrpSpPr>
        <p:grpSpPr>
          <a:xfrm rot="0">
            <a:off x="17202150" y="9603467"/>
            <a:ext cx="511169" cy="285750"/>
            <a:chOff x="0" y="0"/>
            <a:chExt cx="681558" cy="381000"/>
          </a:xfrm>
        </p:grpSpPr>
        <p:sp>
          <p:nvSpPr>
            <p:cNvPr name="Freeform 45" id="4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7">
                <a:alphaModFix amt="0"/>
              </a:blip>
              <a:stretch>
                <a:fillRect l="-21723" t="0" r="-21722" b="0"/>
              </a:stretch>
            </a:blipFill>
          </p:spPr>
        </p:sp>
        <p:sp>
          <p:nvSpPr>
            <p:cNvPr name="TextBox 46" id="46"/>
            <p:cNvSpPr txBox="true"/>
            <p:nvPr/>
          </p:nvSpPr>
          <p:spPr>
            <a:xfrm>
              <a:off x="0" y="-9525"/>
              <a:ext cx="681558" cy="390525"/>
            </a:xfrm>
            <a:prstGeom prst="rect">
              <a:avLst/>
            </a:prstGeom>
          </p:spPr>
          <p:txBody>
            <a:bodyPr anchor="ctr" rtlCol="false" tIns="0" lIns="0" bIns="0" rIns="0"/>
            <a:lstStyle/>
            <a:p>
              <a:pPr algn="r">
                <a:lnSpc>
                  <a:spcPts val="1620"/>
                </a:lnSpc>
              </a:pPr>
              <a:r>
                <a:rPr lang="en-US" sz="1350">
                  <a:solidFill>
                    <a:srgbClr val="292D3A"/>
                  </a:solidFill>
                  <a:latin typeface="Canva Sans"/>
                  <a:ea typeface="Canva Sans"/>
                  <a:cs typeface="Canva Sans"/>
                  <a:sym typeface="Canva Sans"/>
                </a:rPr>
                <a:t>2</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957834" y="3247877"/>
            <a:ext cx="4893607" cy="6010423"/>
            <a:chOff x="0" y="0"/>
            <a:chExt cx="1288851" cy="1582992"/>
          </a:xfrm>
        </p:grpSpPr>
        <p:sp>
          <p:nvSpPr>
            <p:cNvPr name="Freeform 5" id="5"/>
            <p:cNvSpPr/>
            <p:nvPr/>
          </p:nvSpPr>
          <p:spPr>
            <a:xfrm flipH="false" flipV="false" rot="0">
              <a:off x="0" y="0"/>
              <a:ext cx="1288851" cy="1582992"/>
            </a:xfrm>
            <a:custGeom>
              <a:avLst/>
              <a:gdLst/>
              <a:ahLst/>
              <a:cxnLst/>
              <a:rect r="r" b="b" t="t" l="l"/>
              <a:pathLst>
                <a:path h="1582992" w="1288851">
                  <a:moveTo>
                    <a:pt x="47461" y="0"/>
                  </a:moveTo>
                  <a:lnTo>
                    <a:pt x="1241390" y="0"/>
                  </a:lnTo>
                  <a:cubicBezTo>
                    <a:pt x="1253977" y="0"/>
                    <a:pt x="1266049" y="5000"/>
                    <a:pt x="1274950" y="13901"/>
                  </a:cubicBezTo>
                  <a:cubicBezTo>
                    <a:pt x="1283851" y="22802"/>
                    <a:pt x="1288851" y="34874"/>
                    <a:pt x="1288851" y="47461"/>
                  </a:cubicBezTo>
                  <a:lnTo>
                    <a:pt x="1288851" y="1535531"/>
                  </a:lnTo>
                  <a:cubicBezTo>
                    <a:pt x="1288851" y="1548118"/>
                    <a:pt x="1283851" y="1560190"/>
                    <a:pt x="1274950" y="1569091"/>
                  </a:cubicBezTo>
                  <a:cubicBezTo>
                    <a:pt x="1266049" y="1577992"/>
                    <a:pt x="1253977" y="1582992"/>
                    <a:pt x="1241390" y="1582992"/>
                  </a:cubicBezTo>
                  <a:lnTo>
                    <a:pt x="47461" y="1582992"/>
                  </a:lnTo>
                  <a:cubicBezTo>
                    <a:pt x="34874" y="1582992"/>
                    <a:pt x="22802" y="1577992"/>
                    <a:pt x="13901" y="1569091"/>
                  </a:cubicBezTo>
                  <a:cubicBezTo>
                    <a:pt x="5000" y="1560190"/>
                    <a:pt x="0" y="1548118"/>
                    <a:pt x="0" y="1535531"/>
                  </a:cubicBezTo>
                  <a:lnTo>
                    <a:pt x="0" y="47461"/>
                  </a:lnTo>
                  <a:cubicBezTo>
                    <a:pt x="0" y="34874"/>
                    <a:pt x="5000" y="22802"/>
                    <a:pt x="13901" y="13901"/>
                  </a:cubicBezTo>
                  <a:cubicBezTo>
                    <a:pt x="22802" y="5000"/>
                    <a:pt x="34874" y="0"/>
                    <a:pt x="47461" y="0"/>
                  </a:cubicBezTo>
                  <a:close/>
                </a:path>
              </a:pathLst>
            </a:custGeom>
            <a:solidFill>
              <a:srgbClr val="F9FAFC"/>
            </a:solidFill>
            <a:ln w="28575" cap="rnd">
              <a:solidFill>
                <a:srgbClr val="ECF0F6"/>
              </a:solidFill>
              <a:prstDash val="solid"/>
              <a:round/>
            </a:ln>
          </p:spPr>
        </p:sp>
        <p:sp>
          <p:nvSpPr>
            <p:cNvPr name="TextBox 6" id="6"/>
            <p:cNvSpPr txBox="true"/>
            <p:nvPr/>
          </p:nvSpPr>
          <p:spPr>
            <a:xfrm>
              <a:off x="0" y="-19050"/>
              <a:ext cx="1288851" cy="1602042"/>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0" id="10"/>
          <p:cNvGrpSpPr/>
          <p:nvPr/>
        </p:nvGrpSpPr>
        <p:grpSpPr>
          <a:xfrm rot="0">
            <a:off x="6316998" y="3247877"/>
            <a:ext cx="5196414" cy="6010423"/>
            <a:chOff x="0" y="0"/>
            <a:chExt cx="1368603" cy="1582992"/>
          </a:xfrm>
        </p:grpSpPr>
        <p:sp>
          <p:nvSpPr>
            <p:cNvPr name="Freeform 11" id="11"/>
            <p:cNvSpPr/>
            <p:nvPr/>
          </p:nvSpPr>
          <p:spPr>
            <a:xfrm flipH="false" flipV="false" rot="0">
              <a:off x="0" y="0"/>
              <a:ext cx="1368603" cy="1582992"/>
            </a:xfrm>
            <a:custGeom>
              <a:avLst/>
              <a:gdLst/>
              <a:ahLst/>
              <a:cxnLst/>
              <a:rect r="r" b="b" t="t" l="l"/>
              <a:pathLst>
                <a:path h="1582992" w="1368603">
                  <a:moveTo>
                    <a:pt x="44696" y="0"/>
                  </a:moveTo>
                  <a:lnTo>
                    <a:pt x="1323907" y="0"/>
                  </a:lnTo>
                  <a:cubicBezTo>
                    <a:pt x="1335761" y="0"/>
                    <a:pt x="1347130" y="4709"/>
                    <a:pt x="1355512" y="13091"/>
                  </a:cubicBezTo>
                  <a:cubicBezTo>
                    <a:pt x="1363894" y="21473"/>
                    <a:pt x="1368603" y="32842"/>
                    <a:pt x="1368603" y="44696"/>
                  </a:cubicBezTo>
                  <a:lnTo>
                    <a:pt x="1368603" y="1538297"/>
                  </a:lnTo>
                  <a:cubicBezTo>
                    <a:pt x="1368603" y="1550151"/>
                    <a:pt x="1363894" y="1561519"/>
                    <a:pt x="1355512" y="1569901"/>
                  </a:cubicBezTo>
                  <a:cubicBezTo>
                    <a:pt x="1347130" y="1578283"/>
                    <a:pt x="1335761" y="1582992"/>
                    <a:pt x="1323907" y="1582992"/>
                  </a:cubicBezTo>
                  <a:lnTo>
                    <a:pt x="44696" y="1582992"/>
                  </a:lnTo>
                  <a:cubicBezTo>
                    <a:pt x="20011" y="1582992"/>
                    <a:pt x="0" y="1562981"/>
                    <a:pt x="0" y="1538297"/>
                  </a:cubicBezTo>
                  <a:lnTo>
                    <a:pt x="0" y="44696"/>
                  </a:lnTo>
                  <a:cubicBezTo>
                    <a:pt x="0" y="32842"/>
                    <a:pt x="4709" y="21473"/>
                    <a:pt x="13091" y="13091"/>
                  </a:cubicBezTo>
                  <a:cubicBezTo>
                    <a:pt x="21473" y="4709"/>
                    <a:pt x="32842" y="0"/>
                    <a:pt x="44696" y="0"/>
                  </a:cubicBezTo>
                  <a:close/>
                </a:path>
              </a:pathLst>
            </a:custGeom>
            <a:solidFill>
              <a:srgbClr val="F9FAFC"/>
            </a:solidFill>
            <a:ln w="28575" cap="rnd">
              <a:solidFill>
                <a:srgbClr val="ECF0F6"/>
              </a:solidFill>
              <a:prstDash val="solid"/>
              <a:round/>
            </a:ln>
          </p:spPr>
        </p:sp>
        <p:sp>
          <p:nvSpPr>
            <p:cNvPr name="TextBox 12" id="12"/>
            <p:cNvSpPr txBox="true"/>
            <p:nvPr/>
          </p:nvSpPr>
          <p:spPr>
            <a:xfrm>
              <a:off x="0" y="-19050"/>
              <a:ext cx="1368603" cy="1602042"/>
            </a:xfrm>
            <a:prstGeom prst="rect">
              <a:avLst/>
            </a:prstGeom>
          </p:spPr>
          <p:txBody>
            <a:bodyPr anchor="ctr" rtlCol="false" tIns="50800" lIns="50800" bIns="50800" rIns="50800"/>
            <a:lstStyle/>
            <a:p>
              <a:pPr algn="ctr">
                <a:lnSpc>
                  <a:spcPts val="1620"/>
                </a:lnSpc>
              </a:pPr>
            </a:p>
          </p:txBody>
        </p:sp>
      </p:grpSp>
      <p:grpSp>
        <p:nvGrpSpPr>
          <p:cNvPr name="Group 13" id="13"/>
          <p:cNvGrpSpPr/>
          <p:nvPr/>
        </p:nvGrpSpPr>
        <p:grpSpPr>
          <a:xfrm rot="0">
            <a:off x="11901751" y="3247877"/>
            <a:ext cx="5357549" cy="6010423"/>
            <a:chOff x="0" y="0"/>
            <a:chExt cx="1411042" cy="1582992"/>
          </a:xfrm>
        </p:grpSpPr>
        <p:sp>
          <p:nvSpPr>
            <p:cNvPr name="Freeform 14" id="14"/>
            <p:cNvSpPr/>
            <p:nvPr/>
          </p:nvSpPr>
          <p:spPr>
            <a:xfrm flipH="false" flipV="false" rot="0">
              <a:off x="0" y="0"/>
              <a:ext cx="1411042" cy="1582992"/>
            </a:xfrm>
            <a:custGeom>
              <a:avLst/>
              <a:gdLst/>
              <a:ahLst/>
              <a:cxnLst/>
              <a:rect r="r" b="b" t="t" l="l"/>
              <a:pathLst>
                <a:path h="1582992" w="1411042">
                  <a:moveTo>
                    <a:pt x="43351" y="0"/>
                  </a:moveTo>
                  <a:lnTo>
                    <a:pt x="1367690" y="0"/>
                  </a:lnTo>
                  <a:cubicBezTo>
                    <a:pt x="1379188" y="0"/>
                    <a:pt x="1390214" y="4567"/>
                    <a:pt x="1398344" y="12697"/>
                  </a:cubicBezTo>
                  <a:cubicBezTo>
                    <a:pt x="1406474" y="20827"/>
                    <a:pt x="1411042" y="31854"/>
                    <a:pt x="1411042" y="43351"/>
                  </a:cubicBezTo>
                  <a:lnTo>
                    <a:pt x="1411042" y="1539641"/>
                  </a:lnTo>
                  <a:cubicBezTo>
                    <a:pt x="1411042" y="1551138"/>
                    <a:pt x="1406474" y="1562165"/>
                    <a:pt x="1398344" y="1570295"/>
                  </a:cubicBezTo>
                  <a:cubicBezTo>
                    <a:pt x="1390214" y="1578425"/>
                    <a:pt x="1379188" y="1582992"/>
                    <a:pt x="1367690" y="1582992"/>
                  </a:cubicBezTo>
                  <a:lnTo>
                    <a:pt x="43351" y="1582992"/>
                  </a:lnTo>
                  <a:cubicBezTo>
                    <a:pt x="31854" y="1582992"/>
                    <a:pt x="20827" y="1578425"/>
                    <a:pt x="12697" y="1570295"/>
                  </a:cubicBezTo>
                  <a:cubicBezTo>
                    <a:pt x="4567" y="1562165"/>
                    <a:pt x="0" y="1551138"/>
                    <a:pt x="0" y="1539641"/>
                  </a:cubicBezTo>
                  <a:lnTo>
                    <a:pt x="0" y="43351"/>
                  </a:lnTo>
                  <a:cubicBezTo>
                    <a:pt x="0" y="31854"/>
                    <a:pt x="4567" y="20827"/>
                    <a:pt x="12697" y="12697"/>
                  </a:cubicBezTo>
                  <a:cubicBezTo>
                    <a:pt x="20827" y="4567"/>
                    <a:pt x="31854" y="0"/>
                    <a:pt x="43351" y="0"/>
                  </a:cubicBezTo>
                  <a:close/>
                </a:path>
              </a:pathLst>
            </a:custGeom>
            <a:solidFill>
              <a:srgbClr val="F9FAFC"/>
            </a:solidFill>
            <a:ln w="28575" cap="rnd">
              <a:solidFill>
                <a:srgbClr val="ECF0F6"/>
              </a:solidFill>
              <a:prstDash val="solid"/>
              <a:round/>
            </a:ln>
          </p:spPr>
        </p:sp>
        <p:sp>
          <p:nvSpPr>
            <p:cNvPr name="TextBox 15" id="15"/>
            <p:cNvSpPr txBox="true"/>
            <p:nvPr/>
          </p:nvSpPr>
          <p:spPr>
            <a:xfrm>
              <a:off x="0" y="-19050"/>
              <a:ext cx="1411042" cy="1602042"/>
            </a:xfrm>
            <a:prstGeom prst="rect">
              <a:avLst/>
            </a:prstGeom>
          </p:spPr>
          <p:txBody>
            <a:bodyPr anchor="ctr" rtlCol="false" tIns="50800" lIns="50800" bIns="50800" rIns="50800"/>
            <a:lstStyle/>
            <a:p>
              <a:pPr algn="ctr">
                <a:lnSpc>
                  <a:spcPts val="1620"/>
                </a:lnSpc>
              </a:pPr>
            </a:p>
          </p:txBody>
        </p:sp>
      </p:grpSp>
      <p:grpSp>
        <p:nvGrpSpPr>
          <p:cNvPr name="Group 16" id="16"/>
          <p:cNvGrpSpPr/>
          <p:nvPr/>
        </p:nvGrpSpPr>
        <p:grpSpPr>
          <a:xfrm rot="0">
            <a:off x="17202150" y="9603467"/>
            <a:ext cx="511169" cy="285750"/>
            <a:chOff x="0" y="0"/>
            <a:chExt cx="681558" cy="381000"/>
          </a:xfrm>
        </p:grpSpPr>
        <p:sp>
          <p:nvSpPr>
            <p:cNvPr name="Freeform 17" id="17"/>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8" id="18"/>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3</a:t>
              </a:r>
            </a:p>
          </p:txBody>
        </p:sp>
      </p:grpSp>
      <p:sp>
        <p:nvSpPr>
          <p:cNvPr name="AutoShape 19" id="19"/>
          <p:cNvSpPr/>
          <p:nvPr/>
        </p:nvSpPr>
        <p:spPr>
          <a:xfrm flipV="true">
            <a:off x="6224023" y="1831994"/>
            <a:ext cx="5839954" cy="0"/>
          </a:xfrm>
          <a:prstGeom prst="line">
            <a:avLst/>
          </a:prstGeom>
          <a:ln cap="rnd" w="123825">
            <a:solidFill>
              <a:srgbClr val="00A982"/>
            </a:solidFill>
            <a:prstDash val="solid"/>
            <a:headEnd type="none" len="sm" w="sm"/>
            <a:tailEnd type="none" len="sm" w="sm"/>
          </a:ln>
        </p:spPr>
      </p:sp>
      <p:sp>
        <p:nvSpPr>
          <p:cNvPr name="Freeform 20" id="20"/>
          <p:cNvSpPr/>
          <p:nvPr/>
        </p:nvSpPr>
        <p:spPr>
          <a:xfrm flipH="false" flipV="false" rot="0">
            <a:off x="1296543" y="3585841"/>
            <a:ext cx="387818" cy="443220"/>
          </a:xfrm>
          <a:custGeom>
            <a:avLst/>
            <a:gdLst/>
            <a:ahLst/>
            <a:cxnLst/>
            <a:rect r="r" b="b" t="t" l="l"/>
            <a:pathLst>
              <a:path h="443220" w="387818">
                <a:moveTo>
                  <a:pt x="0" y="0"/>
                </a:moveTo>
                <a:lnTo>
                  <a:pt x="387818" y="0"/>
                </a:lnTo>
                <a:lnTo>
                  <a:pt x="387818" y="443220"/>
                </a:lnTo>
                <a:lnTo>
                  <a:pt x="0" y="443220"/>
                </a:lnTo>
                <a:lnTo>
                  <a:pt x="0" y="0"/>
                </a:lnTo>
                <a:close/>
              </a:path>
            </a:pathLst>
          </a:custGeom>
          <a:blipFill>
            <a:blip r:embed="rId5"/>
            <a:stretch>
              <a:fillRect l="0" t="0" r="0" b="0"/>
            </a:stretch>
          </a:blipFill>
        </p:spPr>
      </p:sp>
      <p:sp>
        <p:nvSpPr>
          <p:cNvPr name="Freeform 21" id="21"/>
          <p:cNvSpPr/>
          <p:nvPr/>
        </p:nvSpPr>
        <p:spPr>
          <a:xfrm flipH="false" flipV="false" rot="0">
            <a:off x="6677587" y="3537565"/>
            <a:ext cx="354226" cy="539772"/>
          </a:xfrm>
          <a:custGeom>
            <a:avLst/>
            <a:gdLst/>
            <a:ahLst/>
            <a:cxnLst/>
            <a:rect r="r" b="b" t="t" l="l"/>
            <a:pathLst>
              <a:path h="539772" w="354226">
                <a:moveTo>
                  <a:pt x="0" y="0"/>
                </a:moveTo>
                <a:lnTo>
                  <a:pt x="354226" y="0"/>
                </a:lnTo>
                <a:lnTo>
                  <a:pt x="354226" y="539773"/>
                </a:lnTo>
                <a:lnTo>
                  <a:pt x="0" y="539773"/>
                </a:lnTo>
                <a:lnTo>
                  <a:pt x="0" y="0"/>
                </a:lnTo>
                <a:close/>
              </a:path>
            </a:pathLst>
          </a:custGeom>
          <a:blipFill>
            <a:blip r:embed="rId6"/>
            <a:stretch>
              <a:fillRect l="0" t="0" r="0" b="0"/>
            </a:stretch>
          </a:blipFill>
        </p:spPr>
      </p:sp>
      <p:sp>
        <p:nvSpPr>
          <p:cNvPr name="Freeform 22" id="22"/>
          <p:cNvSpPr/>
          <p:nvPr/>
        </p:nvSpPr>
        <p:spPr>
          <a:xfrm flipH="false" flipV="false" rot="0">
            <a:off x="12192884" y="3605535"/>
            <a:ext cx="486546" cy="471802"/>
          </a:xfrm>
          <a:custGeom>
            <a:avLst/>
            <a:gdLst/>
            <a:ahLst/>
            <a:cxnLst/>
            <a:rect r="r" b="b" t="t" l="l"/>
            <a:pathLst>
              <a:path h="471802" w="486546">
                <a:moveTo>
                  <a:pt x="0" y="0"/>
                </a:moveTo>
                <a:lnTo>
                  <a:pt x="486546" y="0"/>
                </a:lnTo>
                <a:lnTo>
                  <a:pt x="486546" y="471803"/>
                </a:lnTo>
                <a:lnTo>
                  <a:pt x="0" y="471803"/>
                </a:lnTo>
                <a:lnTo>
                  <a:pt x="0" y="0"/>
                </a:lnTo>
                <a:close/>
              </a:path>
            </a:pathLst>
          </a:custGeom>
          <a:blipFill>
            <a:blip r:embed="rId7"/>
            <a:stretch>
              <a:fillRect l="0" t="0" r="0" b="0"/>
            </a:stretch>
          </a:blipFill>
        </p:spPr>
      </p:sp>
      <p:sp>
        <p:nvSpPr>
          <p:cNvPr name="TextBox 23" id="23"/>
          <p:cNvSpPr txBox="true"/>
          <p:nvPr/>
        </p:nvSpPr>
        <p:spPr>
          <a:xfrm rot="0">
            <a:off x="1296543" y="4381486"/>
            <a:ext cx="2966077" cy="448283"/>
          </a:xfrm>
          <a:prstGeom prst="rect">
            <a:avLst/>
          </a:prstGeom>
        </p:spPr>
        <p:txBody>
          <a:bodyPr anchor="t" rtlCol="false" tIns="0" lIns="0" bIns="0" rIns="0">
            <a:spAutoFit/>
          </a:bodyPr>
          <a:lstStyle/>
          <a:p>
            <a:pPr algn="l">
              <a:lnSpc>
                <a:spcPts val="3640"/>
              </a:lnSpc>
            </a:pPr>
            <a:r>
              <a:rPr lang="en-US" sz="2600" b="true">
                <a:solidFill>
                  <a:srgbClr val="292D3A"/>
                </a:solidFill>
                <a:latin typeface="Canva Sans Bold"/>
                <a:ea typeface="Canva Sans Bold"/>
                <a:cs typeface="Canva Sans Bold"/>
                <a:sym typeface="Canva Sans Bold"/>
              </a:rPr>
              <a:t>Problem Overview</a:t>
            </a:r>
          </a:p>
        </p:txBody>
      </p:sp>
      <p:sp>
        <p:nvSpPr>
          <p:cNvPr name="TextBox 24" id="24"/>
          <p:cNvSpPr txBox="true"/>
          <p:nvPr/>
        </p:nvSpPr>
        <p:spPr>
          <a:xfrm rot="0">
            <a:off x="1296543" y="5023693"/>
            <a:ext cx="4251726" cy="3990340"/>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Modern Internet applications are increasingly adopting the QUIC protocol due to its low connection latency, improved reliability, and support for HTTP/3. However, unlike traditional TCP-based protocols, QUIC operates ov</a:t>
            </a:r>
            <a:r>
              <a:rPr lang="en-US" sz="1899">
                <a:solidFill>
                  <a:srgbClr val="000000"/>
                </a:solidFill>
                <a:latin typeface="Canva Sans"/>
                <a:ea typeface="Canva Sans"/>
                <a:cs typeface="Canva Sans"/>
                <a:sym typeface="Canva Sans"/>
              </a:rPr>
              <a:t>er UDP and encrypts most transport-layer metadata, making it significantly more difficult to identify using conventional packet inspection techniques.</a:t>
            </a:r>
          </a:p>
        </p:txBody>
      </p:sp>
      <p:sp>
        <p:nvSpPr>
          <p:cNvPr name="TextBox 25" id="25"/>
          <p:cNvSpPr txBox="true"/>
          <p:nvPr/>
        </p:nvSpPr>
        <p:spPr>
          <a:xfrm rot="0">
            <a:off x="6658537" y="4386853"/>
            <a:ext cx="4597003" cy="448308"/>
          </a:xfrm>
          <a:prstGeom prst="rect">
            <a:avLst/>
          </a:prstGeom>
        </p:spPr>
        <p:txBody>
          <a:bodyPr anchor="t" rtlCol="false" tIns="0" lIns="0" bIns="0" rIns="0">
            <a:spAutoFit/>
          </a:bodyPr>
          <a:lstStyle/>
          <a:p>
            <a:pPr algn="l">
              <a:lnSpc>
                <a:spcPts val="3640"/>
              </a:lnSpc>
            </a:pPr>
            <a:r>
              <a:rPr lang="en-US" sz="2600" b="true">
                <a:solidFill>
                  <a:srgbClr val="292D3A"/>
                </a:solidFill>
                <a:latin typeface="Canva Sans Bold"/>
                <a:ea typeface="Canva Sans Bold"/>
                <a:cs typeface="Canva Sans Bold"/>
                <a:sym typeface="Canva Sans Bold"/>
              </a:rPr>
              <a:t>Need</a:t>
            </a:r>
            <a:r>
              <a:rPr lang="en-US" sz="2600" b="true">
                <a:solidFill>
                  <a:srgbClr val="292D3A"/>
                </a:solidFill>
                <a:latin typeface="Canva Sans Bold"/>
                <a:ea typeface="Canva Sans Bold"/>
                <a:cs typeface="Canva Sans Bold"/>
                <a:sym typeface="Canva Sans Bold"/>
              </a:rPr>
              <a:t> for QUIC Classification</a:t>
            </a:r>
          </a:p>
        </p:txBody>
      </p:sp>
      <p:sp>
        <p:nvSpPr>
          <p:cNvPr name="TextBox 26" id="26"/>
          <p:cNvSpPr txBox="true"/>
          <p:nvPr/>
        </p:nvSpPr>
        <p:spPr>
          <a:xfrm rot="0">
            <a:off x="6677587" y="5016954"/>
            <a:ext cx="4577953" cy="3990340"/>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Accurate identification of QUIC and Non-QUIC traffic is essential for Internet Service Pro</a:t>
            </a:r>
            <a:r>
              <a:rPr lang="en-US" sz="1899">
                <a:solidFill>
                  <a:srgbClr val="000000"/>
                </a:solidFill>
                <a:latin typeface="Canva Sans"/>
                <a:ea typeface="Canva Sans"/>
                <a:cs typeface="Canva Sans"/>
                <a:sym typeface="Canva Sans"/>
              </a:rPr>
              <a:t>viders (ISPs), enterprise networks, and network administrators to effectively monitor, manage, and secure network traffic. Since multiple applications with diverse Quality of Service (QoS) requirements use QUIC, simply detecting the protocol is insufficient for efficient traffic management and resource allocation.</a:t>
            </a:r>
          </a:p>
        </p:txBody>
      </p:sp>
      <p:sp>
        <p:nvSpPr>
          <p:cNvPr name="TextBox 27" id="27"/>
          <p:cNvSpPr txBox="true"/>
          <p:nvPr/>
        </p:nvSpPr>
        <p:spPr>
          <a:xfrm rot="0">
            <a:off x="12192884" y="4393593"/>
            <a:ext cx="2237090" cy="448283"/>
          </a:xfrm>
          <a:prstGeom prst="rect">
            <a:avLst/>
          </a:prstGeom>
        </p:spPr>
        <p:txBody>
          <a:bodyPr anchor="t" rtlCol="false" tIns="0" lIns="0" bIns="0" rIns="0">
            <a:spAutoFit/>
          </a:bodyPr>
          <a:lstStyle/>
          <a:p>
            <a:pPr algn="l">
              <a:lnSpc>
                <a:spcPts val="3640"/>
              </a:lnSpc>
            </a:pPr>
            <a:r>
              <a:rPr lang="en-US" sz="2600" b="true">
                <a:solidFill>
                  <a:srgbClr val="292D3A"/>
                </a:solidFill>
                <a:latin typeface="Canva Sans Bold"/>
                <a:ea typeface="Canva Sans Bold"/>
                <a:cs typeface="Canva Sans Bold"/>
                <a:sym typeface="Canva Sans Bold"/>
              </a:rPr>
              <a:t>Our Objective</a:t>
            </a:r>
          </a:p>
        </p:txBody>
      </p:sp>
      <p:sp>
        <p:nvSpPr>
          <p:cNvPr name="TextBox 28" id="28"/>
          <p:cNvSpPr txBox="true"/>
          <p:nvPr/>
        </p:nvSpPr>
        <p:spPr>
          <a:xfrm rot="0">
            <a:off x="12192884" y="5105400"/>
            <a:ext cx="4815840" cy="3323590"/>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Design a </a:t>
            </a:r>
            <a:r>
              <a:rPr lang="en-US" sz="1899">
                <a:solidFill>
                  <a:srgbClr val="000000"/>
                </a:solidFill>
                <a:latin typeface="Canva Sans"/>
                <a:ea typeface="Canva Sans"/>
                <a:cs typeface="Canva Sans"/>
                <a:sym typeface="Canva Sans"/>
              </a:rPr>
              <a:t>system that can detect QUIC traffic from raw network packets, classify it into application categories (Video Streaming, Web Browsing, File Download) using only observable features — packet sizes, inter-arrival times, and packet counts — without decrypting the payload, and enforce dynamic QoS policies in real time to prioritize bandwidth allocation.</a:t>
            </a:r>
          </a:p>
        </p:txBody>
      </p:sp>
      <p:sp>
        <p:nvSpPr>
          <p:cNvPr name="TextBox 29" id="29"/>
          <p:cNvSpPr txBox="true"/>
          <p:nvPr/>
        </p:nvSpPr>
        <p:spPr>
          <a:xfrm rot="0">
            <a:off x="1028700" y="2315144"/>
            <a:ext cx="16230600" cy="763083"/>
          </a:xfrm>
          <a:prstGeom prst="rect">
            <a:avLst/>
          </a:prstGeom>
        </p:spPr>
        <p:txBody>
          <a:bodyPr anchor="t" rtlCol="false" tIns="0" lIns="0" bIns="0" rIns="0">
            <a:spAutoFit/>
          </a:bodyPr>
          <a:lstStyle/>
          <a:p>
            <a:pPr algn="l">
              <a:lnSpc>
                <a:spcPts val="3090"/>
              </a:lnSpc>
            </a:pPr>
            <a:r>
              <a:rPr lang="en-US" sz="2207">
                <a:solidFill>
                  <a:srgbClr val="000000"/>
                </a:solidFill>
                <a:latin typeface="Canva Sans"/>
                <a:ea typeface="Canva Sans"/>
                <a:cs typeface="Canva Sans"/>
                <a:sym typeface="Canva Sans"/>
              </a:rPr>
              <a:t>The widespread adoption of the QUIC protocol has made traffic classification and quality-of-service enforcement significantly harder as it encrypts most transport-level metadata.</a:t>
            </a:r>
          </a:p>
        </p:txBody>
      </p:sp>
      <p:sp>
        <p:nvSpPr>
          <p:cNvPr name="TextBox 30" id="30"/>
          <p:cNvSpPr txBox="true"/>
          <p:nvPr/>
        </p:nvSpPr>
        <p:spPr>
          <a:xfrm rot="0">
            <a:off x="6116904" y="719982"/>
            <a:ext cx="6054193"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Problem Statement</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6384524" y="2116942"/>
            <a:ext cx="5518953" cy="0"/>
          </a:xfrm>
          <a:prstGeom prst="line">
            <a:avLst/>
          </a:prstGeom>
          <a:ln cap="rnd" w="133350">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7607808" y="9603467"/>
            <a:ext cx="9326499" cy="285750"/>
            <a:chOff x="0" y="0"/>
            <a:chExt cx="12435332" cy="381000"/>
          </a:xfrm>
        </p:grpSpPr>
        <p:sp>
          <p:nvSpPr>
            <p:cNvPr name="Freeform 6" id="6"/>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7" id="7"/>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8" id="8"/>
          <p:cNvGrpSpPr/>
          <p:nvPr/>
        </p:nvGrpSpPr>
        <p:grpSpPr>
          <a:xfrm rot="0">
            <a:off x="17202150" y="9603467"/>
            <a:ext cx="511169" cy="285750"/>
            <a:chOff x="0" y="0"/>
            <a:chExt cx="681558" cy="381000"/>
          </a:xfrm>
        </p:grpSpPr>
        <p:sp>
          <p:nvSpPr>
            <p:cNvPr name="Freeform 9" id="9"/>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0" id="10"/>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4</a:t>
              </a:r>
            </a:p>
          </p:txBody>
        </p:sp>
      </p:grpSp>
      <p:sp>
        <p:nvSpPr>
          <p:cNvPr name="Freeform 11" id="11"/>
          <p:cNvSpPr/>
          <p:nvPr/>
        </p:nvSpPr>
        <p:spPr>
          <a:xfrm flipH="false" flipV="false" rot="0">
            <a:off x="929483" y="4352260"/>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12" id="12"/>
          <p:cNvSpPr txBox="true"/>
          <p:nvPr/>
        </p:nvSpPr>
        <p:spPr>
          <a:xfrm rot="0">
            <a:off x="6384524" y="923925"/>
            <a:ext cx="5518953" cy="863560"/>
          </a:xfrm>
          <a:prstGeom prst="rect">
            <a:avLst/>
          </a:prstGeom>
        </p:spPr>
        <p:txBody>
          <a:bodyPr anchor="t" rtlCol="false" tIns="0" lIns="0" bIns="0" rIns="0">
            <a:spAutoFit/>
          </a:bodyPr>
          <a:lstStyle/>
          <a:p>
            <a:pPr algn="l">
              <a:lnSpc>
                <a:spcPts val="7000"/>
              </a:lnSpc>
            </a:pPr>
            <a:r>
              <a:rPr lang="en-US" sz="5000" b="true">
                <a:solidFill>
                  <a:srgbClr val="292D3A"/>
                </a:solidFill>
                <a:latin typeface="Canva Sans Bold"/>
                <a:ea typeface="Canva Sans Bold"/>
                <a:cs typeface="Canva Sans Bold"/>
                <a:sym typeface="Canva Sans Bold"/>
              </a:rPr>
              <a:t>Solution Proposal</a:t>
            </a:r>
          </a:p>
        </p:txBody>
      </p:sp>
      <p:sp>
        <p:nvSpPr>
          <p:cNvPr name="TextBox 13" id="13"/>
          <p:cNvSpPr txBox="true"/>
          <p:nvPr/>
        </p:nvSpPr>
        <p:spPr>
          <a:xfrm rot="0">
            <a:off x="929483" y="2817170"/>
            <a:ext cx="16429034" cy="647673"/>
          </a:xfrm>
          <a:prstGeom prst="rect">
            <a:avLst/>
          </a:prstGeom>
        </p:spPr>
        <p:txBody>
          <a:bodyPr anchor="t" rtlCol="false" tIns="0" lIns="0" bIns="0" rIns="0">
            <a:spAutoFit/>
          </a:bodyPr>
          <a:lstStyle/>
          <a:p>
            <a:pPr algn="l">
              <a:lnSpc>
                <a:spcPts val="2605"/>
              </a:lnSpc>
              <a:spcBef>
                <a:spcPct val="0"/>
              </a:spcBef>
            </a:pPr>
            <a:r>
              <a:rPr lang="en-US" sz="2170">
                <a:solidFill>
                  <a:srgbClr val="485669"/>
                </a:solidFill>
                <a:latin typeface="Canva Sans"/>
                <a:ea typeface="Canva Sans"/>
                <a:cs typeface="Canva Sans"/>
                <a:sym typeface="Canva Sans"/>
              </a:rPr>
              <a:t>We developed an end-to-end, four-stage pipeline to capture, identify, classify, and police encrypted network traffic without relying on standard Deep Packet Inspection (DPI).</a:t>
            </a:r>
          </a:p>
        </p:txBody>
      </p:sp>
      <p:sp>
        <p:nvSpPr>
          <p:cNvPr name="TextBox 14" id="14"/>
          <p:cNvSpPr txBox="true"/>
          <p:nvPr/>
        </p:nvSpPr>
        <p:spPr>
          <a:xfrm rot="0">
            <a:off x="1353693" y="4819664"/>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1: RAW PACKET EXTRACTION</a:t>
            </a:r>
          </a:p>
        </p:txBody>
      </p:sp>
      <p:sp>
        <p:nvSpPr>
          <p:cNvPr name="TextBox 15" id="15"/>
          <p:cNvSpPr txBox="true"/>
          <p:nvPr/>
        </p:nvSpPr>
        <p:spPr>
          <a:xfrm rot="0">
            <a:off x="1353693" y="5287502"/>
            <a:ext cx="6529464" cy="838159"/>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Bypassing standard libraries to manually decode packets at the NIC level (ETH_P_ALL) for real-time, zero-latency performance.</a:t>
            </a:r>
          </a:p>
        </p:txBody>
      </p:sp>
      <p:sp>
        <p:nvSpPr>
          <p:cNvPr name="Freeform 16" id="16"/>
          <p:cNvSpPr/>
          <p:nvPr/>
        </p:nvSpPr>
        <p:spPr>
          <a:xfrm flipH="false" flipV="false" rot="0">
            <a:off x="9718125" y="4352260"/>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17" id="17"/>
          <p:cNvSpPr txBox="true"/>
          <p:nvPr/>
        </p:nvSpPr>
        <p:spPr>
          <a:xfrm rot="0">
            <a:off x="10142335" y="4827597"/>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2: QUIC IDENTIFICATION</a:t>
            </a:r>
          </a:p>
        </p:txBody>
      </p:sp>
      <p:sp>
        <p:nvSpPr>
          <p:cNvPr name="TextBox 18" id="18"/>
          <p:cNvSpPr txBox="true"/>
          <p:nvPr/>
        </p:nvSpPr>
        <p:spPr>
          <a:xfrm rot="0">
            <a:off x="10142335" y="5295435"/>
            <a:ext cx="6529464" cy="1114425"/>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Extracting heuristic evidence (headers) and normalizing 5-tuples to robustly detect QUIC flows via a multi-tier framework.</a:t>
            </a:r>
          </a:p>
          <a:p>
            <a:pPr algn="l">
              <a:lnSpc>
                <a:spcPts val="2245"/>
              </a:lnSpc>
              <a:spcBef>
                <a:spcPct val="0"/>
              </a:spcBef>
            </a:pPr>
          </a:p>
        </p:txBody>
      </p:sp>
      <p:sp>
        <p:nvSpPr>
          <p:cNvPr name="Freeform 19" id="19"/>
          <p:cNvSpPr/>
          <p:nvPr/>
        </p:nvSpPr>
        <p:spPr>
          <a:xfrm flipH="false" flipV="false" rot="0">
            <a:off x="891383" y="7086315"/>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20" id="20"/>
          <p:cNvSpPr txBox="true"/>
          <p:nvPr/>
        </p:nvSpPr>
        <p:spPr>
          <a:xfrm rot="0">
            <a:off x="1353693" y="7553719"/>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3: QUIC CLASSIFICATION</a:t>
            </a:r>
          </a:p>
        </p:txBody>
      </p:sp>
      <p:sp>
        <p:nvSpPr>
          <p:cNvPr name="TextBox 21" id="21"/>
          <p:cNvSpPr txBox="true"/>
          <p:nvPr/>
        </p:nvSpPr>
        <p:spPr>
          <a:xfrm rot="0">
            <a:off x="1353693" y="8021557"/>
            <a:ext cx="6529464" cy="838159"/>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Training and deploying a SMOTE-balanced XGBoost machine learning model on 14 statistical flow features to categorize traffic.</a:t>
            </a:r>
          </a:p>
        </p:txBody>
      </p:sp>
      <p:sp>
        <p:nvSpPr>
          <p:cNvPr name="Freeform 22" id="22"/>
          <p:cNvSpPr/>
          <p:nvPr/>
        </p:nvSpPr>
        <p:spPr>
          <a:xfrm flipH="false" flipV="false" rot="0">
            <a:off x="9718125" y="7086315"/>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23" id="23"/>
          <p:cNvSpPr txBox="true"/>
          <p:nvPr/>
        </p:nvSpPr>
        <p:spPr>
          <a:xfrm rot="0">
            <a:off x="10142335" y="7553719"/>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4: QOS POLICING</a:t>
            </a:r>
          </a:p>
        </p:txBody>
      </p:sp>
      <p:sp>
        <p:nvSpPr>
          <p:cNvPr name="TextBox 24" id="24"/>
          <p:cNvSpPr txBox="true"/>
          <p:nvPr/>
        </p:nvSpPr>
        <p:spPr>
          <a:xfrm rot="0">
            <a:off x="10142335" y="8021557"/>
            <a:ext cx="6529464" cy="838159"/>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Applying autonomous, dynamic bandwidth allocation on Open vSwitch (OVS) based on real-time ML traffic inferences.</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7607808" y="9603467"/>
            <a:ext cx="9326499" cy="285750"/>
            <a:chOff x="0" y="0"/>
            <a:chExt cx="12435332" cy="381000"/>
          </a:xfrm>
        </p:grpSpPr>
        <p:sp>
          <p:nvSpPr>
            <p:cNvPr name="Freeform 5" id="5"/>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6" id="6"/>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7" id="7"/>
          <p:cNvGrpSpPr/>
          <p:nvPr/>
        </p:nvGrpSpPr>
        <p:grpSpPr>
          <a:xfrm rot="0">
            <a:off x="17202150" y="9603467"/>
            <a:ext cx="511169" cy="285750"/>
            <a:chOff x="0" y="0"/>
            <a:chExt cx="681558" cy="381000"/>
          </a:xfrm>
        </p:grpSpPr>
        <p:sp>
          <p:nvSpPr>
            <p:cNvPr name="Freeform 8" id="8"/>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9" id="9"/>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5</a:t>
              </a:r>
            </a:p>
          </p:txBody>
        </p:sp>
      </p:grpSp>
      <p:sp>
        <p:nvSpPr>
          <p:cNvPr name="AutoShape 10" id="10"/>
          <p:cNvSpPr/>
          <p:nvPr/>
        </p:nvSpPr>
        <p:spPr>
          <a:xfrm flipV="true">
            <a:off x="6716935" y="1992290"/>
            <a:ext cx="5286364" cy="0"/>
          </a:xfrm>
          <a:prstGeom prst="line">
            <a:avLst/>
          </a:prstGeom>
          <a:ln cap="rnd" w="123825">
            <a:solidFill>
              <a:srgbClr val="00A982"/>
            </a:solidFill>
            <a:prstDash val="solid"/>
            <a:headEnd type="none" len="sm" w="sm"/>
            <a:tailEnd type="none" len="sm" w="sm"/>
          </a:ln>
        </p:spPr>
      </p:sp>
      <p:grpSp>
        <p:nvGrpSpPr>
          <p:cNvPr name="Group 11" id="11"/>
          <p:cNvGrpSpPr/>
          <p:nvPr/>
        </p:nvGrpSpPr>
        <p:grpSpPr>
          <a:xfrm rot="0">
            <a:off x="14776675" y="5210880"/>
            <a:ext cx="1015547" cy="1125100"/>
            <a:chOff x="0" y="0"/>
            <a:chExt cx="267469" cy="296323"/>
          </a:xfrm>
        </p:grpSpPr>
        <p:sp>
          <p:nvSpPr>
            <p:cNvPr name="Freeform 12" id="12"/>
            <p:cNvSpPr/>
            <p:nvPr/>
          </p:nvSpPr>
          <p:spPr>
            <a:xfrm flipH="false" flipV="false" rot="0">
              <a:off x="0" y="0"/>
              <a:ext cx="267469" cy="296323"/>
            </a:xfrm>
            <a:custGeom>
              <a:avLst/>
              <a:gdLst/>
              <a:ahLst/>
              <a:cxnLst/>
              <a:rect r="r" b="b" t="t" l="l"/>
              <a:pathLst>
                <a:path h="296323" w="267469">
                  <a:moveTo>
                    <a:pt x="0" y="0"/>
                  </a:moveTo>
                  <a:lnTo>
                    <a:pt x="267469" y="0"/>
                  </a:lnTo>
                  <a:lnTo>
                    <a:pt x="267469" y="296323"/>
                  </a:lnTo>
                  <a:lnTo>
                    <a:pt x="0" y="296323"/>
                  </a:lnTo>
                  <a:close/>
                </a:path>
              </a:pathLst>
            </a:custGeom>
            <a:solidFill>
              <a:srgbClr val="FFFFFF"/>
            </a:solidFill>
          </p:spPr>
        </p:sp>
        <p:sp>
          <p:nvSpPr>
            <p:cNvPr name="TextBox 13" id="13"/>
            <p:cNvSpPr txBox="true"/>
            <p:nvPr/>
          </p:nvSpPr>
          <p:spPr>
            <a:xfrm>
              <a:off x="0" y="-19050"/>
              <a:ext cx="267469" cy="315373"/>
            </a:xfrm>
            <a:prstGeom prst="rect">
              <a:avLst/>
            </a:prstGeom>
          </p:spPr>
          <p:txBody>
            <a:bodyPr anchor="ctr" rtlCol="false" tIns="50800" lIns="50800" bIns="50800" rIns="50800"/>
            <a:lstStyle/>
            <a:p>
              <a:pPr algn="ctr">
                <a:lnSpc>
                  <a:spcPts val="1620"/>
                </a:lnSpc>
              </a:pPr>
            </a:p>
          </p:txBody>
        </p:sp>
      </p:grpSp>
      <p:sp>
        <p:nvSpPr>
          <p:cNvPr name="Freeform 14" id="14"/>
          <p:cNvSpPr/>
          <p:nvPr/>
        </p:nvSpPr>
        <p:spPr>
          <a:xfrm flipH="false" flipV="false" rot="0">
            <a:off x="369345" y="2892402"/>
            <a:ext cx="17549310" cy="4935744"/>
          </a:xfrm>
          <a:custGeom>
            <a:avLst/>
            <a:gdLst/>
            <a:ahLst/>
            <a:cxnLst/>
            <a:rect r="r" b="b" t="t" l="l"/>
            <a:pathLst>
              <a:path h="4935744" w="17549310">
                <a:moveTo>
                  <a:pt x="0" y="0"/>
                </a:moveTo>
                <a:lnTo>
                  <a:pt x="17549310" y="0"/>
                </a:lnTo>
                <a:lnTo>
                  <a:pt x="17549310" y="4935744"/>
                </a:lnTo>
                <a:lnTo>
                  <a:pt x="0" y="4935744"/>
                </a:lnTo>
                <a:lnTo>
                  <a:pt x="0" y="0"/>
                </a:lnTo>
                <a:close/>
              </a:path>
            </a:pathLst>
          </a:custGeom>
          <a:blipFill>
            <a:blip r:embed="rId5"/>
            <a:stretch>
              <a:fillRect l="0" t="0" r="0" b="0"/>
            </a:stretch>
          </a:blipFill>
        </p:spPr>
      </p:sp>
      <p:sp>
        <p:nvSpPr>
          <p:cNvPr name="TextBox 15" id="15"/>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Overall Flow</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6716935" y="1992290"/>
            <a:ext cx="5286364" cy="0"/>
          </a:xfrm>
          <a:prstGeom prst="line">
            <a:avLst/>
          </a:prstGeom>
          <a:ln cap="rnd" w="12382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1028700" y="3784100"/>
            <a:ext cx="4872334" cy="4876898"/>
            <a:chOff x="0" y="0"/>
            <a:chExt cx="1283248" cy="1284450"/>
          </a:xfrm>
        </p:grpSpPr>
        <p:sp>
          <p:nvSpPr>
            <p:cNvPr name="Freeform 6" id="6"/>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7" id="7"/>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1" id="11"/>
          <p:cNvGrpSpPr/>
          <p:nvPr/>
        </p:nvGrpSpPr>
        <p:grpSpPr>
          <a:xfrm rot="0">
            <a:off x="6364566" y="3784100"/>
            <a:ext cx="5173824" cy="4876898"/>
            <a:chOff x="0" y="0"/>
            <a:chExt cx="1362653" cy="1284450"/>
          </a:xfrm>
        </p:grpSpPr>
        <p:sp>
          <p:nvSpPr>
            <p:cNvPr name="Freeform 12" id="12"/>
            <p:cNvSpPr/>
            <p:nvPr/>
          </p:nvSpPr>
          <p:spPr>
            <a:xfrm flipH="false" flipV="false" rot="0">
              <a:off x="0" y="0"/>
              <a:ext cx="1362653" cy="1284450"/>
            </a:xfrm>
            <a:custGeom>
              <a:avLst/>
              <a:gdLst/>
              <a:ahLst/>
              <a:cxnLst/>
              <a:rect r="r" b="b" t="t" l="l"/>
              <a:pathLst>
                <a:path h="1284450" w="1362653">
                  <a:moveTo>
                    <a:pt x="44891" y="0"/>
                  </a:moveTo>
                  <a:lnTo>
                    <a:pt x="1317762" y="0"/>
                  </a:lnTo>
                  <a:cubicBezTo>
                    <a:pt x="1329668" y="0"/>
                    <a:pt x="1341086" y="4730"/>
                    <a:pt x="1349505" y="13148"/>
                  </a:cubicBezTo>
                  <a:cubicBezTo>
                    <a:pt x="1357924" y="21567"/>
                    <a:pt x="1362653" y="32985"/>
                    <a:pt x="1362653" y="44891"/>
                  </a:cubicBezTo>
                  <a:lnTo>
                    <a:pt x="1362653" y="1239560"/>
                  </a:lnTo>
                  <a:cubicBezTo>
                    <a:pt x="1362653" y="1264352"/>
                    <a:pt x="1342555" y="1284450"/>
                    <a:pt x="1317762" y="1284450"/>
                  </a:cubicBezTo>
                  <a:lnTo>
                    <a:pt x="44891" y="1284450"/>
                  </a:lnTo>
                  <a:cubicBezTo>
                    <a:pt x="32985" y="1284450"/>
                    <a:pt x="21567" y="1279721"/>
                    <a:pt x="13148" y="1271302"/>
                  </a:cubicBezTo>
                  <a:cubicBezTo>
                    <a:pt x="4730" y="1262883"/>
                    <a:pt x="0" y="1251465"/>
                    <a:pt x="0" y="1239560"/>
                  </a:cubicBezTo>
                  <a:lnTo>
                    <a:pt x="0" y="44891"/>
                  </a:lnTo>
                  <a:cubicBezTo>
                    <a:pt x="0" y="20098"/>
                    <a:pt x="20098" y="0"/>
                    <a:pt x="44891" y="0"/>
                  </a:cubicBezTo>
                  <a:close/>
                </a:path>
              </a:pathLst>
            </a:custGeom>
            <a:solidFill>
              <a:srgbClr val="F9FAFC"/>
            </a:solidFill>
            <a:ln w="28575" cap="rnd">
              <a:solidFill>
                <a:srgbClr val="ECF0F6"/>
              </a:solidFill>
              <a:prstDash val="solid"/>
              <a:round/>
            </a:ln>
          </p:spPr>
        </p:sp>
        <p:sp>
          <p:nvSpPr>
            <p:cNvPr name="TextBox 13" id="13"/>
            <p:cNvSpPr txBox="true"/>
            <p:nvPr/>
          </p:nvSpPr>
          <p:spPr>
            <a:xfrm>
              <a:off x="0" y="-19050"/>
              <a:ext cx="1362653" cy="1303500"/>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11925041" y="3784100"/>
            <a:ext cx="5334259" cy="4876898"/>
            <a:chOff x="0" y="0"/>
            <a:chExt cx="1404908" cy="1284450"/>
          </a:xfrm>
        </p:grpSpPr>
        <p:sp>
          <p:nvSpPr>
            <p:cNvPr name="Freeform 15" id="15"/>
            <p:cNvSpPr/>
            <p:nvPr/>
          </p:nvSpPr>
          <p:spPr>
            <a:xfrm flipH="false" flipV="false" rot="0">
              <a:off x="0" y="0"/>
              <a:ext cx="1404908" cy="1284450"/>
            </a:xfrm>
            <a:custGeom>
              <a:avLst/>
              <a:gdLst/>
              <a:ahLst/>
              <a:cxnLst/>
              <a:rect r="r" b="b" t="t" l="l"/>
              <a:pathLst>
                <a:path h="1284450" w="1404908">
                  <a:moveTo>
                    <a:pt x="43541" y="0"/>
                  </a:moveTo>
                  <a:lnTo>
                    <a:pt x="1361367" y="0"/>
                  </a:lnTo>
                  <a:cubicBezTo>
                    <a:pt x="1372915" y="0"/>
                    <a:pt x="1383989" y="4587"/>
                    <a:pt x="1392155" y="12753"/>
                  </a:cubicBezTo>
                  <a:cubicBezTo>
                    <a:pt x="1400320" y="20918"/>
                    <a:pt x="1404908" y="31993"/>
                    <a:pt x="1404908" y="43541"/>
                  </a:cubicBezTo>
                  <a:lnTo>
                    <a:pt x="1404908" y="1240910"/>
                  </a:lnTo>
                  <a:cubicBezTo>
                    <a:pt x="1404908" y="1252457"/>
                    <a:pt x="1400320" y="1263532"/>
                    <a:pt x="1392155" y="1271698"/>
                  </a:cubicBezTo>
                  <a:cubicBezTo>
                    <a:pt x="1383989" y="1279863"/>
                    <a:pt x="1372915" y="1284450"/>
                    <a:pt x="1361367" y="1284450"/>
                  </a:cubicBezTo>
                  <a:lnTo>
                    <a:pt x="43541" y="1284450"/>
                  </a:lnTo>
                  <a:cubicBezTo>
                    <a:pt x="31993" y="1284450"/>
                    <a:pt x="20918" y="1279863"/>
                    <a:pt x="12753" y="1271698"/>
                  </a:cubicBezTo>
                  <a:cubicBezTo>
                    <a:pt x="4587" y="1263532"/>
                    <a:pt x="0" y="1252457"/>
                    <a:pt x="0" y="1240910"/>
                  </a:cubicBezTo>
                  <a:lnTo>
                    <a:pt x="0" y="43541"/>
                  </a:lnTo>
                  <a:cubicBezTo>
                    <a:pt x="0" y="31993"/>
                    <a:pt x="4587" y="20918"/>
                    <a:pt x="12753" y="12753"/>
                  </a:cubicBezTo>
                  <a:cubicBezTo>
                    <a:pt x="20918" y="4587"/>
                    <a:pt x="31993" y="0"/>
                    <a:pt x="43541" y="0"/>
                  </a:cubicBezTo>
                  <a:close/>
                </a:path>
              </a:pathLst>
            </a:custGeom>
            <a:solidFill>
              <a:srgbClr val="F9FAFC"/>
            </a:solidFill>
            <a:ln w="28575" cap="rnd">
              <a:solidFill>
                <a:srgbClr val="ECF0F6"/>
              </a:solidFill>
              <a:prstDash val="solid"/>
              <a:round/>
            </a:ln>
          </p:spPr>
        </p:sp>
        <p:sp>
          <p:nvSpPr>
            <p:cNvPr name="TextBox 16" id="16"/>
            <p:cNvSpPr txBox="true"/>
            <p:nvPr/>
          </p:nvSpPr>
          <p:spPr>
            <a:xfrm>
              <a:off x="0" y="-19050"/>
              <a:ext cx="1404908" cy="1303500"/>
            </a:xfrm>
            <a:prstGeom prst="rect">
              <a:avLst/>
            </a:prstGeom>
          </p:spPr>
          <p:txBody>
            <a:bodyPr anchor="ctr" rtlCol="false" tIns="50800" lIns="50800" bIns="50800" rIns="50800"/>
            <a:lstStyle/>
            <a:p>
              <a:pPr algn="ctr">
                <a:lnSpc>
                  <a:spcPts val="1620"/>
                </a:lnSpc>
              </a:pPr>
            </a:p>
          </p:txBody>
        </p:sp>
      </p:grpSp>
      <p:grpSp>
        <p:nvGrpSpPr>
          <p:cNvPr name="Group 17" id="17"/>
          <p:cNvGrpSpPr/>
          <p:nvPr/>
        </p:nvGrpSpPr>
        <p:grpSpPr>
          <a:xfrm rot="0">
            <a:off x="17211675" y="9603467"/>
            <a:ext cx="511169" cy="285750"/>
            <a:chOff x="0" y="0"/>
            <a:chExt cx="681558" cy="381000"/>
          </a:xfrm>
        </p:grpSpPr>
        <p:sp>
          <p:nvSpPr>
            <p:cNvPr name="Freeform 18" id="18"/>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9" id="19"/>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6</a:t>
              </a:r>
            </a:p>
          </p:txBody>
        </p:sp>
      </p:grpSp>
      <p:sp>
        <p:nvSpPr>
          <p:cNvPr name="TextBox 20" id="20"/>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Raw Byte Parsing</a:t>
            </a:r>
          </a:p>
        </p:txBody>
      </p:sp>
      <p:sp>
        <p:nvSpPr>
          <p:cNvPr name="TextBox 21" id="21"/>
          <p:cNvSpPr txBox="true"/>
          <p:nvPr/>
        </p:nvSpPr>
        <p:spPr>
          <a:xfrm rot="0">
            <a:off x="1545306" y="4170215"/>
            <a:ext cx="3462189" cy="448308"/>
          </a:xfrm>
          <a:prstGeom prst="rect">
            <a:avLst/>
          </a:prstGeom>
        </p:spPr>
        <p:txBody>
          <a:bodyPr anchor="t" rtlCol="false" tIns="0" lIns="0" bIns="0" rIns="0">
            <a:spAutoFit/>
          </a:bodyPr>
          <a:lstStyle/>
          <a:p>
            <a:pPr algn="l">
              <a:lnSpc>
                <a:spcPts val="3640"/>
              </a:lnSpc>
            </a:pPr>
            <a:r>
              <a:rPr lang="en-US" sz="2600" b="true">
                <a:solidFill>
                  <a:srgbClr val="00A982"/>
                </a:solidFill>
                <a:latin typeface="Canva Sans Bold"/>
                <a:ea typeface="Canva Sans Bold"/>
                <a:cs typeface="Canva Sans Bold"/>
                <a:sym typeface="Canva Sans Bold"/>
              </a:rPr>
              <a:t> Capturing the Packet</a:t>
            </a:r>
          </a:p>
        </p:txBody>
      </p:sp>
      <p:sp>
        <p:nvSpPr>
          <p:cNvPr name="TextBox 22" id="22"/>
          <p:cNvSpPr txBox="true"/>
          <p:nvPr/>
        </p:nvSpPr>
        <p:spPr>
          <a:xfrm rot="0">
            <a:off x="1353693" y="5450882"/>
            <a:ext cx="4347908" cy="2657304"/>
          </a:xfrm>
          <a:prstGeom prst="rect">
            <a:avLst/>
          </a:prstGeom>
        </p:spPr>
        <p:txBody>
          <a:bodyPr anchor="t" rtlCol="false" tIns="0" lIns="0" bIns="0" rIns="0">
            <a:spAutoFit/>
          </a:bodyPr>
          <a:lstStyle/>
          <a:p>
            <a:pPr algn="l">
              <a:lnSpc>
                <a:spcPts val="2634"/>
              </a:lnSpc>
            </a:pPr>
            <a:r>
              <a:rPr lang="en-US" sz="1881">
                <a:solidFill>
                  <a:srgbClr val="000000"/>
                </a:solidFill>
                <a:latin typeface="Canva Sans"/>
                <a:ea typeface="Canva Sans"/>
                <a:cs typeface="Canva Sans"/>
                <a:sym typeface="Canva Sans"/>
              </a:rPr>
              <a:t>We open a raw sock</a:t>
            </a:r>
            <a:r>
              <a:rPr lang="en-US" sz="1881">
                <a:solidFill>
                  <a:srgbClr val="000000"/>
                </a:solidFill>
                <a:latin typeface="Canva Sans"/>
                <a:ea typeface="Canva Sans"/>
                <a:cs typeface="Canva Sans"/>
                <a:sym typeface="Canva Sans"/>
              </a:rPr>
              <a:t>et (AF_PACKET) bound to our mirror port (s1-eth3). This gives us every frame that passes through the switch — as raw bytes, straight from the network card. No filtering, no preprocessing. We get the full Ethernet frame exactly as it was sent.</a:t>
            </a:r>
          </a:p>
        </p:txBody>
      </p:sp>
      <p:sp>
        <p:nvSpPr>
          <p:cNvPr name="TextBox 23" id="23"/>
          <p:cNvSpPr txBox="true"/>
          <p:nvPr/>
        </p:nvSpPr>
        <p:spPr>
          <a:xfrm rot="0">
            <a:off x="7304339" y="4041275"/>
            <a:ext cx="2938611" cy="448308"/>
          </a:xfrm>
          <a:prstGeom prst="rect">
            <a:avLst/>
          </a:prstGeom>
        </p:spPr>
        <p:txBody>
          <a:bodyPr anchor="t" rtlCol="false" tIns="0" lIns="0" bIns="0" rIns="0">
            <a:spAutoFit/>
          </a:bodyPr>
          <a:lstStyle/>
          <a:p>
            <a:pPr algn="l">
              <a:lnSpc>
                <a:spcPts val="3640"/>
              </a:lnSpc>
            </a:pPr>
            <a:r>
              <a:rPr lang="en-US" sz="2600" b="true">
                <a:solidFill>
                  <a:srgbClr val="00A982"/>
                </a:solidFill>
                <a:latin typeface="Canva Sans Bold"/>
                <a:ea typeface="Canva Sans Bold"/>
                <a:cs typeface="Canva Sans Bold"/>
                <a:sym typeface="Canva Sans Bold"/>
              </a:rPr>
              <a:t>Peeling the Layers</a:t>
            </a:r>
          </a:p>
        </p:txBody>
      </p:sp>
      <p:sp>
        <p:nvSpPr>
          <p:cNvPr name="TextBox 24" id="24"/>
          <p:cNvSpPr txBox="true"/>
          <p:nvPr/>
        </p:nvSpPr>
        <p:spPr>
          <a:xfrm rot="0">
            <a:off x="6635031" y="5450852"/>
            <a:ext cx="4556013" cy="2657333"/>
          </a:xfrm>
          <a:prstGeom prst="rect">
            <a:avLst/>
          </a:prstGeom>
        </p:spPr>
        <p:txBody>
          <a:bodyPr anchor="t" rtlCol="false" tIns="0" lIns="0" bIns="0" rIns="0">
            <a:spAutoFit/>
          </a:bodyPr>
          <a:lstStyle/>
          <a:p>
            <a:pPr algn="l">
              <a:lnSpc>
                <a:spcPts val="2632"/>
              </a:lnSpc>
            </a:pPr>
            <a:r>
              <a:rPr lang="en-US" sz="1880">
                <a:solidFill>
                  <a:srgbClr val="000000"/>
                </a:solidFill>
                <a:latin typeface="Canva Sans"/>
                <a:ea typeface="Canva Sans"/>
                <a:cs typeface="Canva Sans"/>
                <a:sym typeface="Canva Sans"/>
              </a:rPr>
              <a:t>Each packet is wrapped in layers. First we strip the Ethernet</a:t>
            </a:r>
            <a:r>
              <a:rPr lang="en-US" sz="1880">
                <a:solidFill>
                  <a:srgbClr val="000000"/>
                </a:solidFill>
                <a:latin typeface="Canva Sans"/>
                <a:ea typeface="Canva Sans"/>
                <a:cs typeface="Canva Sans"/>
                <a:sym typeface="Canva Sans"/>
              </a:rPr>
              <a:t> header (14 bytes) to get the IP packet. Then we read the IP header to find source/destination IPs and confirm it's UDP. Then we strip the UDP header (8 bytes) to get the payload. What's left is the QUIC data — the part we actually need.</a:t>
            </a:r>
          </a:p>
        </p:txBody>
      </p:sp>
      <p:sp>
        <p:nvSpPr>
          <p:cNvPr name="TextBox 25" id="25"/>
          <p:cNvSpPr txBox="true"/>
          <p:nvPr/>
        </p:nvSpPr>
        <p:spPr>
          <a:xfrm rot="0">
            <a:off x="12539794" y="4137194"/>
            <a:ext cx="4104754" cy="905508"/>
          </a:xfrm>
          <a:prstGeom prst="rect">
            <a:avLst/>
          </a:prstGeom>
        </p:spPr>
        <p:txBody>
          <a:bodyPr anchor="t" rtlCol="false" tIns="0" lIns="0" bIns="0" rIns="0">
            <a:spAutoFit/>
          </a:bodyPr>
          <a:lstStyle/>
          <a:p>
            <a:pPr algn="l">
              <a:lnSpc>
                <a:spcPts val="3640"/>
              </a:lnSpc>
            </a:pPr>
            <a:r>
              <a:rPr lang="en-US" sz="2600" b="true">
                <a:solidFill>
                  <a:srgbClr val="00A982"/>
                </a:solidFill>
                <a:latin typeface="Canva Sans Bold"/>
                <a:ea typeface="Canva Sans Bold"/>
                <a:cs typeface="Canva Sans Bold"/>
                <a:sym typeface="Canva Sans Bold"/>
              </a:rPr>
              <a:t>Reading the QUIC Header</a:t>
            </a:r>
          </a:p>
          <a:p>
            <a:pPr algn="l">
              <a:lnSpc>
                <a:spcPts val="3640"/>
              </a:lnSpc>
            </a:pPr>
          </a:p>
        </p:txBody>
      </p:sp>
      <p:sp>
        <p:nvSpPr>
          <p:cNvPr name="TextBox 26" id="26"/>
          <p:cNvSpPr txBox="true"/>
          <p:nvPr/>
        </p:nvSpPr>
        <p:spPr>
          <a:xfrm rot="0">
            <a:off x="12184251" y="5284172"/>
            <a:ext cx="4815840" cy="2990723"/>
          </a:xfrm>
          <a:prstGeom prst="rect">
            <a:avLst/>
          </a:prstGeom>
        </p:spPr>
        <p:txBody>
          <a:bodyPr anchor="t" rtlCol="false" tIns="0" lIns="0" bIns="0" rIns="0">
            <a:spAutoFit/>
          </a:bodyPr>
          <a:lstStyle/>
          <a:p>
            <a:pPr algn="l">
              <a:lnSpc>
                <a:spcPts val="2632"/>
              </a:lnSpc>
            </a:pPr>
            <a:r>
              <a:rPr lang="en-US" sz="1880">
                <a:solidFill>
                  <a:srgbClr val="000000"/>
                </a:solidFill>
                <a:latin typeface="Canva Sans"/>
                <a:ea typeface="Canva Sans"/>
                <a:cs typeface="Canva Sans"/>
                <a:sym typeface="Canva Sans"/>
              </a:rPr>
              <a:t>From</a:t>
            </a:r>
            <a:r>
              <a:rPr lang="en-US" sz="1880">
                <a:solidFill>
                  <a:srgbClr val="000000"/>
                </a:solidFill>
                <a:latin typeface="Canva Sans"/>
                <a:ea typeface="Canva Sans"/>
                <a:cs typeface="Canva Sans"/>
                <a:sym typeface="Canva Sans"/>
              </a:rPr>
              <a:t> the QUIC payload, we read the first byte to determine if it's a Long or Short header. For Long Headers, we extract the version (4 bytes), then the Connection IDs (DCID and SCID) by reading their length bytes first, then the actual IDs. We also identify the packet type — Initial, Handshake, 0-RTT, or Retry — from bits 4-5 of the first byte.</a:t>
            </a:r>
          </a:p>
        </p:txBody>
      </p:sp>
      <p:sp>
        <p:nvSpPr>
          <p:cNvPr name="TextBox 27" id="27"/>
          <p:cNvSpPr txBox="true"/>
          <p:nvPr/>
        </p:nvSpPr>
        <p:spPr>
          <a:xfrm rot="0">
            <a:off x="1028700" y="2497115"/>
            <a:ext cx="16230600" cy="763110"/>
          </a:xfrm>
          <a:prstGeom prst="rect">
            <a:avLst/>
          </a:prstGeom>
        </p:spPr>
        <p:txBody>
          <a:bodyPr anchor="t" rtlCol="false" tIns="0" lIns="0" bIns="0" rIns="0">
            <a:spAutoFit/>
          </a:bodyPr>
          <a:lstStyle/>
          <a:p>
            <a:pPr algn="l">
              <a:lnSpc>
                <a:spcPts val="3090"/>
              </a:lnSpc>
            </a:pPr>
            <a:r>
              <a:rPr lang="en-US" sz="2207">
                <a:solidFill>
                  <a:srgbClr val="000000"/>
                </a:solidFill>
                <a:latin typeface="Canva Sans"/>
                <a:ea typeface="Canva Sans"/>
                <a:cs typeface="Canva Sans"/>
                <a:sym typeface="Canva Sans"/>
              </a:rPr>
              <a:t>In</a:t>
            </a:r>
            <a:r>
              <a:rPr lang="en-US" sz="2207">
                <a:solidFill>
                  <a:srgbClr val="000000"/>
                </a:solidFill>
                <a:latin typeface="Canva Sans"/>
                <a:ea typeface="Canva Sans"/>
                <a:cs typeface="Canva Sans"/>
                <a:sym typeface="Canva Sans"/>
              </a:rPr>
              <a:t>stead of relying on heavy third-party libraries (Scapy, aioquic), we manually decode Ethernet, IP, and UDP layers using Python's socket and struct modules.</a:t>
            </a:r>
          </a:p>
        </p:txBody>
      </p:sp>
      <p:sp>
        <p:nvSpPr>
          <p:cNvPr name="Freeform 28" id="28"/>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5"/>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11675"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6</a:t>
              </a:r>
            </a:p>
          </p:txBody>
        </p:sp>
      </p:grpSp>
      <p:sp>
        <p:nvSpPr>
          <p:cNvPr name="Freeform 7" id="7"/>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5"/>
            <a:stretch>
              <a:fillRect l="0" t="0" r="0" b="0"/>
            </a:stretch>
          </a:blipFill>
        </p:spPr>
      </p:sp>
      <p:sp>
        <p:nvSpPr>
          <p:cNvPr name="Freeform 8" id="8"/>
          <p:cNvSpPr/>
          <p:nvPr/>
        </p:nvSpPr>
        <p:spPr>
          <a:xfrm flipH="false" flipV="false" rot="0">
            <a:off x="0" y="715003"/>
            <a:ext cx="18288000" cy="8309348"/>
          </a:xfrm>
          <a:custGeom>
            <a:avLst/>
            <a:gdLst/>
            <a:ahLst/>
            <a:cxnLst/>
            <a:rect r="r" b="b" t="t" l="l"/>
            <a:pathLst>
              <a:path h="8309348" w="18288000">
                <a:moveTo>
                  <a:pt x="0" y="0"/>
                </a:moveTo>
                <a:lnTo>
                  <a:pt x="18288000" y="0"/>
                </a:lnTo>
                <a:lnTo>
                  <a:pt x="18288000" y="8309348"/>
                </a:lnTo>
                <a:lnTo>
                  <a:pt x="0" y="8309348"/>
                </a:lnTo>
                <a:lnTo>
                  <a:pt x="0" y="0"/>
                </a:lnTo>
                <a:close/>
              </a:path>
            </a:pathLst>
          </a:custGeom>
          <a:blipFill>
            <a:blip r:embed="rId6"/>
            <a:stretch>
              <a:fillRect l="0" t="-12287" r="0" b="-8486"/>
            </a:stretch>
          </a:blipFill>
        </p:spPr>
      </p:sp>
      <p:sp>
        <p:nvSpPr>
          <p:cNvPr name="Freeform 9" id="9"/>
          <p:cNvSpPr/>
          <p:nvPr/>
        </p:nvSpPr>
        <p:spPr>
          <a:xfrm flipH="false" flipV="false" rot="0">
            <a:off x="6130894" y="1307856"/>
            <a:ext cx="1872004" cy="1627143"/>
          </a:xfrm>
          <a:custGeom>
            <a:avLst/>
            <a:gdLst/>
            <a:ahLst/>
            <a:cxnLst/>
            <a:rect r="r" b="b" t="t" l="l"/>
            <a:pathLst>
              <a:path h="1627143" w="1872004">
                <a:moveTo>
                  <a:pt x="0" y="0"/>
                </a:moveTo>
                <a:lnTo>
                  <a:pt x="1872005" y="0"/>
                </a:lnTo>
                <a:lnTo>
                  <a:pt x="1872005" y="1627143"/>
                </a:lnTo>
                <a:lnTo>
                  <a:pt x="0" y="1627143"/>
                </a:lnTo>
                <a:lnTo>
                  <a:pt x="0" y="0"/>
                </a:lnTo>
                <a:close/>
              </a:path>
            </a:pathLst>
          </a:custGeom>
          <a:blipFill>
            <a:blip r:embed="rId7"/>
            <a:stretch>
              <a:fillRect l="0" t="-2829" r="-1733" b="-14213"/>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028700" y="3051030"/>
            <a:ext cx="16230600" cy="1038955"/>
            <a:chOff x="0" y="0"/>
            <a:chExt cx="4274726" cy="273634"/>
          </a:xfrm>
        </p:grpSpPr>
        <p:sp>
          <p:nvSpPr>
            <p:cNvPr name="Freeform 5" id="5"/>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6" id="6"/>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0" id="10"/>
          <p:cNvGrpSpPr/>
          <p:nvPr/>
        </p:nvGrpSpPr>
        <p:grpSpPr>
          <a:xfrm rot="0">
            <a:off x="17202150" y="9603467"/>
            <a:ext cx="511169" cy="285750"/>
            <a:chOff x="0" y="0"/>
            <a:chExt cx="681558" cy="381000"/>
          </a:xfrm>
        </p:grpSpPr>
        <p:sp>
          <p:nvSpPr>
            <p:cNvPr name="Freeform 11" id="11"/>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2" id="12"/>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7</a:t>
              </a:r>
            </a:p>
          </p:txBody>
        </p:sp>
      </p:grpSp>
      <p:grpSp>
        <p:nvGrpSpPr>
          <p:cNvPr name="Group 13" id="13"/>
          <p:cNvGrpSpPr/>
          <p:nvPr/>
        </p:nvGrpSpPr>
        <p:grpSpPr>
          <a:xfrm rot="0">
            <a:off x="1582771" y="3322284"/>
            <a:ext cx="496447" cy="49644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15" id="15"/>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16" id="16"/>
          <p:cNvSpPr txBox="true"/>
          <p:nvPr/>
        </p:nvSpPr>
        <p:spPr>
          <a:xfrm rot="0">
            <a:off x="2570168" y="3365172"/>
            <a:ext cx="14092948" cy="372572"/>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Raw Socket</a:t>
            </a:r>
            <a:r>
              <a:rPr lang="en-US" sz="2207" b="true">
                <a:solidFill>
                  <a:srgbClr val="000000"/>
                </a:solidFill>
                <a:latin typeface="Canva Sans Bold"/>
                <a:ea typeface="Canva Sans Bold"/>
                <a:cs typeface="Canva Sans Bold"/>
                <a:sym typeface="Canva Sans Bold"/>
              </a:rPr>
              <a:t> Capture:</a:t>
            </a:r>
            <a:r>
              <a:rPr lang="en-US" sz="2207">
                <a:solidFill>
                  <a:srgbClr val="000000"/>
                </a:solidFill>
                <a:latin typeface="Canva Sans"/>
                <a:ea typeface="Canva Sans"/>
                <a:cs typeface="Canva Sans"/>
                <a:sym typeface="Canva Sans"/>
              </a:rPr>
              <a:t> Captures modified frames using ETH_P_ALL directly from eth0. No OS decoding.</a:t>
            </a:r>
          </a:p>
        </p:txBody>
      </p:sp>
      <p:sp>
        <p:nvSpPr>
          <p:cNvPr name="TextBox 17" id="17"/>
          <p:cNvSpPr txBox="true"/>
          <p:nvPr/>
        </p:nvSpPr>
        <p:spPr>
          <a:xfrm rot="0">
            <a:off x="1621324" y="3411634"/>
            <a:ext cx="419340" cy="289171"/>
          </a:xfrm>
          <a:prstGeom prst="rect">
            <a:avLst/>
          </a:prstGeom>
        </p:spPr>
        <p:txBody>
          <a:bodyPr anchor="t" rtlCol="false" tIns="0" lIns="0" bIns="0" rIns="0">
            <a:spAutoFit/>
          </a:bodyPr>
          <a:lstStyle/>
          <a:p>
            <a:pPr algn="ctr">
              <a:lnSpc>
                <a:spcPts val="2453"/>
              </a:lnSpc>
            </a:pPr>
            <a:r>
              <a:rPr lang="en-US" b="true" sz="1752">
                <a:solidFill>
                  <a:srgbClr val="FFFFFF"/>
                </a:solidFill>
                <a:latin typeface="Canva Sans Bold"/>
                <a:ea typeface="Canva Sans Bold"/>
                <a:cs typeface="Canva Sans Bold"/>
                <a:sym typeface="Canva Sans Bold"/>
              </a:rPr>
              <a:t>1</a:t>
            </a:r>
          </a:p>
        </p:txBody>
      </p:sp>
      <p:grpSp>
        <p:nvGrpSpPr>
          <p:cNvPr name="Group 18" id="18"/>
          <p:cNvGrpSpPr/>
          <p:nvPr/>
        </p:nvGrpSpPr>
        <p:grpSpPr>
          <a:xfrm rot="0">
            <a:off x="1028700" y="4402870"/>
            <a:ext cx="16230600" cy="1038955"/>
            <a:chOff x="0" y="0"/>
            <a:chExt cx="4274726" cy="273634"/>
          </a:xfrm>
        </p:grpSpPr>
        <p:sp>
          <p:nvSpPr>
            <p:cNvPr name="Freeform 19" id="19"/>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20" id="20"/>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21" id="21"/>
          <p:cNvGrpSpPr/>
          <p:nvPr/>
        </p:nvGrpSpPr>
        <p:grpSpPr>
          <a:xfrm rot="0">
            <a:off x="1582771" y="4674124"/>
            <a:ext cx="496447" cy="49644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23" id="23"/>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24" id="24"/>
          <p:cNvSpPr txBox="true"/>
          <p:nvPr/>
        </p:nvSpPr>
        <p:spPr>
          <a:xfrm rot="0">
            <a:off x="2570168" y="4521742"/>
            <a:ext cx="14092948" cy="763110"/>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L2/L3 Decoding:</a:t>
            </a:r>
            <a:r>
              <a:rPr lang="en-US" sz="2207">
                <a:solidFill>
                  <a:srgbClr val="000000"/>
                </a:solidFill>
                <a:latin typeface="Canva Sans"/>
                <a:ea typeface="Canva Sans"/>
                <a:cs typeface="Canva Sans"/>
                <a:sym typeface="Canva Sans"/>
              </a:rPr>
              <a:t> Manually extracts</a:t>
            </a:r>
            <a:r>
              <a:rPr lang="en-US" sz="2207">
                <a:solidFill>
                  <a:srgbClr val="000000"/>
                </a:solidFill>
                <a:latin typeface="Canva Sans"/>
                <a:ea typeface="Canva Sans"/>
                <a:cs typeface="Canva Sans"/>
                <a:sym typeface="Canva Sans"/>
              </a:rPr>
              <a:t> MACs and EtherType; validates IPv4 and parses IHL for header length. TCP is instantly dropped.</a:t>
            </a:r>
          </a:p>
        </p:txBody>
      </p:sp>
      <p:sp>
        <p:nvSpPr>
          <p:cNvPr name="TextBox 25" id="25"/>
          <p:cNvSpPr txBox="true"/>
          <p:nvPr/>
        </p:nvSpPr>
        <p:spPr>
          <a:xfrm rot="0">
            <a:off x="1621324" y="4763474"/>
            <a:ext cx="419340" cy="288884"/>
          </a:xfrm>
          <a:prstGeom prst="rect">
            <a:avLst/>
          </a:prstGeom>
        </p:spPr>
        <p:txBody>
          <a:bodyPr anchor="t" rtlCol="false" tIns="0" lIns="0" bIns="0" rIns="0">
            <a:spAutoFit/>
          </a:bodyPr>
          <a:lstStyle/>
          <a:p>
            <a:pPr algn="ctr">
              <a:lnSpc>
                <a:spcPts val="2453"/>
              </a:lnSpc>
            </a:pPr>
            <a:r>
              <a:rPr lang="en-US" sz="1752" b="true">
                <a:solidFill>
                  <a:srgbClr val="FFFFFF"/>
                </a:solidFill>
                <a:latin typeface="Canva Sans Bold"/>
                <a:ea typeface="Canva Sans Bold"/>
                <a:cs typeface="Canva Sans Bold"/>
                <a:sym typeface="Canva Sans Bold"/>
              </a:rPr>
              <a:t>2</a:t>
            </a:r>
          </a:p>
        </p:txBody>
      </p:sp>
      <p:grpSp>
        <p:nvGrpSpPr>
          <p:cNvPr name="Group 26" id="26"/>
          <p:cNvGrpSpPr/>
          <p:nvPr/>
        </p:nvGrpSpPr>
        <p:grpSpPr>
          <a:xfrm rot="0">
            <a:off x="1028700" y="5754709"/>
            <a:ext cx="16230600" cy="1038955"/>
            <a:chOff x="0" y="0"/>
            <a:chExt cx="4274726" cy="273634"/>
          </a:xfrm>
        </p:grpSpPr>
        <p:sp>
          <p:nvSpPr>
            <p:cNvPr name="Freeform 27" id="27"/>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28" id="28"/>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29" id="29"/>
          <p:cNvGrpSpPr/>
          <p:nvPr/>
        </p:nvGrpSpPr>
        <p:grpSpPr>
          <a:xfrm rot="0">
            <a:off x="1582771" y="6025963"/>
            <a:ext cx="496447" cy="49644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31" id="31"/>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32" id="32"/>
          <p:cNvSpPr txBox="true"/>
          <p:nvPr/>
        </p:nvSpPr>
        <p:spPr>
          <a:xfrm rot="0">
            <a:off x="2570168" y="5873582"/>
            <a:ext cx="14092948" cy="763110"/>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QUIC He</a:t>
            </a:r>
            <a:r>
              <a:rPr lang="en-US" sz="2207" b="true">
                <a:solidFill>
                  <a:srgbClr val="000000"/>
                </a:solidFill>
                <a:latin typeface="Canva Sans Bold"/>
                <a:ea typeface="Canva Sans Bold"/>
                <a:cs typeface="Canva Sans Bold"/>
                <a:sym typeface="Canva Sans Bold"/>
              </a:rPr>
              <a:t>uristics:</a:t>
            </a:r>
            <a:r>
              <a:rPr lang="en-US" sz="2207">
                <a:solidFill>
                  <a:srgbClr val="000000"/>
                </a:solidFill>
                <a:latin typeface="Canva Sans"/>
                <a:ea typeface="Canva Sans"/>
                <a:cs typeface="Canva Sans"/>
                <a:sym typeface="Canva Sans"/>
              </a:rPr>
              <a:t> Inspects bits in the UDP payload for Long/Short headers, the Fixed bit (0x40), and extracts Version fields.</a:t>
            </a:r>
          </a:p>
        </p:txBody>
      </p:sp>
      <p:sp>
        <p:nvSpPr>
          <p:cNvPr name="TextBox 33" id="33"/>
          <p:cNvSpPr txBox="true"/>
          <p:nvPr/>
        </p:nvSpPr>
        <p:spPr>
          <a:xfrm rot="0">
            <a:off x="1621324" y="6115314"/>
            <a:ext cx="419340" cy="593712"/>
          </a:xfrm>
          <a:prstGeom prst="rect">
            <a:avLst/>
          </a:prstGeom>
        </p:spPr>
        <p:txBody>
          <a:bodyPr anchor="t" rtlCol="false" tIns="0" lIns="0" bIns="0" rIns="0">
            <a:spAutoFit/>
          </a:bodyPr>
          <a:lstStyle/>
          <a:p>
            <a:pPr algn="ctr">
              <a:lnSpc>
                <a:spcPts val="2453"/>
              </a:lnSpc>
            </a:pPr>
            <a:r>
              <a:rPr lang="en-US" sz="1752" b="true">
                <a:solidFill>
                  <a:srgbClr val="FFFFFF"/>
                </a:solidFill>
                <a:latin typeface="Canva Sans Bold"/>
                <a:ea typeface="Canva Sans Bold"/>
                <a:cs typeface="Canva Sans Bold"/>
                <a:sym typeface="Canva Sans Bold"/>
              </a:rPr>
              <a:t>3</a:t>
            </a:r>
          </a:p>
          <a:p>
            <a:pPr algn="ctr">
              <a:lnSpc>
                <a:spcPts val="2453"/>
              </a:lnSpc>
            </a:pPr>
          </a:p>
        </p:txBody>
      </p:sp>
      <p:grpSp>
        <p:nvGrpSpPr>
          <p:cNvPr name="Group 34" id="34"/>
          <p:cNvGrpSpPr/>
          <p:nvPr/>
        </p:nvGrpSpPr>
        <p:grpSpPr>
          <a:xfrm rot="0">
            <a:off x="1028700" y="7106549"/>
            <a:ext cx="16230600" cy="1038955"/>
            <a:chOff x="0" y="0"/>
            <a:chExt cx="4274726" cy="273634"/>
          </a:xfrm>
        </p:grpSpPr>
        <p:sp>
          <p:nvSpPr>
            <p:cNvPr name="Freeform 35" id="35"/>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36" id="36"/>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37" id="37"/>
          <p:cNvGrpSpPr/>
          <p:nvPr/>
        </p:nvGrpSpPr>
        <p:grpSpPr>
          <a:xfrm rot="0">
            <a:off x="1582771" y="7377803"/>
            <a:ext cx="496447" cy="496447"/>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39" id="39"/>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40" id="40"/>
          <p:cNvSpPr txBox="true"/>
          <p:nvPr/>
        </p:nvSpPr>
        <p:spPr>
          <a:xfrm rot="0">
            <a:off x="2570168" y="7225422"/>
            <a:ext cx="14092948" cy="763110"/>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Flow Normaliz</a:t>
            </a:r>
            <a:r>
              <a:rPr lang="en-US" sz="2207" b="true">
                <a:solidFill>
                  <a:srgbClr val="000000"/>
                </a:solidFill>
                <a:latin typeface="Canva Sans Bold"/>
                <a:ea typeface="Canva Sans Bold"/>
                <a:cs typeface="Canva Sans Bold"/>
                <a:sym typeface="Canva Sans Bold"/>
              </a:rPr>
              <a:t>ation:</a:t>
            </a:r>
            <a:r>
              <a:rPr lang="en-US" sz="2207">
                <a:solidFill>
                  <a:srgbClr val="000000"/>
                </a:solidFill>
                <a:latin typeface="Canva Sans"/>
                <a:ea typeface="Canva Sans"/>
                <a:cs typeface="Canva Sans"/>
                <a:sym typeface="Canva Sans"/>
              </a:rPr>
              <a:t> Builds a 5-tuple (sorting IPs/Ports consistently) to track bidirectional flows under a single identity.</a:t>
            </a:r>
          </a:p>
        </p:txBody>
      </p:sp>
      <p:sp>
        <p:nvSpPr>
          <p:cNvPr name="TextBox 41" id="41"/>
          <p:cNvSpPr txBox="true"/>
          <p:nvPr/>
        </p:nvSpPr>
        <p:spPr>
          <a:xfrm rot="0">
            <a:off x="1621324" y="7467154"/>
            <a:ext cx="419340" cy="288884"/>
          </a:xfrm>
          <a:prstGeom prst="rect">
            <a:avLst/>
          </a:prstGeom>
        </p:spPr>
        <p:txBody>
          <a:bodyPr anchor="t" rtlCol="false" tIns="0" lIns="0" bIns="0" rIns="0">
            <a:spAutoFit/>
          </a:bodyPr>
          <a:lstStyle/>
          <a:p>
            <a:pPr algn="ctr">
              <a:lnSpc>
                <a:spcPts val="2453"/>
              </a:lnSpc>
            </a:pPr>
            <a:r>
              <a:rPr lang="en-US" sz="1752" b="true">
                <a:solidFill>
                  <a:srgbClr val="FFFFFF"/>
                </a:solidFill>
                <a:latin typeface="Canva Sans Bold"/>
                <a:ea typeface="Canva Sans Bold"/>
                <a:cs typeface="Canva Sans Bold"/>
                <a:sym typeface="Canva Sans Bold"/>
              </a:rPr>
              <a:t>4</a:t>
            </a:r>
          </a:p>
        </p:txBody>
      </p:sp>
      <p:sp>
        <p:nvSpPr>
          <p:cNvPr name="AutoShape 42" id="42"/>
          <p:cNvSpPr/>
          <p:nvPr/>
        </p:nvSpPr>
        <p:spPr>
          <a:xfrm>
            <a:off x="5366130" y="1992290"/>
            <a:ext cx="7979615" cy="0"/>
          </a:xfrm>
          <a:prstGeom prst="line">
            <a:avLst/>
          </a:prstGeom>
          <a:ln cap="rnd" w="123825">
            <a:solidFill>
              <a:srgbClr val="00A982"/>
            </a:solidFill>
            <a:prstDash val="solid"/>
            <a:headEnd type="none" len="sm" w="sm"/>
            <a:tailEnd type="none" len="sm" w="sm"/>
          </a:ln>
        </p:spPr>
      </p:sp>
      <p:sp>
        <p:nvSpPr>
          <p:cNvPr name="TextBox 43" id="43"/>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Manual Decoding Pipeline</a:t>
            </a:r>
          </a:p>
        </p:txBody>
      </p:sp>
      <p:sp>
        <p:nvSpPr>
          <p:cNvPr name="Freeform 44" id="44"/>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5"/>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3" id="3"/>
          <p:cNvGrpSpPr/>
          <p:nvPr/>
        </p:nvGrpSpPr>
        <p:grpSpPr>
          <a:xfrm rot="0">
            <a:off x="17202150" y="9603467"/>
            <a:ext cx="511169" cy="285750"/>
            <a:chOff x="0" y="0"/>
            <a:chExt cx="681558" cy="381000"/>
          </a:xfrm>
        </p:grpSpPr>
        <p:sp>
          <p:nvSpPr>
            <p:cNvPr name="Freeform 4" id="4"/>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2">
                <a:alphaModFix amt="0"/>
              </a:blip>
              <a:stretch>
                <a:fillRect l="-21723" t="0" r="-21722" b="0"/>
              </a:stretch>
            </a:blipFill>
          </p:spPr>
        </p:sp>
        <p:sp>
          <p:nvSpPr>
            <p:cNvPr name="TextBox 5" id="5"/>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7</a:t>
              </a:r>
            </a:p>
          </p:txBody>
        </p:sp>
      </p:grpSp>
      <p:sp>
        <p:nvSpPr>
          <p:cNvPr name="AutoShape 6" id="6"/>
          <p:cNvSpPr/>
          <p:nvPr/>
        </p:nvSpPr>
        <p:spPr>
          <a:xfrm>
            <a:off x="5154192" y="1333408"/>
            <a:ext cx="7979615" cy="0"/>
          </a:xfrm>
          <a:prstGeom prst="line">
            <a:avLst/>
          </a:prstGeom>
          <a:ln cap="rnd" w="123825">
            <a:solidFill>
              <a:srgbClr val="00A982"/>
            </a:solidFill>
            <a:prstDash val="solid"/>
            <a:headEnd type="none" len="sm" w="sm"/>
            <a:tailEnd type="none" len="sm" w="sm"/>
          </a:ln>
        </p:spPr>
      </p:sp>
      <p:sp>
        <p:nvSpPr>
          <p:cNvPr name="Freeform 7" id="7"/>
          <p:cNvSpPr/>
          <p:nvPr/>
        </p:nvSpPr>
        <p:spPr>
          <a:xfrm flipH="false" flipV="false" rot="0">
            <a:off x="203878" y="1715802"/>
            <a:ext cx="9554870" cy="3364391"/>
          </a:xfrm>
          <a:custGeom>
            <a:avLst/>
            <a:gdLst/>
            <a:ahLst/>
            <a:cxnLst/>
            <a:rect r="r" b="b" t="t" l="l"/>
            <a:pathLst>
              <a:path h="3364391" w="9554870">
                <a:moveTo>
                  <a:pt x="0" y="0"/>
                </a:moveTo>
                <a:lnTo>
                  <a:pt x="9554870" y="0"/>
                </a:lnTo>
                <a:lnTo>
                  <a:pt x="9554870" y="3364391"/>
                </a:lnTo>
                <a:lnTo>
                  <a:pt x="0" y="3364391"/>
                </a:lnTo>
                <a:lnTo>
                  <a:pt x="0" y="0"/>
                </a:lnTo>
                <a:close/>
              </a:path>
            </a:pathLst>
          </a:custGeom>
          <a:blipFill>
            <a:blip r:embed="rId3"/>
            <a:stretch>
              <a:fillRect l="-771" t="-2584" r="-1397" b="-2584"/>
            </a:stretch>
          </a:blipFill>
        </p:spPr>
      </p:sp>
      <p:sp>
        <p:nvSpPr>
          <p:cNvPr name="Freeform 8" id="8"/>
          <p:cNvSpPr/>
          <p:nvPr/>
        </p:nvSpPr>
        <p:spPr>
          <a:xfrm flipH="false" flipV="false" rot="0">
            <a:off x="9932076" y="1640306"/>
            <a:ext cx="7643451" cy="3779419"/>
          </a:xfrm>
          <a:custGeom>
            <a:avLst/>
            <a:gdLst/>
            <a:ahLst/>
            <a:cxnLst/>
            <a:rect r="r" b="b" t="t" l="l"/>
            <a:pathLst>
              <a:path h="3779419" w="7643451">
                <a:moveTo>
                  <a:pt x="0" y="0"/>
                </a:moveTo>
                <a:lnTo>
                  <a:pt x="7643451" y="0"/>
                </a:lnTo>
                <a:lnTo>
                  <a:pt x="7643451" y="3779419"/>
                </a:lnTo>
                <a:lnTo>
                  <a:pt x="0" y="3779419"/>
                </a:lnTo>
                <a:lnTo>
                  <a:pt x="0" y="0"/>
                </a:lnTo>
                <a:close/>
              </a:path>
            </a:pathLst>
          </a:custGeom>
          <a:blipFill>
            <a:blip r:embed="rId4"/>
            <a:stretch>
              <a:fillRect l="0" t="0" r="0" b="0"/>
            </a:stretch>
          </a:blipFill>
        </p:spPr>
      </p:sp>
      <p:sp>
        <p:nvSpPr>
          <p:cNvPr name="Freeform 9" id="9"/>
          <p:cNvSpPr/>
          <p:nvPr/>
        </p:nvSpPr>
        <p:spPr>
          <a:xfrm flipH="false" flipV="false" rot="0">
            <a:off x="435365" y="5715000"/>
            <a:ext cx="8708635" cy="4329992"/>
          </a:xfrm>
          <a:custGeom>
            <a:avLst/>
            <a:gdLst/>
            <a:ahLst/>
            <a:cxnLst/>
            <a:rect r="r" b="b" t="t" l="l"/>
            <a:pathLst>
              <a:path h="4329992" w="8708635">
                <a:moveTo>
                  <a:pt x="0" y="0"/>
                </a:moveTo>
                <a:lnTo>
                  <a:pt x="8708635" y="0"/>
                </a:lnTo>
                <a:lnTo>
                  <a:pt x="8708635" y="4329992"/>
                </a:lnTo>
                <a:lnTo>
                  <a:pt x="0" y="4329992"/>
                </a:lnTo>
                <a:lnTo>
                  <a:pt x="0" y="0"/>
                </a:lnTo>
                <a:close/>
              </a:path>
            </a:pathLst>
          </a:custGeom>
          <a:blipFill>
            <a:blip r:embed="rId5"/>
            <a:stretch>
              <a:fillRect l="0" t="0" r="0" b="0"/>
            </a:stretch>
          </a:blipFill>
        </p:spPr>
      </p:sp>
      <p:sp>
        <p:nvSpPr>
          <p:cNvPr name="TextBox 10" id="10"/>
          <p:cNvSpPr txBox="true"/>
          <p:nvPr/>
        </p:nvSpPr>
        <p:spPr>
          <a:xfrm rot="0">
            <a:off x="2512522" y="217409"/>
            <a:ext cx="13238806" cy="863587"/>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Extracting The SNI From Intial Packet</a:t>
            </a:r>
          </a:p>
        </p:txBody>
      </p:sp>
      <p:sp>
        <p:nvSpPr>
          <p:cNvPr name="TextBox 11" id="11"/>
          <p:cNvSpPr txBox="true"/>
          <p:nvPr/>
        </p:nvSpPr>
        <p:spPr>
          <a:xfrm rot="0">
            <a:off x="3241528" y="5114925"/>
            <a:ext cx="1932310" cy="304800"/>
          </a:xfrm>
          <a:prstGeom prst="rect">
            <a:avLst/>
          </a:prstGeom>
        </p:spPr>
        <p:txBody>
          <a:bodyPr anchor="t" rtlCol="false" tIns="0" lIns="0" bIns="0" rIns="0">
            <a:spAutoFit/>
          </a:bodyPr>
          <a:lstStyle/>
          <a:p>
            <a:pPr algn="ctr">
              <a:lnSpc>
                <a:spcPts val="2219"/>
              </a:lnSpc>
              <a:spcBef>
                <a:spcPct val="0"/>
              </a:spcBef>
            </a:pPr>
            <a:r>
              <a:rPr lang="en-US" b="true" sz="1849">
                <a:solidFill>
                  <a:srgbClr val="292D3A"/>
                </a:solidFill>
                <a:latin typeface="Arimo Bold"/>
                <a:ea typeface="Arimo Bold"/>
                <a:cs typeface="Arimo Bold"/>
                <a:sym typeface="Arimo Bold"/>
              </a:rPr>
              <a:t>(a) QUIC Headers</a:t>
            </a:r>
          </a:p>
        </p:txBody>
      </p:sp>
      <p:sp>
        <p:nvSpPr>
          <p:cNvPr name="TextBox 12" id="12"/>
          <p:cNvSpPr txBox="true"/>
          <p:nvPr/>
        </p:nvSpPr>
        <p:spPr>
          <a:xfrm rot="0">
            <a:off x="13055859" y="5514096"/>
            <a:ext cx="2480370" cy="304800"/>
          </a:xfrm>
          <a:prstGeom prst="rect">
            <a:avLst/>
          </a:prstGeom>
        </p:spPr>
        <p:txBody>
          <a:bodyPr anchor="t" rtlCol="false" tIns="0" lIns="0" bIns="0" rIns="0">
            <a:spAutoFit/>
          </a:bodyPr>
          <a:lstStyle/>
          <a:p>
            <a:pPr algn="ctr">
              <a:lnSpc>
                <a:spcPts val="2219"/>
              </a:lnSpc>
              <a:spcBef>
                <a:spcPct val="0"/>
              </a:spcBef>
            </a:pPr>
            <a:r>
              <a:rPr lang="en-US" b="true" sz="1849">
                <a:solidFill>
                  <a:srgbClr val="292D3A"/>
                </a:solidFill>
                <a:latin typeface="Arimo Bold"/>
                <a:ea typeface="Arimo Bold"/>
                <a:cs typeface="Arimo Bold"/>
                <a:sym typeface="Arimo Bold"/>
              </a:rPr>
              <a:t>(b) Encrypted Payload</a:t>
            </a:r>
          </a:p>
        </p:txBody>
      </p:sp>
      <p:sp>
        <p:nvSpPr>
          <p:cNvPr name="TextBox 13" id="13"/>
          <p:cNvSpPr txBox="true"/>
          <p:nvPr/>
        </p:nvSpPr>
        <p:spPr>
          <a:xfrm rot="0">
            <a:off x="9330891" y="6561784"/>
            <a:ext cx="5522863" cy="333375"/>
          </a:xfrm>
          <a:prstGeom prst="rect">
            <a:avLst/>
          </a:prstGeom>
        </p:spPr>
        <p:txBody>
          <a:bodyPr anchor="t" rtlCol="false" tIns="0" lIns="0" bIns="0" rIns="0">
            <a:spAutoFit/>
          </a:bodyPr>
          <a:lstStyle/>
          <a:p>
            <a:pPr algn="ctr">
              <a:lnSpc>
                <a:spcPts val="2579"/>
              </a:lnSpc>
              <a:spcBef>
                <a:spcPct val="0"/>
              </a:spcBef>
            </a:pPr>
            <a:r>
              <a:rPr lang="en-US" b="true" sz="2149">
                <a:solidFill>
                  <a:srgbClr val="292D3A"/>
                </a:solidFill>
                <a:latin typeface="Arimo Bold"/>
                <a:ea typeface="Arimo Bold"/>
                <a:cs typeface="Arimo Bold"/>
                <a:sym typeface="Arimo Bold"/>
              </a:rPr>
              <a:t>(c) Decrypted client hello that carry the sni</a:t>
            </a:r>
          </a:p>
        </p:txBody>
      </p:sp>
      <p:sp>
        <p:nvSpPr>
          <p:cNvPr name="TextBox 14" id="14"/>
          <p:cNvSpPr txBox="true"/>
          <p:nvPr/>
        </p:nvSpPr>
        <p:spPr>
          <a:xfrm rot="0">
            <a:off x="9447655" y="7066609"/>
            <a:ext cx="7216408" cy="2808982"/>
          </a:xfrm>
          <a:prstGeom prst="rect">
            <a:avLst/>
          </a:prstGeom>
        </p:spPr>
        <p:txBody>
          <a:bodyPr anchor="t" rtlCol="false" tIns="0" lIns="0" bIns="0" rIns="0">
            <a:spAutoFit/>
          </a:bodyPr>
          <a:lstStyle/>
          <a:p>
            <a:pPr algn="just">
              <a:lnSpc>
                <a:spcPts val="3694"/>
              </a:lnSpc>
              <a:spcBef>
                <a:spcPct val="0"/>
              </a:spcBef>
            </a:pPr>
            <a:r>
              <a:rPr lang="en-US" sz="3078">
                <a:solidFill>
                  <a:srgbClr val="292D3A"/>
                </a:solidFill>
                <a:latin typeface="Arimo"/>
                <a:ea typeface="Arimo"/>
                <a:cs typeface="Arimo"/>
                <a:sym typeface="Arimo"/>
              </a:rPr>
              <a:t>The Initial ClientHello packet is decrypted using a key derived entirely from the Destination Connection ID (DCID) and a fixed public salt defined in RFC 9001 — no secrets or handshake completion required.</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3" id="3"/>
          <p:cNvGrpSpPr/>
          <p:nvPr/>
        </p:nvGrpSpPr>
        <p:grpSpPr>
          <a:xfrm rot="0">
            <a:off x="17202150" y="9603467"/>
            <a:ext cx="511169" cy="285750"/>
            <a:chOff x="0" y="0"/>
            <a:chExt cx="681558" cy="381000"/>
          </a:xfrm>
        </p:grpSpPr>
        <p:sp>
          <p:nvSpPr>
            <p:cNvPr name="Freeform 4" id="4"/>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2">
                <a:alphaModFix amt="0"/>
              </a:blip>
              <a:stretch>
                <a:fillRect l="-21723" t="0" r="-21722" b="0"/>
              </a:stretch>
            </a:blipFill>
          </p:spPr>
        </p:sp>
        <p:sp>
          <p:nvSpPr>
            <p:cNvPr name="TextBox 5" id="5"/>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7</a:t>
              </a:r>
            </a:p>
          </p:txBody>
        </p:sp>
      </p:grpSp>
      <p:sp>
        <p:nvSpPr>
          <p:cNvPr name="AutoShape 6" id="6"/>
          <p:cNvSpPr/>
          <p:nvPr/>
        </p:nvSpPr>
        <p:spPr>
          <a:xfrm>
            <a:off x="5154192" y="1187166"/>
            <a:ext cx="7979615" cy="0"/>
          </a:xfrm>
          <a:prstGeom prst="line">
            <a:avLst/>
          </a:prstGeom>
          <a:ln cap="rnd" w="123825">
            <a:solidFill>
              <a:srgbClr val="00A982"/>
            </a:solidFill>
            <a:prstDash val="solid"/>
            <a:headEnd type="none" len="sm" w="sm"/>
            <a:tailEnd type="none" len="sm" w="sm"/>
          </a:ln>
        </p:spPr>
      </p:sp>
      <p:sp>
        <p:nvSpPr>
          <p:cNvPr name="Freeform 7" id="7"/>
          <p:cNvSpPr/>
          <p:nvPr/>
        </p:nvSpPr>
        <p:spPr>
          <a:xfrm flipH="false" flipV="false" rot="0">
            <a:off x="932716" y="1382429"/>
            <a:ext cx="16326584" cy="8801189"/>
          </a:xfrm>
          <a:custGeom>
            <a:avLst/>
            <a:gdLst/>
            <a:ahLst/>
            <a:cxnLst/>
            <a:rect r="r" b="b" t="t" l="l"/>
            <a:pathLst>
              <a:path h="8801189" w="16326584">
                <a:moveTo>
                  <a:pt x="0" y="0"/>
                </a:moveTo>
                <a:lnTo>
                  <a:pt x="16326584" y="0"/>
                </a:lnTo>
                <a:lnTo>
                  <a:pt x="16326584" y="8801189"/>
                </a:lnTo>
                <a:lnTo>
                  <a:pt x="0" y="8801189"/>
                </a:lnTo>
                <a:lnTo>
                  <a:pt x="0" y="0"/>
                </a:lnTo>
                <a:close/>
              </a:path>
            </a:pathLst>
          </a:custGeom>
          <a:blipFill>
            <a:blip r:embed="rId3"/>
            <a:stretch>
              <a:fillRect l="0" t="-897" r="0" b="-897"/>
            </a:stretch>
          </a:blipFill>
        </p:spPr>
      </p:sp>
      <p:sp>
        <p:nvSpPr>
          <p:cNvPr name="TextBox 8" id="8"/>
          <p:cNvSpPr txBox="true"/>
          <p:nvPr/>
        </p:nvSpPr>
        <p:spPr>
          <a:xfrm rot="0">
            <a:off x="2104766" y="237292"/>
            <a:ext cx="14482460" cy="755002"/>
          </a:xfrm>
          <a:prstGeom prst="rect">
            <a:avLst/>
          </a:prstGeom>
        </p:spPr>
        <p:txBody>
          <a:bodyPr anchor="t" rtlCol="false" tIns="0" lIns="0" bIns="0" rIns="0">
            <a:spAutoFit/>
          </a:bodyPr>
          <a:lstStyle/>
          <a:p>
            <a:pPr algn="ctr">
              <a:lnSpc>
                <a:spcPts val="6160"/>
              </a:lnSpc>
            </a:pPr>
            <a:r>
              <a:rPr lang="en-US" sz="4400" b="true">
                <a:solidFill>
                  <a:srgbClr val="292D3A"/>
                </a:solidFill>
                <a:latin typeface="Canva Sans Bold"/>
                <a:ea typeface="Canva Sans Bold"/>
                <a:cs typeface="Canva Sans Bold"/>
                <a:sym typeface="Canva Sans Bold"/>
              </a:rPr>
              <a:t>Generating the Key to decrypt initial packet</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8</a:t>
              </a:r>
            </a:p>
          </p:txBody>
        </p:sp>
      </p:grpSp>
      <p:sp>
        <p:nvSpPr>
          <p:cNvPr name="AutoShape 7" id="7"/>
          <p:cNvSpPr/>
          <p:nvPr/>
        </p:nvSpPr>
        <p:spPr>
          <a:xfrm>
            <a:off x="5127801" y="2017425"/>
            <a:ext cx="8464632" cy="0"/>
          </a:xfrm>
          <a:prstGeom prst="line">
            <a:avLst/>
          </a:prstGeom>
          <a:ln cap="rnd" w="123825">
            <a:solidFill>
              <a:srgbClr val="00A982"/>
            </a:solidFill>
            <a:prstDash val="solid"/>
            <a:headEnd type="none" len="sm" w="sm"/>
            <a:tailEnd type="none" len="sm" w="sm"/>
          </a:ln>
        </p:spPr>
      </p:sp>
      <p:sp>
        <p:nvSpPr>
          <p:cNvPr name="Freeform 8" id="8"/>
          <p:cNvSpPr/>
          <p:nvPr/>
        </p:nvSpPr>
        <p:spPr>
          <a:xfrm flipH="false" flipV="false" rot="0">
            <a:off x="10418274" y="3641571"/>
            <a:ext cx="7039460" cy="4399663"/>
          </a:xfrm>
          <a:custGeom>
            <a:avLst/>
            <a:gdLst/>
            <a:ahLst/>
            <a:cxnLst/>
            <a:rect r="r" b="b" t="t" l="l"/>
            <a:pathLst>
              <a:path h="4399663" w="7039460">
                <a:moveTo>
                  <a:pt x="0" y="0"/>
                </a:moveTo>
                <a:lnTo>
                  <a:pt x="7039460" y="0"/>
                </a:lnTo>
                <a:lnTo>
                  <a:pt x="7039460" y="4399663"/>
                </a:lnTo>
                <a:lnTo>
                  <a:pt x="0" y="4399663"/>
                </a:lnTo>
                <a:lnTo>
                  <a:pt x="0" y="0"/>
                </a:lnTo>
                <a:close/>
              </a:path>
            </a:pathLst>
          </a:custGeom>
          <a:blipFill>
            <a:blip r:embed="rId5"/>
            <a:stretch>
              <a:fillRect l="0" t="0" r="0" b="0"/>
            </a:stretch>
          </a:blipFill>
        </p:spPr>
      </p:sp>
      <p:sp>
        <p:nvSpPr>
          <p:cNvPr name="TextBox 9" id="9"/>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QUIC Header Interpretation</a:t>
            </a:r>
          </a:p>
        </p:txBody>
      </p:sp>
      <p:sp>
        <p:nvSpPr>
          <p:cNvPr name="TextBox 10" id="10"/>
          <p:cNvSpPr txBox="true"/>
          <p:nvPr/>
        </p:nvSpPr>
        <p:spPr>
          <a:xfrm rot="0">
            <a:off x="1353693" y="2908013"/>
            <a:ext cx="8269107" cy="2794142"/>
          </a:xfrm>
          <a:prstGeom prst="rect">
            <a:avLst/>
          </a:prstGeom>
        </p:spPr>
        <p:txBody>
          <a:bodyPr anchor="t" rtlCol="false" tIns="0" lIns="0" bIns="0" rIns="0">
            <a:spAutoFit/>
          </a:bodyPr>
          <a:lstStyle/>
          <a:p>
            <a:pPr algn="l">
              <a:lnSpc>
                <a:spcPts val="3213"/>
              </a:lnSpc>
              <a:spcBef>
                <a:spcPct val="0"/>
              </a:spcBef>
            </a:pPr>
            <a:r>
              <a:rPr lang="en-US" b="true" sz="2677">
                <a:solidFill>
                  <a:srgbClr val="292D3A"/>
                </a:solidFill>
                <a:latin typeface="Canva Sans Bold"/>
                <a:ea typeface="Canva Sans Bold"/>
                <a:cs typeface="Canva Sans Bold"/>
                <a:sym typeface="Canva Sans Bold"/>
              </a:rPr>
              <a:t>Bit-Level Inspection</a:t>
            </a:r>
          </a:p>
          <a:p>
            <a:pPr algn="l">
              <a:lnSpc>
                <a:spcPts val="3213"/>
              </a:lnSpc>
              <a:spcBef>
                <a:spcPct val="0"/>
              </a:spcBef>
            </a:pPr>
          </a:p>
          <a:p>
            <a:pPr algn="l" marL="534935" indent="-267468" lvl="1">
              <a:lnSpc>
                <a:spcPts val="3221"/>
              </a:lnSpc>
              <a:buFont typeface="Arial"/>
              <a:buChar char="•"/>
            </a:pPr>
            <a:r>
              <a:rPr lang="en-US" b="true" sz="2477">
                <a:solidFill>
                  <a:srgbClr val="292D3A"/>
                </a:solidFill>
                <a:latin typeface="Canva Sans Bold"/>
                <a:ea typeface="Canva Sans Bold"/>
                <a:cs typeface="Canva Sans Bold"/>
                <a:sym typeface="Canva Sans Bold"/>
              </a:rPr>
              <a:t>Long Header Bit:</a:t>
            </a:r>
            <a:r>
              <a:rPr lang="en-US" sz="2477">
                <a:solidFill>
                  <a:srgbClr val="292D3A"/>
                </a:solidFill>
                <a:latin typeface="Canva Sans"/>
                <a:ea typeface="Canva Sans"/>
                <a:cs typeface="Canva Sans"/>
                <a:sym typeface="Canva Sans"/>
              </a:rPr>
              <a:t> Most significant bit. Signals handshake establishment, RTT, Version Negotiation, and Retry packets.</a:t>
            </a:r>
          </a:p>
          <a:p>
            <a:pPr algn="l" marL="534935" indent="-267468" lvl="1">
              <a:lnSpc>
                <a:spcPts val="3221"/>
              </a:lnSpc>
              <a:buFont typeface="Arial"/>
              <a:buChar char="•"/>
            </a:pPr>
            <a:r>
              <a:rPr lang="en-US" b="true" sz="2477">
                <a:solidFill>
                  <a:srgbClr val="292D3A"/>
                </a:solidFill>
                <a:latin typeface="Canva Sans Bold"/>
                <a:ea typeface="Canva Sans Bold"/>
                <a:cs typeface="Canva Sans Bold"/>
                <a:sym typeface="Canva Sans Bold"/>
              </a:rPr>
              <a:t>Fixed Bit (0x40):</a:t>
            </a:r>
            <a:r>
              <a:rPr lang="en-US" sz="2477">
                <a:solidFill>
                  <a:srgbClr val="292D3A"/>
                </a:solidFill>
                <a:latin typeface="Canva Sans"/>
                <a:ea typeface="Canva Sans"/>
                <a:cs typeface="Canva Sans"/>
                <a:sym typeface="Canva Sans"/>
              </a:rPr>
              <a:t> Required by RFC to be 1. Used to distinguish QUIC from other UDP noise.</a:t>
            </a:r>
          </a:p>
        </p:txBody>
      </p:sp>
      <p:sp>
        <p:nvSpPr>
          <p:cNvPr name="TextBox 11" id="11"/>
          <p:cNvSpPr txBox="true"/>
          <p:nvPr/>
        </p:nvSpPr>
        <p:spPr>
          <a:xfrm rot="0">
            <a:off x="1353693" y="6205051"/>
            <a:ext cx="8390152" cy="1289616"/>
          </a:xfrm>
          <a:prstGeom prst="rect">
            <a:avLst/>
          </a:prstGeom>
        </p:spPr>
        <p:txBody>
          <a:bodyPr anchor="t" rtlCol="false" tIns="0" lIns="0" bIns="0" rIns="0">
            <a:spAutoFit/>
          </a:bodyPr>
          <a:lstStyle/>
          <a:p>
            <a:pPr algn="l">
              <a:lnSpc>
                <a:spcPts val="3468"/>
              </a:lnSpc>
            </a:pPr>
            <a:r>
              <a:rPr lang="en-US" sz="2477" b="true">
                <a:solidFill>
                  <a:srgbClr val="292D3A"/>
                </a:solidFill>
                <a:latin typeface="Canva Sans Bold"/>
                <a:ea typeface="Canva Sans Bold"/>
                <a:cs typeface="Canva Sans Bold"/>
                <a:sym typeface="Canva Sans Bold"/>
              </a:rPr>
              <a:t>Heur</a:t>
            </a:r>
            <a:r>
              <a:rPr lang="en-US" b="true" sz="2477">
                <a:solidFill>
                  <a:srgbClr val="292D3A"/>
                </a:solidFill>
                <a:latin typeface="Canva Sans Bold"/>
                <a:ea typeface="Canva Sans Bold"/>
                <a:cs typeface="Canva Sans Bold"/>
                <a:sym typeface="Canva Sans Bold"/>
              </a:rPr>
              <a:t>istic Evidence</a:t>
            </a:r>
          </a:p>
          <a:p>
            <a:pPr algn="l">
              <a:lnSpc>
                <a:spcPts val="3468"/>
              </a:lnSpc>
            </a:pPr>
            <a:r>
              <a:rPr lang="en-US" sz="2477">
                <a:solidFill>
                  <a:srgbClr val="292D3A"/>
                </a:solidFill>
                <a:latin typeface="Canva Sans"/>
                <a:ea typeface="Canva Sans"/>
                <a:cs typeface="Canva Sans"/>
                <a:sym typeface="Canva Sans"/>
              </a:rPr>
              <a:t>If the </a:t>
            </a:r>
            <a:r>
              <a:rPr lang="en-US" sz="2477">
                <a:solidFill>
                  <a:srgbClr val="292D3A"/>
                </a:solidFill>
                <a:latin typeface="Canva Sans"/>
                <a:ea typeface="Canva Sans"/>
                <a:cs typeface="Canva Sans"/>
                <a:sym typeface="Canva Sans"/>
              </a:rPr>
              <a:t>Long Header is set, we extract the Version Field (4-byte ID) and compare against known variants.</a:t>
            </a:r>
          </a:p>
        </p:txBody>
      </p:sp>
      <p:grpSp>
        <p:nvGrpSpPr>
          <p:cNvPr name="Group 12" id="12"/>
          <p:cNvGrpSpPr/>
          <p:nvPr/>
        </p:nvGrpSpPr>
        <p:grpSpPr>
          <a:xfrm rot="0">
            <a:off x="7607808" y="9603467"/>
            <a:ext cx="9326499" cy="285750"/>
            <a:chOff x="0" y="0"/>
            <a:chExt cx="12435332" cy="381000"/>
          </a:xfrm>
        </p:grpSpPr>
        <p:sp>
          <p:nvSpPr>
            <p:cNvPr name="Freeform 13" id="13"/>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4" id="14"/>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5" id="15"/>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6"/>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9</a:t>
              </a:r>
            </a:p>
          </p:txBody>
        </p:sp>
      </p:grpSp>
      <p:sp>
        <p:nvSpPr>
          <p:cNvPr name="AutoShape 7" id="7"/>
          <p:cNvSpPr/>
          <p:nvPr/>
        </p:nvSpPr>
        <p:spPr>
          <a:xfrm>
            <a:off x="4566468" y="1887461"/>
            <a:ext cx="9587300" cy="0"/>
          </a:xfrm>
          <a:prstGeom prst="line">
            <a:avLst/>
          </a:prstGeom>
          <a:ln cap="rnd" w="123825">
            <a:solidFill>
              <a:srgbClr val="00A982"/>
            </a:solidFill>
            <a:prstDash val="solid"/>
            <a:headEnd type="none" len="sm" w="sm"/>
            <a:tailEnd type="none" len="sm" w="sm"/>
          </a:ln>
        </p:spPr>
      </p:sp>
      <p:sp>
        <p:nvSpPr>
          <p:cNvPr name="Freeform 8" id="8"/>
          <p:cNvSpPr/>
          <p:nvPr/>
        </p:nvSpPr>
        <p:spPr>
          <a:xfrm flipH="false" flipV="false" rot="0">
            <a:off x="957834" y="3407165"/>
            <a:ext cx="6960372" cy="4350232"/>
          </a:xfrm>
          <a:custGeom>
            <a:avLst/>
            <a:gdLst/>
            <a:ahLst/>
            <a:cxnLst/>
            <a:rect r="r" b="b" t="t" l="l"/>
            <a:pathLst>
              <a:path h="4350232" w="6960372">
                <a:moveTo>
                  <a:pt x="0" y="0"/>
                </a:moveTo>
                <a:lnTo>
                  <a:pt x="6960372" y="0"/>
                </a:lnTo>
                <a:lnTo>
                  <a:pt x="6960372" y="4350232"/>
                </a:lnTo>
                <a:lnTo>
                  <a:pt x="0" y="4350232"/>
                </a:lnTo>
                <a:lnTo>
                  <a:pt x="0" y="0"/>
                </a:lnTo>
                <a:close/>
              </a:path>
            </a:pathLst>
          </a:custGeom>
          <a:blipFill>
            <a:blip r:embed="rId5"/>
            <a:stretch>
              <a:fillRect l="0" t="0" r="0" b="0"/>
            </a:stretch>
          </a:blipFill>
        </p:spPr>
      </p:sp>
      <p:sp>
        <p:nvSpPr>
          <p:cNvPr name="TextBox 9" id="9"/>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Flow Normalization &amp; Evidence</a:t>
            </a:r>
          </a:p>
        </p:txBody>
      </p:sp>
      <p:sp>
        <p:nvSpPr>
          <p:cNvPr name="TextBox 10" id="10"/>
          <p:cNvSpPr txBox="true"/>
          <p:nvPr/>
        </p:nvSpPr>
        <p:spPr>
          <a:xfrm rot="0">
            <a:off x="8990193" y="2754001"/>
            <a:ext cx="8269107" cy="2009910"/>
          </a:xfrm>
          <a:prstGeom prst="rect">
            <a:avLst/>
          </a:prstGeom>
        </p:spPr>
        <p:txBody>
          <a:bodyPr anchor="t" rtlCol="false" tIns="0" lIns="0" bIns="0" rIns="0">
            <a:spAutoFit/>
          </a:bodyPr>
          <a:lstStyle/>
          <a:p>
            <a:pPr algn="l">
              <a:lnSpc>
                <a:spcPts val="3213"/>
              </a:lnSpc>
              <a:spcBef>
                <a:spcPct val="0"/>
              </a:spcBef>
            </a:pPr>
            <a:r>
              <a:rPr lang="en-US" b="true" sz="2677">
                <a:solidFill>
                  <a:srgbClr val="292D3A"/>
                </a:solidFill>
                <a:latin typeface="Canva Sans Bold"/>
                <a:ea typeface="Canva Sans Bold"/>
                <a:cs typeface="Canva Sans Bold"/>
                <a:sym typeface="Canva Sans Bold"/>
              </a:rPr>
              <a:t>The Normal</a:t>
            </a:r>
            <a:r>
              <a:rPr lang="en-US" b="true" sz="2677">
                <a:solidFill>
                  <a:srgbClr val="292D3A"/>
                </a:solidFill>
                <a:latin typeface="Canva Sans Bold"/>
                <a:ea typeface="Canva Sans Bold"/>
                <a:cs typeface="Canva Sans Bold"/>
                <a:sym typeface="Canva Sans Bold"/>
              </a:rPr>
              <a:t>ized 5-Tuple</a:t>
            </a:r>
          </a:p>
          <a:p>
            <a:pPr algn="l">
              <a:lnSpc>
                <a:spcPts val="3213"/>
              </a:lnSpc>
              <a:spcBef>
                <a:spcPct val="0"/>
              </a:spcBef>
            </a:pPr>
          </a:p>
          <a:p>
            <a:pPr algn="l">
              <a:lnSpc>
                <a:spcPts val="3213"/>
              </a:lnSpc>
            </a:pPr>
            <a:r>
              <a:rPr lang="en-US" sz="2677">
                <a:solidFill>
                  <a:srgbClr val="292D3A"/>
                </a:solidFill>
                <a:latin typeface="Canva Sans"/>
                <a:ea typeface="Canva Sans"/>
                <a:cs typeface="Canva Sans"/>
                <a:sym typeface="Canva Sans"/>
              </a:rPr>
              <a:t>T</a:t>
            </a:r>
            <a:r>
              <a:rPr lang="en-US" sz="2677">
                <a:solidFill>
                  <a:srgbClr val="292D3A"/>
                </a:solidFill>
                <a:latin typeface="Canva Sans"/>
                <a:ea typeface="Canva Sans"/>
                <a:cs typeface="Canva Sans"/>
                <a:sym typeface="Canva Sans"/>
              </a:rPr>
              <a:t>o ensure bidirectional traffic (Client↔Server) is </a:t>
            </a:r>
          </a:p>
          <a:p>
            <a:pPr algn="l">
              <a:lnSpc>
                <a:spcPts val="3213"/>
              </a:lnSpc>
            </a:pPr>
            <a:r>
              <a:rPr lang="en-US" sz="2677">
                <a:solidFill>
                  <a:srgbClr val="292D3A"/>
                </a:solidFill>
                <a:latin typeface="Canva Sans"/>
                <a:ea typeface="Canva Sans"/>
                <a:cs typeface="Canva Sans"/>
                <a:sym typeface="Canva Sans"/>
              </a:rPr>
              <a:t>recognized as one flow, we sort IP/Port pairs into a consistent order before hashing</a:t>
            </a:r>
          </a:p>
        </p:txBody>
      </p:sp>
      <p:sp>
        <p:nvSpPr>
          <p:cNvPr name="TextBox 11" id="11"/>
          <p:cNvSpPr txBox="true"/>
          <p:nvPr/>
        </p:nvSpPr>
        <p:spPr>
          <a:xfrm rot="0">
            <a:off x="8990193" y="5146738"/>
            <a:ext cx="8390152" cy="4759608"/>
          </a:xfrm>
          <a:prstGeom prst="rect">
            <a:avLst/>
          </a:prstGeom>
        </p:spPr>
        <p:txBody>
          <a:bodyPr anchor="t" rtlCol="false" tIns="0" lIns="0" bIns="0" rIns="0">
            <a:spAutoFit/>
          </a:bodyPr>
          <a:lstStyle/>
          <a:p>
            <a:pPr algn="l">
              <a:lnSpc>
                <a:spcPts val="3468"/>
              </a:lnSpc>
            </a:pPr>
            <a:r>
              <a:rPr lang="en-US" b="true" sz="2477">
                <a:solidFill>
                  <a:srgbClr val="292D3A"/>
                </a:solidFill>
                <a:latin typeface="Canva Sans Bold"/>
                <a:ea typeface="Canva Sans Bold"/>
                <a:cs typeface="Canva Sans Bold"/>
                <a:sym typeface="Canva Sans Bold"/>
              </a:rPr>
              <a:t>Evidence Buffering</a:t>
            </a:r>
          </a:p>
          <a:p>
            <a:pPr algn="l">
              <a:lnSpc>
                <a:spcPts val="3468"/>
              </a:lnSpc>
            </a:pPr>
          </a:p>
          <a:p>
            <a:pPr algn="l">
              <a:lnSpc>
                <a:spcPts val="3468"/>
              </a:lnSpc>
            </a:pPr>
            <a:r>
              <a:rPr lang="en-US" sz="2477">
                <a:solidFill>
                  <a:srgbClr val="292D3A"/>
                </a:solidFill>
                <a:latin typeface="Canva Sans"/>
                <a:ea typeface="Canva Sans"/>
                <a:cs typeface="Canva Sans"/>
                <a:sym typeface="Canva Sans"/>
              </a:rPr>
              <a:t>Feature extracti</a:t>
            </a:r>
            <a:r>
              <a:rPr lang="en-US" sz="2477">
                <a:solidFill>
                  <a:srgbClr val="292D3A"/>
                </a:solidFill>
                <a:latin typeface="Canva Sans"/>
                <a:ea typeface="Canva Sans"/>
                <a:cs typeface="Canva Sans"/>
                <a:sym typeface="Canva Sans"/>
              </a:rPr>
              <a:t>on begins after the first 5 packets of a normalized bidirectional flow are collected. We aggregate statistics across the window:</a:t>
            </a:r>
          </a:p>
          <a:p>
            <a:pPr algn="l">
              <a:lnSpc>
                <a:spcPts val="3468"/>
              </a:lnSpc>
            </a:pPr>
          </a:p>
          <a:p>
            <a:pPr algn="l" marL="534935" indent="-267468" lvl="1">
              <a:lnSpc>
                <a:spcPts val="3468"/>
              </a:lnSpc>
              <a:buFont typeface="Arial"/>
              <a:buChar char="•"/>
            </a:pPr>
            <a:r>
              <a:rPr lang="en-US" sz="2477">
                <a:solidFill>
                  <a:srgbClr val="292D3A"/>
                </a:solidFill>
                <a:latin typeface="Canva Sans"/>
                <a:ea typeface="Canva Sans"/>
                <a:cs typeface="Canva Sans"/>
                <a:sym typeface="Canva Sans"/>
              </a:rPr>
              <a:t>Propo</a:t>
            </a:r>
            <a:r>
              <a:rPr lang="en-US" sz="2477">
                <a:solidFill>
                  <a:srgbClr val="292D3A"/>
                </a:solidFill>
                <a:latin typeface="Canva Sans"/>
                <a:ea typeface="Canva Sans"/>
                <a:cs typeface="Canva Sans"/>
                <a:sym typeface="Canva Sans"/>
              </a:rPr>
              <a:t>rtion of packets with Long Header set.</a:t>
            </a:r>
          </a:p>
          <a:p>
            <a:pPr algn="l" marL="534935" indent="-267468" lvl="1">
              <a:lnSpc>
                <a:spcPts val="3468"/>
              </a:lnSpc>
              <a:buFont typeface="Arial"/>
              <a:buChar char="•"/>
            </a:pPr>
            <a:r>
              <a:rPr lang="en-US" sz="2477">
                <a:solidFill>
                  <a:srgbClr val="292D3A"/>
                </a:solidFill>
                <a:latin typeface="Canva Sans"/>
                <a:ea typeface="Canva Sans"/>
                <a:cs typeface="Canva Sans"/>
                <a:sym typeface="Canva Sans"/>
              </a:rPr>
              <a:t>Diversity of distinct QUIC versions.</a:t>
            </a:r>
          </a:p>
          <a:p>
            <a:pPr algn="l" marL="534935" indent="-267468" lvl="1">
              <a:lnSpc>
                <a:spcPts val="3468"/>
              </a:lnSpc>
              <a:buFont typeface="Arial"/>
              <a:buChar char="•"/>
            </a:pPr>
            <a:r>
              <a:rPr lang="en-US" sz="2477">
                <a:solidFill>
                  <a:srgbClr val="292D3A"/>
                </a:solidFill>
                <a:latin typeface="Canva Sans"/>
                <a:ea typeface="Canva Sans"/>
                <a:cs typeface="Canva Sans"/>
                <a:sym typeface="Canva Sans"/>
              </a:rPr>
              <a:t>Frequency of specific packet types (Initial, Handshake, 0-RTT).</a:t>
            </a:r>
          </a:p>
          <a:p>
            <a:pPr algn="l">
              <a:lnSpc>
                <a:spcPts val="2973"/>
              </a:lnSpc>
            </a:pPr>
          </a:p>
        </p:txBody>
      </p:sp>
      <p:grpSp>
        <p:nvGrpSpPr>
          <p:cNvPr name="Group 12" id="12"/>
          <p:cNvGrpSpPr/>
          <p:nvPr/>
        </p:nvGrpSpPr>
        <p:grpSpPr>
          <a:xfrm rot="0">
            <a:off x="7607808" y="9603467"/>
            <a:ext cx="9326499" cy="285750"/>
            <a:chOff x="0" y="0"/>
            <a:chExt cx="12435332" cy="381000"/>
          </a:xfrm>
        </p:grpSpPr>
        <p:sp>
          <p:nvSpPr>
            <p:cNvPr name="Freeform 13" id="13"/>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4" id="14"/>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5" id="15"/>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6"/>
            <a:stretch>
              <a:fillRect l="0" t="0" r="0"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028700" y="3802756"/>
            <a:ext cx="4872334" cy="4876898"/>
            <a:chOff x="0" y="0"/>
            <a:chExt cx="1283248" cy="1284450"/>
          </a:xfrm>
        </p:grpSpPr>
        <p:sp>
          <p:nvSpPr>
            <p:cNvPr name="Freeform 5" id="5"/>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6" id="6"/>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0" id="10"/>
          <p:cNvGrpSpPr/>
          <p:nvPr/>
        </p:nvGrpSpPr>
        <p:grpSpPr>
          <a:xfrm rot="0">
            <a:off x="17202150" y="9603467"/>
            <a:ext cx="511169" cy="285750"/>
            <a:chOff x="0" y="0"/>
            <a:chExt cx="681558" cy="381000"/>
          </a:xfrm>
        </p:grpSpPr>
        <p:sp>
          <p:nvSpPr>
            <p:cNvPr name="Freeform 11" id="11"/>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2" id="12"/>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10</a:t>
              </a:r>
            </a:p>
          </p:txBody>
        </p:sp>
      </p:grpSp>
      <p:grpSp>
        <p:nvGrpSpPr>
          <p:cNvPr name="Group 13" id="13"/>
          <p:cNvGrpSpPr/>
          <p:nvPr/>
        </p:nvGrpSpPr>
        <p:grpSpPr>
          <a:xfrm rot="0">
            <a:off x="1028700" y="2429960"/>
            <a:ext cx="16230600" cy="1001321"/>
            <a:chOff x="0" y="0"/>
            <a:chExt cx="4274726" cy="263722"/>
          </a:xfrm>
        </p:grpSpPr>
        <p:sp>
          <p:nvSpPr>
            <p:cNvPr name="Freeform 14" id="14"/>
            <p:cNvSpPr/>
            <p:nvPr/>
          </p:nvSpPr>
          <p:spPr>
            <a:xfrm flipH="false" flipV="false" rot="0">
              <a:off x="0" y="0"/>
              <a:ext cx="4274726" cy="263722"/>
            </a:xfrm>
            <a:custGeom>
              <a:avLst/>
              <a:gdLst/>
              <a:ahLst/>
              <a:cxnLst/>
              <a:rect r="r" b="b" t="t" l="l"/>
              <a:pathLst>
                <a:path h="263722" w="4274726">
                  <a:moveTo>
                    <a:pt x="14310" y="0"/>
                  </a:moveTo>
                  <a:lnTo>
                    <a:pt x="4260416" y="0"/>
                  </a:lnTo>
                  <a:cubicBezTo>
                    <a:pt x="4264211" y="0"/>
                    <a:pt x="4267851" y="1508"/>
                    <a:pt x="4270535" y="4191"/>
                  </a:cubicBezTo>
                  <a:cubicBezTo>
                    <a:pt x="4273218" y="6875"/>
                    <a:pt x="4274726" y="10515"/>
                    <a:pt x="4274726" y="14310"/>
                  </a:cubicBezTo>
                  <a:lnTo>
                    <a:pt x="4274726" y="249413"/>
                  </a:lnTo>
                  <a:cubicBezTo>
                    <a:pt x="4274726" y="253208"/>
                    <a:pt x="4273218" y="256848"/>
                    <a:pt x="4270535" y="259531"/>
                  </a:cubicBezTo>
                  <a:cubicBezTo>
                    <a:pt x="4267851" y="262215"/>
                    <a:pt x="4264211" y="263722"/>
                    <a:pt x="4260416" y="263722"/>
                  </a:cubicBezTo>
                  <a:lnTo>
                    <a:pt x="14310" y="263722"/>
                  </a:lnTo>
                  <a:cubicBezTo>
                    <a:pt x="10515" y="263722"/>
                    <a:pt x="6875" y="262215"/>
                    <a:pt x="4191" y="259531"/>
                  </a:cubicBezTo>
                  <a:cubicBezTo>
                    <a:pt x="1508" y="256848"/>
                    <a:pt x="0" y="253208"/>
                    <a:pt x="0" y="249413"/>
                  </a:cubicBezTo>
                  <a:lnTo>
                    <a:pt x="0" y="14310"/>
                  </a:lnTo>
                  <a:cubicBezTo>
                    <a:pt x="0" y="10515"/>
                    <a:pt x="1508" y="6875"/>
                    <a:pt x="4191" y="4191"/>
                  </a:cubicBezTo>
                  <a:cubicBezTo>
                    <a:pt x="6875" y="1508"/>
                    <a:pt x="10515" y="0"/>
                    <a:pt x="14310" y="0"/>
                  </a:cubicBezTo>
                  <a:close/>
                </a:path>
              </a:pathLst>
            </a:custGeom>
            <a:solidFill>
              <a:srgbClr val="ECF0F6"/>
            </a:solidFill>
            <a:ln w="28575" cap="rnd">
              <a:solidFill>
                <a:srgbClr val="ECF0F6"/>
              </a:solidFill>
              <a:prstDash val="solid"/>
              <a:round/>
            </a:ln>
          </p:spPr>
        </p:sp>
        <p:sp>
          <p:nvSpPr>
            <p:cNvPr name="TextBox 15" id="15"/>
            <p:cNvSpPr txBox="true"/>
            <p:nvPr/>
          </p:nvSpPr>
          <p:spPr>
            <a:xfrm>
              <a:off x="0" y="-19050"/>
              <a:ext cx="4274726" cy="282772"/>
            </a:xfrm>
            <a:prstGeom prst="rect">
              <a:avLst/>
            </a:prstGeom>
          </p:spPr>
          <p:txBody>
            <a:bodyPr anchor="ctr" rtlCol="false" tIns="50800" lIns="50800" bIns="50800" rIns="50800"/>
            <a:lstStyle/>
            <a:p>
              <a:pPr algn="ctr">
                <a:lnSpc>
                  <a:spcPts val="1620"/>
                </a:lnSpc>
              </a:pPr>
            </a:p>
          </p:txBody>
        </p:sp>
      </p:grpSp>
      <p:sp>
        <p:nvSpPr>
          <p:cNvPr name="Freeform 16" id="16"/>
          <p:cNvSpPr/>
          <p:nvPr/>
        </p:nvSpPr>
        <p:spPr>
          <a:xfrm flipH="false" flipV="false" rot="0">
            <a:off x="1489969" y="4250431"/>
            <a:ext cx="582095" cy="582095"/>
          </a:xfrm>
          <a:custGeom>
            <a:avLst/>
            <a:gdLst/>
            <a:ahLst/>
            <a:cxnLst/>
            <a:rect r="r" b="b" t="t" l="l"/>
            <a:pathLst>
              <a:path h="582095" w="582095">
                <a:moveTo>
                  <a:pt x="0" y="0"/>
                </a:moveTo>
                <a:lnTo>
                  <a:pt x="582095" y="0"/>
                </a:lnTo>
                <a:lnTo>
                  <a:pt x="582095" y="582095"/>
                </a:lnTo>
                <a:lnTo>
                  <a:pt x="0" y="582095"/>
                </a:lnTo>
                <a:lnTo>
                  <a:pt x="0" y="0"/>
                </a:lnTo>
                <a:close/>
              </a:path>
            </a:pathLst>
          </a:custGeom>
          <a:blipFill>
            <a:blip r:embed="rId5"/>
            <a:stretch>
              <a:fillRect l="0" t="0" r="0" b="0"/>
            </a:stretch>
          </a:blipFill>
        </p:spPr>
      </p:sp>
      <p:grpSp>
        <p:nvGrpSpPr>
          <p:cNvPr name="Group 17" id="17"/>
          <p:cNvGrpSpPr/>
          <p:nvPr/>
        </p:nvGrpSpPr>
        <p:grpSpPr>
          <a:xfrm rot="0">
            <a:off x="6707833" y="3859906"/>
            <a:ext cx="4872334" cy="4876898"/>
            <a:chOff x="0" y="0"/>
            <a:chExt cx="1283248" cy="1284450"/>
          </a:xfrm>
        </p:grpSpPr>
        <p:sp>
          <p:nvSpPr>
            <p:cNvPr name="Freeform 18" id="18"/>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19" id="19"/>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grpSp>
        <p:nvGrpSpPr>
          <p:cNvPr name="Group 20" id="20"/>
          <p:cNvGrpSpPr/>
          <p:nvPr/>
        </p:nvGrpSpPr>
        <p:grpSpPr>
          <a:xfrm rot="0">
            <a:off x="12389792" y="3802756"/>
            <a:ext cx="4872334" cy="4876898"/>
            <a:chOff x="0" y="0"/>
            <a:chExt cx="1283248" cy="1284450"/>
          </a:xfrm>
        </p:grpSpPr>
        <p:sp>
          <p:nvSpPr>
            <p:cNvPr name="Freeform 21" id="21"/>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22" id="22"/>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sp>
        <p:nvSpPr>
          <p:cNvPr name="Freeform 23" id="23"/>
          <p:cNvSpPr/>
          <p:nvPr/>
        </p:nvSpPr>
        <p:spPr>
          <a:xfrm flipH="false" flipV="false" rot="0">
            <a:off x="7079285" y="4250431"/>
            <a:ext cx="764554" cy="637827"/>
          </a:xfrm>
          <a:custGeom>
            <a:avLst/>
            <a:gdLst/>
            <a:ahLst/>
            <a:cxnLst/>
            <a:rect r="r" b="b" t="t" l="l"/>
            <a:pathLst>
              <a:path h="637827" w="764554">
                <a:moveTo>
                  <a:pt x="0" y="0"/>
                </a:moveTo>
                <a:lnTo>
                  <a:pt x="764554" y="0"/>
                </a:lnTo>
                <a:lnTo>
                  <a:pt x="764554" y="637826"/>
                </a:lnTo>
                <a:lnTo>
                  <a:pt x="0" y="637826"/>
                </a:lnTo>
                <a:lnTo>
                  <a:pt x="0" y="0"/>
                </a:lnTo>
                <a:close/>
              </a:path>
            </a:pathLst>
          </a:custGeom>
          <a:blipFill>
            <a:blip r:embed="rId6"/>
            <a:stretch>
              <a:fillRect l="0" t="0" r="-6366" b="0"/>
            </a:stretch>
          </a:blipFill>
        </p:spPr>
      </p:sp>
      <p:sp>
        <p:nvSpPr>
          <p:cNvPr name="Freeform 24" id="24"/>
          <p:cNvSpPr/>
          <p:nvPr/>
        </p:nvSpPr>
        <p:spPr>
          <a:xfrm flipH="false" flipV="false" rot="0">
            <a:off x="12851061" y="4112932"/>
            <a:ext cx="544829" cy="531541"/>
          </a:xfrm>
          <a:custGeom>
            <a:avLst/>
            <a:gdLst/>
            <a:ahLst/>
            <a:cxnLst/>
            <a:rect r="r" b="b" t="t" l="l"/>
            <a:pathLst>
              <a:path h="531541" w="544829">
                <a:moveTo>
                  <a:pt x="0" y="0"/>
                </a:moveTo>
                <a:lnTo>
                  <a:pt x="544829" y="0"/>
                </a:lnTo>
                <a:lnTo>
                  <a:pt x="544829" y="531541"/>
                </a:lnTo>
                <a:lnTo>
                  <a:pt x="0" y="531541"/>
                </a:lnTo>
                <a:lnTo>
                  <a:pt x="0" y="0"/>
                </a:lnTo>
                <a:close/>
              </a:path>
            </a:pathLst>
          </a:custGeom>
          <a:blipFill>
            <a:blip r:embed="rId7"/>
            <a:stretch>
              <a:fillRect l="0" t="0" r="0" b="0"/>
            </a:stretch>
          </a:blipFill>
        </p:spPr>
      </p:sp>
      <p:sp>
        <p:nvSpPr>
          <p:cNvPr name="AutoShape 25" id="25"/>
          <p:cNvSpPr/>
          <p:nvPr/>
        </p:nvSpPr>
        <p:spPr>
          <a:xfrm>
            <a:off x="6125613" y="2051572"/>
            <a:ext cx="5855297" cy="0"/>
          </a:xfrm>
          <a:prstGeom prst="line">
            <a:avLst/>
          </a:prstGeom>
          <a:ln cap="rnd" w="123825">
            <a:solidFill>
              <a:srgbClr val="00A982"/>
            </a:solidFill>
            <a:prstDash val="solid"/>
            <a:headEnd type="none" len="sm" w="sm"/>
            <a:tailEnd type="none" len="sm" w="sm"/>
          </a:ln>
        </p:spPr>
      </p:sp>
      <p:sp>
        <p:nvSpPr>
          <p:cNvPr name="Freeform 26" id="26"/>
          <p:cNvSpPr/>
          <p:nvPr/>
        </p:nvSpPr>
        <p:spPr>
          <a:xfrm flipH="false" flipV="false" rot="0">
            <a:off x="1781016" y="9574118"/>
            <a:ext cx="2830656" cy="285031"/>
          </a:xfrm>
          <a:custGeom>
            <a:avLst/>
            <a:gdLst/>
            <a:ahLst/>
            <a:cxnLst/>
            <a:rect r="r" b="b" t="t" l="l"/>
            <a:pathLst>
              <a:path h="285031" w="2830656">
                <a:moveTo>
                  <a:pt x="0" y="0"/>
                </a:moveTo>
                <a:lnTo>
                  <a:pt x="2830657" y="0"/>
                </a:lnTo>
                <a:lnTo>
                  <a:pt x="2830657" y="285031"/>
                </a:lnTo>
                <a:lnTo>
                  <a:pt x="0" y="285031"/>
                </a:lnTo>
                <a:lnTo>
                  <a:pt x="0" y="0"/>
                </a:lnTo>
                <a:close/>
              </a:path>
            </a:pathLst>
          </a:custGeom>
          <a:blipFill>
            <a:blip r:embed="rId8"/>
            <a:stretch>
              <a:fillRect l="0" t="0" r="0" b="0"/>
            </a:stretch>
          </a:blipFill>
        </p:spPr>
      </p:sp>
      <p:sp>
        <p:nvSpPr>
          <p:cNvPr name="TextBox 27" id="27"/>
          <p:cNvSpPr txBox="true"/>
          <p:nvPr/>
        </p:nvSpPr>
        <p:spPr>
          <a:xfrm rot="0">
            <a:off x="1489969" y="4969529"/>
            <a:ext cx="3368454" cy="464818"/>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Tier 1: Deterministic</a:t>
            </a:r>
          </a:p>
        </p:txBody>
      </p:sp>
      <p:sp>
        <p:nvSpPr>
          <p:cNvPr name="TextBox 28" id="28"/>
          <p:cNvSpPr txBox="true"/>
          <p:nvPr/>
        </p:nvSpPr>
        <p:spPr>
          <a:xfrm rot="0">
            <a:off x="1489969" y="5802080"/>
            <a:ext cx="4001490" cy="2642805"/>
          </a:xfrm>
          <a:prstGeom prst="rect">
            <a:avLst/>
          </a:prstGeom>
        </p:spPr>
        <p:txBody>
          <a:bodyPr anchor="t" rtlCol="false" tIns="0" lIns="0" bIns="0" rIns="0">
            <a:spAutoFit/>
          </a:bodyPr>
          <a:lstStyle/>
          <a:p>
            <a:pPr algn="l">
              <a:lnSpc>
                <a:spcPts val="2390"/>
              </a:lnSpc>
            </a:pPr>
            <a:r>
              <a:rPr lang="en-US" sz="1707">
                <a:solidFill>
                  <a:srgbClr val="000000"/>
                </a:solidFill>
                <a:latin typeface="Canva Sans"/>
                <a:ea typeface="Canva Sans"/>
                <a:cs typeface="Canva Sans"/>
                <a:sym typeface="Canva Sans"/>
              </a:rPr>
              <a:t>Pe</a:t>
            </a:r>
            <a:r>
              <a:rPr lang="en-US" sz="1707">
                <a:solidFill>
                  <a:srgbClr val="000000"/>
                </a:solidFill>
                <a:latin typeface="Canva Sans"/>
                <a:ea typeface="Canva Sans"/>
                <a:cs typeface="Canva Sans"/>
                <a:sym typeface="Canva Sans"/>
              </a:rPr>
              <a:t>rforms rapid deterministic detection utilizing explicit QUIC protocol signatures.</a:t>
            </a:r>
          </a:p>
          <a:p>
            <a:pPr algn="l">
              <a:lnSpc>
                <a:spcPts val="2390"/>
              </a:lnSpc>
            </a:pPr>
          </a:p>
          <a:p>
            <a:pPr algn="l">
              <a:lnSpc>
                <a:spcPts val="2390"/>
              </a:lnSpc>
            </a:pPr>
            <a:r>
              <a:rPr lang="en-US" sz="1707">
                <a:solidFill>
                  <a:srgbClr val="000000"/>
                </a:solidFill>
                <a:latin typeface="Canva Sans"/>
                <a:ea typeface="Canva Sans"/>
                <a:cs typeface="Canva Sans"/>
                <a:sym typeface="Canva Sans"/>
              </a:rPr>
              <a:t>Checks include transport protocol matching, the fixed bit, long header presence, and valid version information verification.</a:t>
            </a:r>
          </a:p>
          <a:p>
            <a:pPr algn="l">
              <a:lnSpc>
                <a:spcPts val="2390"/>
              </a:lnSpc>
            </a:pPr>
          </a:p>
        </p:txBody>
      </p:sp>
      <p:sp>
        <p:nvSpPr>
          <p:cNvPr name="TextBox 29" id="29"/>
          <p:cNvSpPr txBox="true"/>
          <p:nvPr/>
        </p:nvSpPr>
        <p:spPr>
          <a:xfrm rot="0">
            <a:off x="1394971" y="2610701"/>
            <a:ext cx="15113014" cy="611264"/>
          </a:xfrm>
          <a:prstGeom prst="rect">
            <a:avLst/>
          </a:prstGeom>
        </p:spPr>
        <p:txBody>
          <a:bodyPr anchor="t" rtlCol="false" tIns="0" lIns="0" bIns="0" rIns="0">
            <a:spAutoFit/>
          </a:bodyPr>
          <a:lstStyle/>
          <a:p>
            <a:pPr algn="l">
              <a:lnSpc>
                <a:spcPts val="2530"/>
              </a:lnSpc>
            </a:pPr>
            <a:r>
              <a:rPr lang="en-US" sz="1807" b="true">
                <a:solidFill>
                  <a:srgbClr val="000000"/>
                </a:solidFill>
                <a:latin typeface="Canva Sans Bold"/>
                <a:ea typeface="Canva Sans Bold"/>
                <a:cs typeface="Canva Sans Bold"/>
                <a:sym typeface="Canva Sans Bold"/>
              </a:rPr>
              <a:t>Hybrid Classifier: </a:t>
            </a:r>
            <a:r>
              <a:rPr lang="en-US" sz="1807">
                <a:solidFill>
                  <a:srgbClr val="000000"/>
                </a:solidFill>
                <a:latin typeface="Canva Sans"/>
                <a:ea typeface="Canva Sans"/>
                <a:cs typeface="Canva Sans"/>
                <a:sym typeface="Canva Sans"/>
              </a:rPr>
              <a:t>First, incoming packets are grouped into a 5-packet flow to extract protocol-specific and statistical features. The flow is then processed through a three-tier framework.</a:t>
            </a:r>
          </a:p>
        </p:txBody>
      </p:sp>
      <p:sp>
        <p:nvSpPr>
          <p:cNvPr name="TextBox 30" id="30"/>
          <p:cNvSpPr txBox="true"/>
          <p:nvPr/>
        </p:nvSpPr>
        <p:spPr>
          <a:xfrm rot="0">
            <a:off x="7169102" y="5026679"/>
            <a:ext cx="2958230" cy="464818"/>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Tier 2: Handshake</a:t>
            </a:r>
          </a:p>
        </p:txBody>
      </p:sp>
      <p:sp>
        <p:nvSpPr>
          <p:cNvPr name="TextBox 31" id="31"/>
          <p:cNvSpPr txBox="true"/>
          <p:nvPr/>
        </p:nvSpPr>
        <p:spPr>
          <a:xfrm rot="0">
            <a:off x="7169102" y="5802080"/>
            <a:ext cx="4001490" cy="2642805"/>
          </a:xfrm>
          <a:prstGeom prst="rect">
            <a:avLst/>
          </a:prstGeom>
        </p:spPr>
        <p:txBody>
          <a:bodyPr anchor="t" rtlCol="false" tIns="0" lIns="0" bIns="0" rIns="0">
            <a:spAutoFit/>
          </a:bodyPr>
          <a:lstStyle/>
          <a:p>
            <a:pPr algn="l">
              <a:lnSpc>
                <a:spcPts val="2390"/>
              </a:lnSpc>
            </a:pPr>
            <a:r>
              <a:rPr lang="en-US" sz="1707">
                <a:solidFill>
                  <a:srgbClr val="000000"/>
                </a:solidFill>
                <a:latin typeface="Canva Sans"/>
                <a:ea typeface="Canva Sans"/>
                <a:cs typeface="Canva Sans"/>
                <a:sym typeface="Canva Sans"/>
              </a:rPr>
              <a:t>I</a:t>
            </a:r>
            <a:r>
              <a:rPr lang="en-US" sz="1707">
                <a:solidFill>
                  <a:srgbClr val="000000"/>
                </a:solidFill>
                <a:latin typeface="Canva Sans"/>
                <a:ea typeface="Canva Sans"/>
                <a:cs typeface="Canva Sans"/>
                <a:sym typeface="Canva Sans"/>
              </a:rPr>
              <a:t>f Tier 1 is unconfident, the flow proceeds to deeper packet inspection.</a:t>
            </a:r>
          </a:p>
          <a:p>
            <a:pPr algn="l">
              <a:lnSpc>
                <a:spcPts val="2390"/>
              </a:lnSpc>
            </a:pPr>
          </a:p>
          <a:p>
            <a:pPr algn="l">
              <a:lnSpc>
                <a:spcPts val="2390"/>
              </a:lnSpc>
            </a:pPr>
            <a:r>
              <a:rPr lang="en-US" sz="1707">
                <a:solidFill>
                  <a:srgbClr val="000000"/>
                </a:solidFill>
                <a:latin typeface="Canva Sans"/>
                <a:ea typeface="Canva Sans"/>
                <a:cs typeface="Canva Sans"/>
                <a:sym typeface="Canva Sans"/>
              </a:rPr>
              <a:t>The system actively checks for specific QUIC handshake packet types (Initial, Handshake, Retry, 0-RTT, or Version Negotiation).</a:t>
            </a:r>
          </a:p>
          <a:p>
            <a:pPr algn="l">
              <a:lnSpc>
                <a:spcPts val="2390"/>
              </a:lnSpc>
            </a:pPr>
          </a:p>
        </p:txBody>
      </p:sp>
      <p:sp>
        <p:nvSpPr>
          <p:cNvPr name="TextBox 32" id="32"/>
          <p:cNvSpPr txBox="true"/>
          <p:nvPr/>
        </p:nvSpPr>
        <p:spPr>
          <a:xfrm rot="0">
            <a:off x="12799367" y="4926520"/>
            <a:ext cx="3429889" cy="464818"/>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Tier 3: ML &amp; Lookup</a:t>
            </a:r>
          </a:p>
        </p:txBody>
      </p:sp>
      <p:sp>
        <p:nvSpPr>
          <p:cNvPr name="TextBox 33" id="33"/>
          <p:cNvSpPr txBox="true"/>
          <p:nvPr/>
        </p:nvSpPr>
        <p:spPr>
          <a:xfrm rot="0">
            <a:off x="12799367" y="5592652"/>
            <a:ext cx="4083246" cy="2937958"/>
          </a:xfrm>
          <a:prstGeom prst="rect">
            <a:avLst/>
          </a:prstGeom>
        </p:spPr>
        <p:txBody>
          <a:bodyPr anchor="t" rtlCol="false" tIns="0" lIns="0" bIns="0" rIns="0">
            <a:spAutoFit/>
          </a:bodyPr>
          <a:lstStyle/>
          <a:p>
            <a:pPr algn="l">
              <a:lnSpc>
                <a:spcPts val="2390"/>
              </a:lnSpc>
            </a:pPr>
            <a:r>
              <a:rPr lang="en-US" sz="1707" b="true">
                <a:solidFill>
                  <a:srgbClr val="000000"/>
                </a:solidFill>
                <a:latin typeface="Canva Sans Bold"/>
                <a:ea typeface="Canva Sans Bold"/>
                <a:cs typeface="Canva Sans Bold"/>
                <a:sym typeface="Canva Sans Bold"/>
              </a:rPr>
              <a:t>Tier 3a - cached-flow lookup: </a:t>
            </a:r>
            <a:r>
              <a:rPr lang="en-US" sz="1707">
                <a:solidFill>
                  <a:srgbClr val="000000"/>
                </a:solidFill>
                <a:latin typeface="Canva Sans"/>
                <a:ea typeface="Canva Sans"/>
                <a:cs typeface="Canva Sans"/>
                <a:sym typeface="Canva Sans"/>
              </a:rPr>
              <a:t>First pe</a:t>
            </a:r>
            <a:r>
              <a:rPr lang="en-US" sz="1707">
                <a:solidFill>
                  <a:srgbClr val="000000"/>
                </a:solidFill>
                <a:latin typeface="Canva Sans"/>
                <a:ea typeface="Canva Sans"/>
                <a:cs typeface="Canva Sans"/>
                <a:sym typeface="Canva Sans"/>
              </a:rPr>
              <a:t>rforms a memory lookup using previously identified Connection 5-tuples.</a:t>
            </a:r>
          </a:p>
          <a:p>
            <a:pPr algn="l">
              <a:lnSpc>
                <a:spcPts val="2390"/>
              </a:lnSpc>
            </a:pPr>
          </a:p>
          <a:p>
            <a:pPr algn="l">
              <a:lnSpc>
                <a:spcPts val="2390"/>
              </a:lnSpc>
            </a:pPr>
            <a:r>
              <a:rPr lang="en-US" sz="1707" b="true">
                <a:solidFill>
                  <a:srgbClr val="000000"/>
                </a:solidFill>
                <a:latin typeface="Canva Sans Bold"/>
                <a:ea typeface="Canva Sans Bold"/>
                <a:cs typeface="Canva Sans Bold"/>
                <a:sym typeface="Canva Sans Bold"/>
              </a:rPr>
              <a:t>Tier 3b - ML fallback:</a:t>
            </a:r>
            <a:r>
              <a:rPr lang="en-US" sz="1707">
                <a:solidFill>
                  <a:srgbClr val="000000"/>
                </a:solidFill>
                <a:latin typeface="Canva Sans"/>
                <a:ea typeface="Canva Sans"/>
                <a:cs typeface="Canva Sans"/>
                <a:sym typeface="Canva Sans"/>
              </a:rPr>
              <a:t> If no match, an</a:t>
            </a:r>
            <a:r>
              <a:rPr lang="en-US" sz="1707" b="true">
                <a:solidFill>
                  <a:srgbClr val="000000"/>
                </a:solidFill>
                <a:latin typeface="Canva Sans Bold"/>
                <a:ea typeface="Canva Sans Bold"/>
                <a:cs typeface="Canva Sans Bold"/>
                <a:sym typeface="Canva Sans Bold"/>
              </a:rPr>
              <a:t> ML model</a:t>
            </a:r>
            <a:r>
              <a:rPr lang="en-US" sz="1707">
                <a:solidFill>
                  <a:srgbClr val="000000"/>
                </a:solidFill>
                <a:latin typeface="Canva Sans"/>
                <a:ea typeface="Canva Sans"/>
                <a:cs typeface="Canva Sans"/>
                <a:sym typeface="Canva Sans"/>
              </a:rPr>
              <a:t> classifies the flow using 10 statistical features (Output: </a:t>
            </a:r>
            <a:r>
              <a:rPr lang="en-US" sz="1707" b="true">
                <a:solidFill>
                  <a:srgbClr val="00A982"/>
                </a:solidFill>
                <a:latin typeface="Canva Sans Bold"/>
                <a:ea typeface="Canva Sans Bold"/>
                <a:cs typeface="Canva Sans Bold"/>
                <a:sym typeface="Canva Sans Bold"/>
              </a:rPr>
              <a:t>QUIC, QUIC_PROBABLE, NON-QUIC</a:t>
            </a:r>
            <a:r>
              <a:rPr lang="en-US" sz="1707">
                <a:solidFill>
                  <a:srgbClr val="000000"/>
                </a:solidFill>
                <a:latin typeface="Canva Sans"/>
                <a:ea typeface="Canva Sans"/>
                <a:cs typeface="Canva Sans"/>
                <a:sym typeface="Canva Sans"/>
              </a:rPr>
              <a:t>).</a:t>
            </a:r>
          </a:p>
          <a:p>
            <a:pPr algn="l">
              <a:lnSpc>
                <a:spcPts val="2390"/>
              </a:lnSpc>
            </a:pPr>
          </a:p>
        </p:txBody>
      </p:sp>
      <p:sp>
        <p:nvSpPr>
          <p:cNvPr name="TextBox 34" id="34"/>
          <p:cNvSpPr txBox="true"/>
          <p:nvPr/>
        </p:nvSpPr>
        <p:spPr>
          <a:xfrm rot="0">
            <a:off x="1693943" y="923925"/>
            <a:ext cx="14592499"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QUIC Identification</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11</a:t>
              </a:r>
            </a:p>
          </p:txBody>
        </p:sp>
      </p:grpSp>
      <p:sp>
        <p:nvSpPr>
          <p:cNvPr name="Freeform 7" id="7"/>
          <p:cNvSpPr/>
          <p:nvPr/>
        </p:nvSpPr>
        <p:spPr>
          <a:xfrm flipH="false" flipV="false" rot="0">
            <a:off x="957834" y="3333513"/>
            <a:ext cx="9123949" cy="1353185"/>
          </a:xfrm>
          <a:custGeom>
            <a:avLst/>
            <a:gdLst/>
            <a:ahLst/>
            <a:cxnLst/>
            <a:rect r="r" b="b" t="t" l="l"/>
            <a:pathLst>
              <a:path h="1353185" w="9123949">
                <a:moveTo>
                  <a:pt x="0" y="0"/>
                </a:moveTo>
                <a:lnTo>
                  <a:pt x="9123949" y="0"/>
                </a:lnTo>
                <a:lnTo>
                  <a:pt x="9123949" y="1353185"/>
                </a:lnTo>
                <a:lnTo>
                  <a:pt x="0" y="1353185"/>
                </a:lnTo>
                <a:lnTo>
                  <a:pt x="0" y="0"/>
                </a:lnTo>
                <a:close/>
              </a:path>
            </a:pathLst>
          </a:custGeom>
          <a:blipFill>
            <a:blip r:embed="rId5"/>
            <a:stretch>
              <a:fillRect l="0" t="-10044" r="-66302" b="-154544"/>
            </a:stretch>
          </a:blipFill>
        </p:spPr>
      </p:sp>
      <p:sp>
        <p:nvSpPr>
          <p:cNvPr name="TextBox 8" id="8"/>
          <p:cNvSpPr txBox="true"/>
          <p:nvPr/>
        </p:nvSpPr>
        <p:spPr>
          <a:xfrm rot="0">
            <a:off x="1660476" y="923925"/>
            <a:ext cx="14592499" cy="1749358"/>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ML Model: Establishing Ground Truth</a:t>
            </a:r>
          </a:p>
          <a:p>
            <a:pPr algn="ctr">
              <a:lnSpc>
                <a:spcPts val="7000"/>
              </a:lnSpc>
            </a:pPr>
          </a:p>
        </p:txBody>
      </p:sp>
      <p:sp>
        <p:nvSpPr>
          <p:cNvPr name="AutoShape 9" id="9"/>
          <p:cNvSpPr/>
          <p:nvPr/>
        </p:nvSpPr>
        <p:spPr>
          <a:xfrm>
            <a:off x="3314347" y="2008154"/>
            <a:ext cx="11284757" cy="0"/>
          </a:xfrm>
          <a:prstGeom prst="line">
            <a:avLst/>
          </a:prstGeom>
          <a:ln cap="rnd" w="123825">
            <a:solidFill>
              <a:srgbClr val="00A982"/>
            </a:solidFill>
            <a:prstDash val="solid"/>
            <a:headEnd type="none" len="sm" w="sm"/>
            <a:tailEnd type="none" len="sm" w="sm"/>
          </a:ln>
        </p:spPr>
      </p:sp>
      <p:sp>
        <p:nvSpPr>
          <p:cNvPr name="Freeform 10" id="10"/>
          <p:cNvSpPr/>
          <p:nvPr/>
        </p:nvSpPr>
        <p:spPr>
          <a:xfrm flipH="false" flipV="false" rot="0">
            <a:off x="957834" y="5143500"/>
            <a:ext cx="9123949" cy="1807995"/>
          </a:xfrm>
          <a:custGeom>
            <a:avLst/>
            <a:gdLst/>
            <a:ahLst/>
            <a:cxnLst/>
            <a:rect r="r" b="b" t="t" l="l"/>
            <a:pathLst>
              <a:path h="1807995" w="9123949">
                <a:moveTo>
                  <a:pt x="0" y="0"/>
                </a:moveTo>
                <a:lnTo>
                  <a:pt x="9123949" y="0"/>
                </a:lnTo>
                <a:lnTo>
                  <a:pt x="9123949" y="1807995"/>
                </a:lnTo>
                <a:lnTo>
                  <a:pt x="0" y="1807995"/>
                </a:lnTo>
                <a:lnTo>
                  <a:pt x="0" y="0"/>
                </a:lnTo>
                <a:close/>
              </a:path>
            </a:pathLst>
          </a:custGeom>
          <a:blipFill>
            <a:blip r:embed="rId5"/>
            <a:stretch>
              <a:fillRect l="0" t="-7517" r="-66302" b="-90512"/>
            </a:stretch>
          </a:blipFill>
        </p:spPr>
      </p:sp>
      <p:sp>
        <p:nvSpPr>
          <p:cNvPr name="Freeform 11" id="11"/>
          <p:cNvSpPr/>
          <p:nvPr/>
        </p:nvSpPr>
        <p:spPr>
          <a:xfrm flipH="false" flipV="false" rot="0">
            <a:off x="911371" y="7580610"/>
            <a:ext cx="9123949" cy="1353185"/>
          </a:xfrm>
          <a:custGeom>
            <a:avLst/>
            <a:gdLst/>
            <a:ahLst/>
            <a:cxnLst/>
            <a:rect r="r" b="b" t="t" l="l"/>
            <a:pathLst>
              <a:path h="1353185" w="9123949">
                <a:moveTo>
                  <a:pt x="0" y="0"/>
                </a:moveTo>
                <a:lnTo>
                  <a:pt x="9123949" y="0"/>
                </a:lnTo>
                <a:lnTo>
                  <a:pt x="9123949" y="1353185"/>
                </a:lnTo>
                <a:lnTo>
                  <a:pt x="0" y="1353185"/>
                </a:lnTo>
                <a:lnTo>
                  <a:pt x="0" y="0"/>
                </a:lnTo>
                <a:close/>
              </a:path>
            </a:pathLst>
          </a:custGeom>
          <a:blipFill>
            <a:blip r:embed="rId5"/>
            <a:stretch>
              <a:fillRect l="0" t="-10044" r="-66302" b="-154544"/>
            </a:stretch>
          </a:blipFill>
        </p:spPr>
      </p:sp>
      <p:sp>
        <p:nvSpPr>
          <p:cNvPr name="Freeform 12" id="12"/>
          <p:cNvSpPr/>
          <p:nvPr/>
        </p:nvSpPr>
        <p:spPr>
          <a:xfrm flipH="false" flipV="false" rot="0">
            <a:off x="11068160" y="3040734"/>
            <a:ext cx="4410109" cy="5436190"/>
          </a:xfrm>
          <a:custGeom>
            <a:avLst/>
            <a:gdLst/>
            <a:ahLst/>
            <a:cxnLst/>
            <a:rect r="r" b="b" t="t" l="l"/>
            <a:pathLst>
              <a:path h="5436190" w="4410109">
                <a:moveTo>
                  <a:pt x="0" y="0"/>
                </a:moveTo>
                <a:lnTo>
                  <a:pt x="4410110" y="0"/>
                </a:lnTo>
                <a:lnTo>
                  <a:pt x="4410110" y="5436191"/>
                </a:lnTo>
                <a:lnTo>
                  <a:pt x="0" y="5436191"/>
                </a:lnTo>
                <a:lnTo>
                  <a:pt x="0" y="0"/>
                </a:lnTo>
                <a:close/>
              </a:path>
            </a:pathLst>
          </a:custGeom>
          <a:blipFill>
            <a:blip r:embed="rId6"/>
            <a:stretch>
              <a:fillRect l="0" t="0" r="0" b="0"/>
            </a:stretch>
          </a:blipFill>
        </p:spPr>
      </p:sp>
      <p:grpSp>
        <p:nvGrpSpPr>
          <p:cNvPr name="Group 13" id="13"/>
          <p:cNvGrpSpPr/>
          <p:nvPr/>
        </p:nvGrpSpPr>
        <p:grpSpPr>
          <a:xfrm rot="0">
            <a:off x="7607808" y="9603467"/>
            <a:ext cx="9326499" cy="285750"/>
            <a:chOff x="0" y="0"/>
            <a:chExt cx="12435332" cy="381000"/>
          </a:xfrm>
        </p:grpSpPr>
        <p:sp>
          <p:nvSpPr>
            <p:cNvPr name="Freeform 14" id="14"/>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5" id="15"/>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6" id="16"/>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7"/>
            <a:stretch>
              <a:fillRect l="0" t="0" r="0" b="0"/>
            </a:stretch>
          </a:blipFill>
        </p:spPr>
      </p:sp>
      <p:sp>
        <p:nvSpPr>
          <p:cNvPr name="TextBox 17" id="17"/>
          <p:cNvSpPr txBox="true"/>
          <p:nvPr/>
        </p:nvSpPr>
        <p:spPr>
          <a:xfrm rot="0">
            <a:off x="1370909" y="3494644"/>
            <a:ext cx="8201148" cy="907099"/>
          </a:xfrm>
          <a:prstGeom prst="rect">
            <a:avLst/>
          </a:prstGeom>
        </p:spPr>
        <p:txBody>
          <a:bodyPr anchor="t" rtlCol="false" tIns="0" lIns="0" bIns="0" rIns="0">
            <a:spAutoFit/>
          </a:bodyPr>
          <a:lstStyle/>
          <a:p>
            <a:pPr algn="just">
              <a:lnSpc>
                <a:spcPts val="3792"/>
              </a:lnSpc>
            </a:pPr>
            <a:r>
              <a:rPr lang="en-US" b="true" sz="2049">
                <a:solidFill>
                  <a:srgbClr val="000000"/>
                </a:solidFill>
                <a:latin typeface="Canva Sans Bold"/>
                <a:ea typeface="Canva Sans Bold"/>
                <a:cs typeface="Canva Sans Bold"/>
                <a:sym typeface="Canva Sans Bold"/>
              </a:rPr>
              <a:t>1. Traffic Ca</a:t>
            </a:r>
            <a:r>
              <a:rPr lang="en-US" b="true" sz="2049">
                <a:solidFill>
                  <a:srgbClr val="000000"/>
                </a:solidFill>
                <a:latin typeface="Canva Sans Bold"/>
                <a:ea typeface="Canva Sans Bold"/>
                <a:cs typeface="Canva Sans Bold"/>
                <a:sym typeface="Canva Sans Bold"/>
              </a:rPr>
              <a:t>pture</a:t>
            </a:r>
            <a:r>
              <a:rPr lang="en-US" sz="2049">
                <a:solidFill>
                  <a:srgbClr val="000000"/>
                </a:solidFill>
                <a:latin typeface="Canva Sans"/>
                <a:ea typeface="Canva Sans"/>
                <a:cs typeface="Canva Sans"/>
                <a:sym typeface="Canva Sans"/>
              </a:rPr>
              <a:t>: Used tshark alongside Chrome TLS key logs to capture raw UDP traffic.</a:t>
            </a:r>
          </a:p>
        </p:txBody>
      </p:sp>
      <p:sp>
        <p:nvSpPr>
          <p:cNvPr name="TextBox 18" id="18"/>
          <p:cNvSpPr txBox="true"/>
          <p:nvPr/>
        </p:nvSpPr>
        <p:spPr>
          <a:xfrm rot="0">
            <a:off x="1370909" y="5304630"/>
            <a:ext cx="8201148" cy="1383349"/>
          </a:xfrm>
          <a:prstGeom prst="rect">
            <a:avLst/>
          </a:prstGeom>
        </p:spPr>
        <p:txBody>
          <a:bodyPr anchor="t" rtlCol="false" tIns="0" lIns="0" bIns="0" rIns="0">
            <a:spAutoFit/>
          </a:bodyPr>
          <a:lstStyle/>
          <a:p>
            <a:pPr algn="just">
              <a:lnSpc>
                <a:spcPts val="3792"/>
              </a:lnSpc>
            </a:pPr>
            <a:r>
              <a:rPr lang="en-US" b="true" sz="2049">
                <a:solidFill>
                  <a:srgbClr val="000000"/>
                </a:solidFill>
                <a:latin typeface="Canva Sans Bold"/>
                <a:ea typeface="Canva Sans Bold"/>
                <a:cs typeface="Canva Sans Bold"/>
                <a:sym typeface="Canva Sans Bold"/>
              </a:rPr>
              <a:t>2</a:t>
            </a:r>
            <a:r>
              <a:rPr lang="en-US" b="true" sz="2049">
                <a:solidFill>
                  <a:srgbClr val="000000"/>
                </a:solidFill>
                <a:latin typeface="Canva Sans Bold"/>
                <a:ea typeface="Canva Sans Bold"/>
                <a:cs typeface="Canva Sans Bold"/>
                <a:sym typeface="Canva Sans Bold"/>
              </a:rPr>
              <a:t>. Decryption &amp; Labeling:</a:t>
            </a:r>
            <a:r>
              <a:rPr lang="en-US" sz="2049">
                <a:solidFill>
                  <a:srgbClr val="000000"/>
                </a:solidFill>
                <a:latin typeface="Canva Sans"/>
                <a:ea typeface="Canva Sans"/>
                <a:cs typeface="Canva Sans"/>
                <a:sym typeface="Canva Sans"/>
              </a:rPr>
              <a:t> Decry</a:t>
            </a:r>
            <a:r>
              <a:rPr lang="en-US" sz="2049">
                <a:solidFill>
                  <a:srgbClr val="000000"/>
                </a:solidFill>
                <a:latin typeface="Canva Sans"/>
                <a:ea typeface="Canva Sans"/>
                <a:cs typeface="Canva Sans"/>
                <a:sym typeface="Canva Sans"/>
              </a:rPr>
              <a:t>pted HTTP/3 headers. Flows were assigned labels (video, audio, web, data) based primarily on content-type, with TLS SNI hostnames as a fallback.</a:t>
            </a:r>
          </a:p>
        </p:txBody>
      </p:sp>
      <p:sp>
        <p:nvSpPr>
          <p:cNvPr name="TextBox 19" id="19"/>
          <p:cNvSpPr txBox="true"/>
          <p:nvPr/>
        </p:nvSpPr>
        <p:spPr>
          <a:xfrm rot="0">
            <a:off x="1370909" y="7569826"/>
            <a:ext cx="8201148" cy="907099"/>
          </a:xfrm>
          <a:prstGeom prst="rect">
            <a:avLst/>
          </a:prstGeom>
        </p:spPr>
        <p:txBody>
          <a:bodyPr anchor="t" rtlCol="false" tIns="0" lIns="0" bIns="0" rIns="0">
            <a:spAutoFit/>
          </a:bodyPr>
          <a:lstStyle/>
          <a:p>
            <a:pPr algn="just">
              <a:lnSpc>
                <a:spcPts val="3792"/>
              </a:lnSpc>
            </a:pPr>
            <a:r>
              <a:rPr lang="en-US" b="true" sz="2049">
                <a:solidFill>
                  <a:srgbClr val="000000"/>
                </a:solidFill>
                <a:latin typeface="Canva Sans Bold"/>
                <a:ea typeface="Canva Sans Bold"/>
                <a:cs typeface="Canva Sans Bold"/>
                <a:sym typeface="Canva Sans Bold"/>
              </a:rPr>
              <a:t>3</a:t>
            </a:r>
            <a:r>
              <a:rPr lang="en-US" b="true" sz="2049">
                <a:solidFill>
                  <a:srgbClr val="000000"/>
                </a:solidFill>
                <a:latin typeface="Canva Sans Bold"/>
                <a:ea typeface="Canva Sans Bold"/>
                <a:cs typeface="Canva Sans Bold"/>
                <a:sym typeface="Canva Sans Bold"/>
              </a:rPr>
              <a:t>. Flow Keying:</a:t>
            </a:r>
            <a:r>
              <a:rPr lang="en-US" sz="2049">
                <a:solidFill>
                  <a:srgbClr val="000000"/>
                </a:solidFill>
                <a:latin typeface="Canva Sans"/>
                <a:ea typeface="Canva Sans"/>
                <a:cs typeface="Canva Sans"/>
                <a:sym typeface="Canva Sans"/>
              </a:rPr>
              <a:t> Grouped flows utilizing </a:t>
            </a:r>
            <a:r>
              <a:rPr lang="en-US" sz="2049">
                <a:solidFill>
                  <a:srgbClr val="000000"/>
                </a:solidFill>
                <a:latin typeface="Canva Sans"/>
                <a:ea typeface="Canva Sans"/>
                <a:cs typeface="Canva Sans"/>
                <a:sym typeface="Canva Sans"/>
              </a:rPr>
              <a:t>the QUIC Destination Connection ID (DCID) as the primary key to survive IP migrations.</a:t>
            </a:r>
          </a:p>
        </p:txBody>
      </p:sp>
      <p:sp>
        <p:nvSpPr>
          <p:cNvPr name="TextBox 20" id="20"/>
          <p:cNvSpPr txBox="true"/>
          <p:nvPr/>
        </p:nvSpPr>
        <p:spPr>
          <a:xfrm rot="0">
            <a:off x="957834" y="2445465"/>
            <a:ext cx="14086932" cy="430849"/>
          </a:xfrm>
          <a:prstGeom prst="rect">
            <a:avLst/>
          </a:prstGeom>
        </p:spPr>
        <p:txBody>
          <a:bodyPr anchor="t" rtlCol="false" tIns="0" lIns="0" bIns="0" rIns="0">
            <a:spAutoFit/>
          </a:bodyPr>
          <a:lstStyle/>
          <a:p>
            <a:pPr algn="just">
              <a:lnSpc>
                <a:spcPts val="3792"/>
              </a:lnSpc>
            </a:pPr>
            <a:r>
              <a:rPr lang="en-US" sz="2049">
                <a:solidFill>
                  <a:srgbClr val="000000"/>
                </a:solidFill>
                <a:latin typeface="Canva Sans"/>
                <a:ea typeface="Canva Sans"/>
                <a:cs typeface="Canva Sans"/>
                <a:sym typeface="Canva Sans"/>
              </a:rPr>
              <a:t>To</a:t>
            </a:r>
            <a:r>
              <a:rPr lang="en-US" sz="2049">
                <a:solidFill>
                  <a:srgbClr val="000000"/>
                </a:solidFill>
                <a:latin typeface="Canva Sans"/>
                <a:ea typeface="Canva Sans"/>
                <a:cs typeface="Canva Sans"/>
                <a:sym typeface="Canva Sans"/>
              </a:rPr>
              <a:t> train </a:t>
            </a:r>
            <a:r>
              <a:rPr lang="en-US" sz="2049">
                <a:solidFill>
                  <a:srgbClr val="000000"/>
                </a:solidFill>
                <a:latin typeface="Canva Sans"/>
                <a:ea typeface="Canva Sans"/>
                <a:cs typeface="Canva Sans"/>
                <a:sym typeface="Canva Sans"/>
              </a:rPr>
              <a:t>the ML classifier, we built a secure labeling pipeline to capture real-world traffic classes.</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12</a:t>
              </a:r>
            </a:p>
          </p:txBody>
        </p:sp>
      </p:grpSp>
      <p:sp>
        <p:nvSpPr>
          <p:cNvPr name="TextBox 7" id="7"/>
          <p:cNvSpPr txBox="true"/>
          <p:nvPr/>
        </p:nvSpPr>
        <p:spPr>
          <a:xfrm rot="0">
            <a:off x="1660476" y="923925"/>
            <a:ext cx="14592499" cy="1749358"/>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Feature Generation</a:t>
            </a:r>
          </a:p>
          <a:p>
            <a:pPr algn="ctr">
              <a:lnSpc>
                <a:spcPts val="7000"/>
              </a:lnSpc>
            </a:pPr>
          </a:p>
        </p:txBody>
      </p:sp>
      <p:sp>
        <p:nvSpPr>
          <p:cNvPr name="AutoShape 8" id="8"/>
          <p:cNvSpPr/>
          <p:nvPr/>
        </p:nvSpPr>
        <p:spPr>
          <a:xfrm>
            <a:off x="4315953" y="2008154"/>
            <a:ext cx="9294615" cy="0"/>
          </a:xfrm>
          <a:prstGeom prst="line">
            <a:avLst/>
          </a:prstGeom>
          <a:ln cap="rnd" w="123825">
            <a:solidFill>
              <a:srgbClr val="00A982"/>
            </a:solidFill>
            <a:prstDash val="solid"/>
            <a:headEnd type="none" len="sm" w="sm"/>
            <a:tailEnd type="none" len="sm" w="sm"/>
          </a:ln>
        </p:spPr>
      </p:sp>
      <p:grpSp>
        <p:nvGrpSpPr>
          <p:cNvPr name="Group 9" id="9"/>
          <p:cNvGrpSpPr/>
          <p:nvPr/>
        </p:nvGrpSpPr>
        <p:grpSpPr>
          <a:xfrm rot="0">
            <a:off x="7607808" y="9603467"/>
            <a:ext cx="9326499" cy="285750"/>
            <a:chOff x="0" y="0"/>
            <a:chExt cx="12435332" cy="381000"/>
          </a:xfrm>
        </p:grpSpPr>
        <p:sp>
          <p:nvSpPr>
            <p:cNvPr name="Freeform 10" id="10"/>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1" id="11"/>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2" id="12"/>
          <p:cNvSpPr/>
          <p:nvPr/>
        </p:nvSpPr>
        <p:spPr>
          <a:xfrm flipH="false" flipV="false" rot="0">
            <a:off x="3142602" y="3822086"/>
            <a:ext cx="11628246" cy="5247246"/>
          </a:xfrm>
          <a:custGeom>
            <a:avLst/>
            <a:gdLst/>
            <a:ahLst/>
            <a:cxnLst/>
            <a:rect r="r" b="b" t="t" l="l"/>
            <a:pathLst>
              <a:path h="5247246" w="11628246">
                <a:moveTo>
                  <a:pt x="0" y="0"/>
                </a:moveTo>
                <a:lnTo>
                  <a:pt x="11628246" y="0"/>
                </a:lnTo>
                <a:lnTo>
                  <a:pt x="11628246" y="5247246"/>
                </a:lnTo>
                <a:lnTo>
                  <a:pt x="0" y="5247246"/>
                </a:lnTo>
                <a:lnTo>
                  <a:pt x="0" y="0"/>
                </a:lnTo>
                <a:close/>
              </a:path>
            </a:pathLst>
          </a:custGeom>
          <a:blipFill>
            <a:blip r:embed="rId5"/>
            <a:stretch>
              <a:fillRect l="0" t="0" r="0" b="0"/>
            </a:stretch>
          </a:blipFill>
        </p:spPr>
      </p:sp>
      <p:sp>
        <p:nvSpPr>
          <p:cNvPr name="TextBox 13" id="13"/>
          <p:cNvSpPr txBox="true"/>
          <p:nvPr/>
        </p:nvSpPr>
        <p:spPr>
          <a:xfrm rot="0">
            <a:off x="1028700" y="2380852"/>
            <a:ext cx="16244316" cy="907099"/>
          </a:xfrm>
          <a:prstGeom prst="rect">
            <a:avLst/>
          </a:prstGeom>
        </p:spPr>
        <p:txBody>
          <a:bodyPr anchor="t" rtlCol="false" tIns="0" lIns="0" bIns="0" rIns="0">
            <a:spAutoFit/>
          </a:bodyPr>
          <a:lstStyle/>
          <a:p>
            <a:pPr algn="just">
              <a:lnSpc>
                <a:spcPts val="3792"/>
              </a:lnSpc>
            </a:pPr>
            <a:r>
              <a:rPr lang="en-US" sz="2049">
                <a:solidFill>
                  <a:srgbClr val="000000"/>
                </a:solidFill>
                <a:latin typeface="Canva Sans"/>
                <a:ea typeface="Canva Sans"/>
                <a:cs typeface="Canva Sans"/>
                <a:sym typeface="Canva Sans"/>
              </a:rPr>
              <a:t>Once flows</a:t>
            </a:r>
            <a:r>
              <a:rPr lang="en-US" sz="2049">
                <a:solidFill>
                  <a:srgbClr val="000000"/>
                </a:solidFill>
                <a:latin typeface="Canva Sans"/>
                <a:ea typeface="Canva Sans"/>
                <a:cs typeface="Canva Sans"/>
                <a:sym typeface="Canva Sans"/>
              </a:rPr>
              <a:t> are labeled, </a:t>
            </a:r>
            <a:r>
              <a:rPr lang="en-US" sz="2049">
                <a:solidFill>
                  <a:srgbClr val="000000"/>
                </a:solidFill>
                <a:latin typeface="Canva Sans"/>
                <a:ea typeface="Canva Sans"/>
                <a:cs typeface="Canva Sans"/>
                <a:sym typeface="Canva Sans"/>
              </a:rPr>
              <a:t>the raw traffic is sliced into </a:t>
            </a:r>
            <a:r>
              <a:rPr lang="en-US" b="true" sz="2049">
                <a:solidFill>
                  <a:srgbClr val="00A982"/>
                </a:solidFill>
                <a:latin typeface="Canva Sans Bold"/>
                <a:ea typeface="Canva Sans Bold"/>
                <a:cs typeface="Canva Sans Bold"/>
                <a:sym typeface="Canva Sans Bold"/>
              </a:rPr>
              <a:t>5-second time windows</a:t>
            </a:r>
            <a:r>
              <a:rPr lang="en-US" sz="2049">
                <a:solidFill>
                  <a:srgbClr val="000000"/>
                </a:solidFill>
                <a:latin typeface="Canva Sans"/>
                <a:ea typeface="Canva Sans"/>
                <a:cs typeface="Canva Sans"/>
                <a:sym typeface="Canva Sans"/>
              </a:rPr>
              <a:t> (minimum 5 packets). We extract 14 distinct statistical features per window.</a:t>
            </a:r>
          </a:p>
        </p:txBody>
      </p:sp>
      <p:sp>
        <p:nvSpPr>
          <p:cNvPr name="Freeform 14" id="14"/>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6"/>
            <a:stretch>
              <a:fillRect l="0" t="0" r="0" b="0"/>
            </a:stretch>
          </a:blipFill>
        </p:spPr>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sp>
        <p:nvSpPr>
          <p:cNvPr name="TextBox 4" id="4"/>
          <p:cNvSpPr txBox="true"/>
          <p:nvPr/>
        </p:nvSpPr>
        <p:spPr>
          <a:xfrm rot="0">
            <a:off x="1660476" y="923925"/>
            <a:ext cx="14592499" cy="1749358"/>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Addressing Data Imbalance</a:t>
            </a:r>
          </a:p>
          <a:p>
            <a:pPr algn="ctr">
              <a:lnSpc>
                <a:spcPts val="7000"/>
              </a:lnSpc>
            </a:pPr>
          </a:p>
        </p:txBody>
      </p:sp>
      <p:sp>
        <p:nvSpPr>
          <p:cNvPr name="AutoShape 5" id="5"/>
          <p:cNvSpPr/>
          <p:nvPr/>
        </p:nvSpPr>
        <p:spPr>
          <a:xfrm>
            <a:off x="3142602" y="2008154"/>
            <a:ext cx="11628246" cy="0"/>
          </a:xfrm>
          <a:prstGeom prst="line">
            <a:avLst/>
          </a:prstGeom>
          <a:ln cap="rnd" w="123825">
            <a:solidFill>
              <a:srgbClr val="00A982"/>
            </a:solidFill>
            <a:prstDash val="solid"/>
            <a:headEnd type="none" len="sm" w="sm"/>
            <a:tailEnd type="none" len="sm" w="sm"/>
          </a:ln>
        </p:spPr>
      </p:sp>
      <p:grpSp>
        <p:nvGrpSpPr>
          <p:cNvPr name="Group 6" id="6"/>
          <p:cNvGrpSpPr/>
          <p:nvPr/>
        </p:nvGrpSpPr>
        <p:grpSpPr>
          <a:xfrm rot="0">
            <a:off x="7607808" y="9603467"/>
            <a:ext cx="9326499" cy="285750"/>
            <a:chOff x="0" y="0"/>
            <a:chExt cx="12435332" cy="381000"/>
          </a:xfrm>
        </p:grpSpPr>
        <p:sp>
          <p:nvSpPr>
            <p:cNvPr name="Freeform 7" id="7"/>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8" id="8"/>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9" id="9"/>
          <p:cNvSpPr/>
          <p:nvPr/>
        </p:nvSpPr>
        <p:spPr>
          <a:xfrm flipH="false" flipV="false" rot="0">
            <a:off x="1028700" y="5998985"/>
            <a:ext cx="7928025" cy="3225715"/>
          </a:xfrm>
          <a:custGeom>
            <a:avLst/>
            <a:gdLst/>
            <a:ahLst/>
            <a:cxnLst/>
            <a:rect r="r" b="b" t="t" l="l"/>
            <a:pathLst>
              <a:path h="3225715" w="7928025">
                <a:moveTo>
                  <a:pt x="0" y="0"/>
                </a:moveTo>
                <a:lnTo>
                  <a:pt x="7928025" y="0"/>
                </a:lnTo>
                <a:lnTo>
                  <a:pt x="7928025" y="3225715"/>
                </a:lnTo>
                <a:lnTo>
                  <a:pt x="0" y="3225715"/>
                </a:lnTo>
                <a:lnTo>
                  <a:pt x="0" y="0"/>
                </a:lnTo>
                <a:close/>
              </a:path>
            </a:pathLst>
          </a:custGeom>
          <a:blipFill>
            <a:blip r:embed="rId5"/>
            <a:stretch>
              <a:fillRect l="0" t="0" r="0" b="0"/>
            </a:stretch>
          </a:blipFill>
        </p:spPr>
      </p:sp>
      <p:sp>
        <p:nvSpPr>
          <p:cNvPr name="Freeform 10" id="10"/>
          <p:cNvSpPr/>
          <p:nvPr/>
        </p:nvSpPr>
        <p:spPr>
          <a:xfrm flipH="false" flipV="false" rot="0">
            <a:off x="11140236" y="3350816"/>
            <a:ext cx="4722775" cy="3001957"/>
          </a:xfrm>
          <a:custGeom>
            <a:avLst/>
            <a:gdLst/>
            <a:ahLst/>
            <a:cxnLst/>
            <a:rect r="r" b="b" t="t" l="l"/>
            <a:pathLst>
              <a:path h="3001957" w="4722775">
                <a:moveTo>
                  <a:pt x="0" y="0"/>
                </a:moveTo>
                <a:lnTo>
                  <a:pt x="4722775" y="0"/>
                </a:lnTo>
                <a:lnTo>
                  <a:pt x="4722775" y="3001957"/>
                </a:lnTo>
                <a:lnTo>
                  <a:pt x="0" y="3001957"/>
                </a:lnTo>
                <a:lnTo>
                  <a:pt x="0" y="0"/>
                </a:lnTo>
                <a:close/>
              </a:path>
            </a:pathLst>
          </a:custGeom>
          <a:blipFill>
            <a:blip r:embed="rId6"/>
            <a:stretch>
              <a:fillRect l="0" t="0" r="0" b="0"/>
            </a:stretch>
          </a:blipFill>
        </p:spPr>
      </p:sp>
      <p:sp>
        <p:nvSpPr>
          <p:cNvPr name="Freeform 11" id="11"/>
          <p:cNvSpPr/>
          <p:nvPr/>
        </p:nvSpPr>
        <p:spPr>
          <a:xfrm flipH="false" flipV="false" rot="0">
            <a:off x="11140236" y="6352773"/>
            <a:ext cx="4722775" cy="2905527"/>
          </a:xfrm>
          <a:custGeom>
            <a:avLst/>
            <a:gdLst/>
            <a:ahLst/>
            <a:cxnLst/>
            <a:rect r="r" b="b" t="t" l="l"/>
            <a:pathLst>
              <a:path h="2905527" w="4722775">
                <a:moveTo>
                  <a:pt x="0" y="0"/>
                </a:moveTo>
                <a:lnTo>
                  <a:pt x="4722775" y="0"/>
                </a:lnTo>
                <a:lnTo>
                  <a:pt x="4722775" y="2905527"/>
                </a:lnTo>
                <a:lnTo>
                  <a:pt x="0" y="2905527"/>
                </a:lnTo>
                <a:lnTo>
                  <a:pt x="0" y="0"/>
                </a:lnTo>
                <a:close/>
              </a:path>
            </a:pathLst>
          </a:custGeom>
          <a:blipFill>
            <a:blip r:embed="rId7"/>
            <a:stretch>
              <a:fillRect l="0" t="-2674" r="0" b="-2674"/>
            </a:stretch>
          </a:blipFill>
        </p:spPr>
      </p:sp>
      <p:sp>
        <p:nvSpPr>
          <p:cNvPr name="TextBox 12" id="12"/>
          <p:cNvSpPr txBox="true"/>
          <p:nvPr/>
        </p:nvSpPr>
        <p:spPr>
          <a:xfrm rot="0">
            <a:off x="1028700" y="2885329"/>
            <a:ext cx="7219825" cy="1094319"/>
          </a:xfrm>
          <a:prstGeom prst="rect">
            <a:avLst/>
          </a:prstGeom>
        </p:spPr>
        <p:txBody>
          <a:bodyPr anchor="t" rtlCol="false" tIns="0" lIns="0" bIns="0" rIns="0">
            <a:spAutoFit/>
          </a:bodyPr>
          <a:lstStyle/>
          <a:p>
            <a:pPr algn="just">
              <a:lnSpc>
                <a:spcPts val="2992"/>
              </a:lnSpc>
            </a:pPr>
            <a:r>
              <a:rPr lang="en-US" sz="2049">
                <a:solidFill>
                  <a:srgbClr val="000000"/>
                </a:solidFill>
                <a:latin typeface="Canva Sans"/>
                <a:ea typeface="Canva Sans"/>
                <a:cs typeface="Canva Sans"/>
                <a:sym typeface="Canva Sans"/>
              </a:rPr>
              <a:t>Explor</a:t>
            </a:r>
            <a:r>
              <a:rPr lang="en-US" sz="2049">
                <a:solidFill>
                  <a:srgbClr val="000000"/>
                </a:solidFill>
                <a:latin typeface="Canva Sans"/>
                <a:ea typeface="Canva Sans"/>
                <a:cs typeface="Canva Sans"/>
                <a:sym typeface="Canva Sans"/>
              </a:rPr>
              <a:t>atory Da</a:t>
            </a:r>
            <a:r>
              <a:rPr lang="en-US" sz="2049">
                <a:solidFill>
                  <a:srgbClr val="000000"/>
                </a:solidFill>
                <a:latin typeface="Canva Sans"/>
                <a:ea typeface="Canva Sans"/>
                <a:cs typeface="Canva Sans"/>
                <a:sym typeface="Canva Sans"/>
              </a:rPr>
              <a:t>ta Analysis revealed a ma</a:t>
            </a:r>
            <a:r>
              <a:rPr lang="en-US" sz="2049">
                <a:solidFill>
                  <a:srgbClr val="000000"/>
                </a:solidFill>
                <a:latin typeface="Canva Sans"/>
                <a:ea typeface="Canva Sans"/>
                <a:cs typeface="Canva Sans"/>
                <a:sym typeface="Canva Sans"/>
              </a:rPr>
              <a:t>s</a:t>
            </a:r>
            <a:r>
              <a:rPr lang="en-US" sz="2049">
                <a:solidFill>
                  <a:srgbClr val="000000"/>
                </a:solidFill>
                <a:latin typeface="Canva Sans"/>
                <a:ea typeface="Canva Sans"/>
                <a:cs typeface="Canva Sans"/>
                <a:sym typeface="Canva Sans"/>
              </a:rPr>
              <a:t>s</a:t>
            </a:r>
            <a:r>
              <a:rPr lang="en-US" sz="2049">
                <a:solidFill>
                  <a:srgbClr val="000000"/>
                </a:solidFill>
                <a:latin typeface="Canva Sans"/>
                <a:ea typeface="Canva Sans"/>
                <a:cs typeface="Canva Sans"/>
                <a:sym typeface="Canva Sans"/>
              </a:rPr>
              <a:t>i</a:t>
            </a:r>
            <a:r>
              <a:rPr lang="en-US" sz="2049">
                <a:solidFill>
                  <a:srgbClr val="000000"/>
                </a:solidFill>
                <a:latin typeface="Canva Sans"/>
                <a:ea typeface="Canva Sans"/>
                <a:cs typeface="Canva Sans"/>
                <a:sym typeface="Canva Sans"/>
              </a:rPr>
              <a:t>v</a:t>
            </a:r>
            <a:r>
              <a:rPr lang="en-US" sz="2049">
                <a:solidFill>
                  <a:srgbClr val="000000"/>
                </a:solidFill>
                <a:latin typeface="Canva Sans"/>
                <a:ea typeface="Canva Sans"/>
                <a:cs typeface="Canva Sans"/>
                <a:sym typeface="Canva Sans"/>
              </a:rPr>
              <a:t>e s</a:t>
            </a:r>
            <a:r>
              <a:rPr lang="en-US" sz="2049">
                <a:solidFill>
                  <a:srgbClr val="000000"/>
                </a:solidFill>
                <a:latin typeface="Canva Sans"/>
                <a:ea typeface="Canva Sans"/>
                <a:cs typeface="Canva Sans"/>
                <a:sym typeface="Canva Sans"/>
              </a:rPr>
              <a:t>kew in organic internet traffic, heavily favoring generic Web data.</a:t>
            </a:r>
          </a:p>
        </p:txBody>
      </p:sp>
      <p:sp>
        <p:nvSpPr>
          <p:cNvPr name="TextBox 13" id="13"/>
          <p:cNvSpPr txBox="true"/>
          <p:nvPr/>
        </p:nvSpPr>
        <p:spPr>
          <a:xfrm rot="0">
            <a:off x="1028700" y="4418891"/>
            <a:ext cx="7219825" cy="1094319"/>
          </a:xfrm>
          <a:prstGeom prst="rect">
            <a:avLst/>
          </a:prstGeom>
        </p:spPr>
        <p:txBody>
          <a:bodyPr anchor="t" rtlCol="false" tIns="0" lIns="0" bIns="0" rIns="0">
            <a:spAutoFit/>
          </a:bodyPr>
          <a:lstStyle/>
          <a:p>
            <a:pPr algn="just">
              <a:lnSpc>
                <a:spcPts val="2992"/>
              </a:lnSpc>
            </a:pPr>
            <a:r>
              <a:rPr lang="en-US" sz="2049">
                <a:solidFill>
                  <a:srgbClr val="000000"/>
                </a:solidFill>
                <a:latin typeface="Canva Sans"/>
                <a:ea typeface="Canva Sans"/>
                <a:cs typeface="Canva Sans"/>
                <a:sym typeface="Canva Sans"/>
              </a:rPr>
              <a:t>To preven</a:t>
            </a:r>
            <a:r>
              <a:rPr lang="en-US" sz="2049">
                <a:solidFill>
                  <a:srgbClr val="000000"/>
                </a:solidFill>
                <a:latin typeface="Canva Sans"/>
                <a:ea typeface="Canva Sans"/>
                <a:cs typeface="Canva Sans"/>
                <a:sym typeface="Canva Sans"/>
              </a:rPr>
              <a:t>t </a:t>
            </a:r>
            <a:r>
              <a:rPr lang="en-US" sz="2049">
                <a:solidFill>
                  <a:srgbClr val="000000"/>
                </a:solidFill>
                <a:latin typeface="Canva Sans"/>
                <a:ea typeface="Canva Sans"/>
                <a:cs typeface="Canva Sans"/>
                <a:sym typeface="Canva Sans"/>
              </a:rPr>
              <a:t>the XGBoost model from overwhelm</a:t>
            </a:r>
            <a:r>
              <a:rPr lang="en-US" sz="2049">
                <a:solidFill>
                  <a:srgbClr val="000000"/>
                </a:solidFill>
                <a:latin typeface="Canva Sans"/>
                <a:ea typeface="Canva Sans"/>
                <a:cs typeface="Canva Sans"/>
                <a:sym typeface="Canva Sans"/>
              </a:rPr>
              <a:t>ingly bias</a:t>
            </a:r>
            <a:r>
              <a:rPr lang="en-US" sz="2049">
                <a:solidFill>
                  <a:srgbClr val="000000"/>
                </a:solidFill>
                <a:latin typeface="Canva Sans"/>
                <a:ea typeface="Canva Sans"/>
                <a:cs typeface="Canva Sans"/>
                <a:sym typeface="Canva Sans"/>
              </a:rPr>
              <a:t>ing towards the majority class, we applied </a:t>
            </a:r>
            <a:r>
              <a:rPr lang="en-US" b="true" sz="2049">
                <a:solidFill>
                  <a:srgbClr val="01A982"/>
                </a:solidFill>
                <a:latin typeface="Canva Sans Bold"/>
                <a:ea typeface="Canva Sans Bold"/>
                <a:cs typeface="Canva Sans Bold"/>
                <a:sym typeface="Canva Sans Bold"/>
              </a:rPr>
              <a:t>SMOTE (Synthetic Minority Over-sampling Technique).</a:t>
            </a:r>
          </a:p>
        </p:txBody>
      </p:sp>
      <p:sp>
        <p:nvSpPr>
          <p:cNvPr name="TextBox 14" id="14"/>
          <p:cNvSpPr txBox="true"/>
          <p:nvPr/>
        </p:nvSpPr>
        <p:spPr>
          <a:xfrm rot="0">
            <a:off x="12271057" y="2885329"/>
            <a:ext cx="2933192" cy="351396"/>
          </a:xfrm>
          <a:prstGeom prst="rect">
            <a:avLst/>
          </a:prstGeom>
        </p:spPr>
        <p:txBody>
          <a:bodyPr anchor="t" rtlCol="false" tIns="0" lIns="0" bIns="0" rIns="0">
            <a:spAutoFit/>
          </a:bodyPr>
          <a:lstStyle/>
          <a:p>
            <a:pPr algn="ctr">
              <a:lnSpc>
                <a:spcPts val="2992"/>
              </a:lnSpc>
            </a:pPr>
            <a:r>
              <a:rPr lang="en-US" b="true" sz="2049">
                <a:solidFill>
                  <a:srgbClr val="00A982"/>
                </a:solidFill>
                <a:latin typeface="Canva Sans Bold"/>
                <a:ea typeface="Canva Sans Bold"/>
                <a:cs typeface="Canva Sans Bold"/>
                <a:sym typeface="Canva Sans Bold"/>
              </a:rPr>
              <a:t>EDA Observations</a:t>
            </a:r>
          </a:p>
        </p:txBody>
      </p:sp>
      <p:grpSp>
        <p:nvGrpSpPr>
          <p:cNvPr name="Group 15" id="15"/>
          <p:cNvGrpSpPr/>
          <p:nvPr/>
        </p:nvGrpSpPr>
        <p:grpSpPr>
          <a:xfrm rot="0">
            <a:off x="17202150" y="9603467"/>
            <a:ext cx="511169" cy="285750"/>
            <a:chOff x="0" y="0"/>
            <a:chExt cx="681558" cy="381000"/>
          </a:xfrm>
        </p:grpSpPr>
        <p:sp>
          <p:nvSpPr>
            <p:cNvPr name="Freeform 16" id="16"/>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7" id="17"/>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13</a:t>
              </a:r>
            </a:p>
          </p:txBody>
        </p:sp>
      </p:grpSp>
      <p:sp>
        <p:nvSpPr>
          <p:cNvPr name="Freeform 18" id="18"/>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8"/>
            <a:stretch>
              <a:fillRect l="0" t="0" r="0" b="0"/>
            </a:stretch>
          </a:blipFill>
        </p:spPr>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14</a:t>
              </a:r>
            </a:p>
          </p:txBody>
        </p:sp>
      </p:grpSp>
      <p:sp>
        <p:nvSpPr>
          <p:cNvPr name="AutoShape 7" id="7"/>
          <p:cNvSpPr/>
          <p:nvPr/>
        </p:nvSpPr>
        <p:spPr>
          <a:xfrm>
            <a:off x="4150622" y="2008154"/>
            <a:ext cx="9587032" cy="0"/>
          </a:xfrm>
          <a:prstGeom prst="line">
            <a:avLst/>
          </a:prstGeom>
          <a:ln cap="rnd" w="123825">
            <a:solidFill>
              <a:srgbClr val="00A982"/>
            </a:solidFill>
            <a:prstDash val="solid"/>
            <a:headEnd type="none" len="sm" w="sm"/>
            <a:tailEnd type="none" len="sm" w="sm"/>
          </a:ln>
        </p:spPr>
      </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1" id="11"/>
          <p:cNvGrpSpPr/>
          <p:nvPr/>
        </p:nvGrpSpPr>
        <p:grpSpPr>
          <a:xfrm rot="0">
            <a:off x="10053965" y="2628767"/>
            <a:ext cx="3363366" cy="1172143"/>
            <a:chOff x="0" y="0"/>
            <a:chExt cx="1767878" cy="616110"/>
          </a:xfrm>
        </p:grpSpPr>
        <p:sp>
          <p:nvSpPr>
            <p:cNvPr name="Freeform 12" id="12"/>
            <p:cNvSpPr/>
            <p:nvPr/>
          </p:nvSpPr>
          <p:spPr>
            <a:xfrm flipH="false" flipV="false" rot="0">
              <a:off x="0" y="0"/>
              <a:ext cx="1767878" cy="616110"/>
            </a:xfrm>
            <a:custGeom>
              <a:avLst/>
              <a:gdLst/>
              <a:ahLst/>
              <a:cxnLst/>
              <a:rect r="r" b="b" t="t" l="l"/>
              <a:pathLst>
                <a:path h="616110" w="1767878">
                  <a:moveTo>
                    <a:pt x="69055" y="0"/>
                  </a:moveTo>
                  <a:lnTo>
                    <a:pt x="1698822" y="0"/>
                  </a:lnTo>
                  <a:cubicBezTo>
                    <a:pt x="1736960" y="0"/>
                    <a:pt x="1767878" y="30917"/>
                    <a:pt x="1767878" y="69055"/>
                  </a:cubicBezTo>
                  <a:lnTo>
                    <a:pt x="1767878" y="547055"/>
                  </a:lnTo>
                  <a:cubicBezTo>
                    <a:pt x="1767878" y="565370"/>
                    <a:pt x="1760602" y="582934"/>
                    <a:pt x="1747652" y="595885"/>
                  </a:cubicBezTo>
                  <a:cubicBezTo>
                    <a:pt x="1734701" y="608835"/>
                    <a:pt x="1717137" y="616110"/>
                    <a:pt x="1698822" y="616110"/>
                  </a:cubicBezTo>
                  <a:lnTo>
                    <a:pt x="69055" y="616110"/>
                  </a:lnTo>
                  <a:cubicBezTo>
                    <a:pt x="30917" y="616110"/>
                    <a:pt x="0" y="585193"/>
                    <a:pt x="0" y="547055"/>
                  </a:cubicBezTo>
                  <a:lnTo>
                    <a:pt x="0" y="69055"/>
                  </a:lnTo>
                  <a:cubicBezTo>
                    <a:pt x="0" y="50741"/>
                    <a:pt x="7275" y="33176"/>
                    <a:pt x="20226" y="20226"/>
                  </a:cubicBezTo>
                  <a:cubicBezTo>
                    <a:pt x="33176" y="7275"/>
                    <a:pt x="50741" y="0"/>
                    <a:pt x="69055" y="0"/>
                  </a:cubicBezTo>
                  <a:close/>
                </a:path>
              </a:pathLst>
            </a:custGeom>
            <a:solidFill>
              <a:srgbClr val="01A982"/>
            </a:solidFill>
          </p:spPr>
        </p:sp>
        <p:sp>
          <p:nvSpPr>
            <p:cNvPr name="TextBox 13" id="13"/>
            <p:cNvSpPr txBox="true"/>
            <p:nvPr/>
          </p:nvSpPr>
          <p:spPr>
            <a:xfrm>
              <a:off x="0" y="-19050"/>
              <a:ext cx="1767878" cy="635160"/>
            </a:xfrm>
            <a:prstGeom prst="rect">
              <a:avLst/>
            </a:prstGeom>
          </p:spPr>
          <p:txBody>
            <a:bodyPr anchor="ctr" rtlCol="false" tIns="50800" lIns="50800" bIns="50800" rIns="50800"/>
            <a:lstStyle/>
            <a:p>
              <a:pPr algn="ctr">
                <a:lnSpc>
                  <a:spcPts val="1620"/>
                </a:lnSpc>
              </a:pPr>
            </a:p>
          </p:txBody>
        </p:sp>
      </p:grpSp>
      <p:sp>
        <p:nvSpPr>
          <p:cNvPr name="TextBox 14" id="14"/>
          <p:cNvSpPr txBox="true"/>
          <p:nvPr/>
        </p:nvSpPr>
        <p:spPr>
          <a:xfrm rot="0">
            <a:off x="1660476" y="923925"/>
            <a:ext cx="14592499"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Training &amp; Evaluation</a:t>
            </a:r>
          </a:p>
        </p:txBody>
      </p:sp>
      <p:sp>
        <p:nvSpPr>
          <p:cNvPr name="TextBox 15" id="15"/>
          <p:cNvSpPr txBox="true"/>
          <p:nvPr/>
        </p:nvSpPr>
        <p:spPr>
          <a:xfrm rot="0">
            <a:off x="11195877" y="2796939"/>
            <a:ext cx="1186666" cy="516854"/>
          </a:xfrm>
          <a:prstGeom prst="rect">
            <a:avLst/>
          </a:prstGeom>
        </p:spPr>
        <p:txBody>
          <a:bodyPr anchor="t" rtlCol="false" tIns="0" lIns="0" bIns="0" rIns="0">
            <a:spAutoFit/>
          </a:bodyPr>
          <a:lstStyle/>
          <a:p>
            <a:pPr algn="ctr">
              <a:lnSpc>
                <a:spcPts val="4374"/>
              </a:lnSpc>
            </a:pPr>
            <a:r>
              <a:rPr lang="en-US" b="true" sz="2996">
                <a:solidFill>
                  <a:srgbClr val="FFFFFF"/>
                </a:solidFill>
                <a:latin typeface="Canva Sans Bold"/>
                <a:ea typeface="Canva Sans Bold"/>
                <a:cs typeface="Canva Sans Bold"/>
                <a:sym typeface="Canva Sans Bold"/>
              </a:rPr>
              <a:t>88.6%</a:t>
            </a:r>
          </a:p>
        </p:txBody>
      </p:sp>
      <p:sp>
        <p:nvSpPr>
          <p:cNvPr name="TextBox 16" id="16"/>
          <p:cNvSpPr txBox="true"/>
          <p:nvPr/>
        </p:nvSpPr>
        <p:spPr>
          <a:xfrm rot="0">
            <a:off x="10253503" y="3338473"/>
            <a:ext cx="2964288" cy="207929"/>
          </a:xfrm>
          <a:prstGeom prst="rect">
            <a:avLst/>
          </a:prstGeom>
        </p:spPr>
        <p:txBody>
          <a:bodyPr anchor="t" rtlCol="false" tIns="0" lIns="0" bIns="0" rIns="0">
            <a:spAutoFit/>
          </a:bodyPr>
          <a:lstStyle/>
          <a:p>
            <a:pPr algn="ctr">
              <a:lnSpc>
                <a:spcPts val="1755"/>
              </a:lnSpc>
            </a:pPr>
            <a:r>
              <a:rPr lang="en-US" sz="1202">
                <a:solidFill>
                  <a:srgbClr val="FFFFFF"/>
                </a:solidFill>
                <a:latin typeface="Canva Sans"/>
                <a:ea typeface="Canva Sans"/>
                <a:cs typeface="Canva Sans"/>
                <a:sym typeface="Canva Sans"/>
              </a:rPr>
              <a:t>Average Cross-validation Accuracy</a:t>
            </a:r>
          </a:p>
        </p:txBody>
      </p:sp>
      <p:sp>
        <p:nvSpPr>
          <p:cNvPr name="TextBox 17" id="17"/>
          <p:cNvSpPr txBox="true"/>
          <p:nvPr/>
        </p:nvSpPr>
        <p:spPr>
          <a:xfrm rot="0">
            <a:off x="4255500" y="6283817"/>
            <a:ext cx="6286574" cy="353033"/>
          </a:xfrm>
          <a:prstGeom prst="rect">
            <a:avLst/>
          </a:prstGeom>
        </p:spPr>
        <p:txBody>
          <a:bodyPr anchor="t" rtlCol="false" tIns="0" lIns="0" bIns="0" rIns="0">
            <a:spAutoFit/>
          </a:bodyPr>
          <a:lstStyle/>
          <a:p>
            <a:pPr algn="ctr">
              <a:lnSpc>
                <a:spcPts val="2919"/>
              </a:lnSpc>
            </a:pPr>
            <a:r>
              <a:rPr lang="en-US" sz="1999">
                <a:solidFill>
                  <a:srgbClr val="FFFFFF"/>
                </a:solidFill>
                <a:latin typeface="Canva Sans"/>
                <a:ea typeface="Canva Sans"/>
                <a:cs typeface="Canva Sans"/>
                <a:sym typeface="Canva Sans"/>
              </a:rPr>
              <a:t>Average Cross-validationAccuracy</a:t>
            </a:r>
          </a:p>
        </p:txBody>
      </p:sp>
      <p:grpSp>
        <p:nvGrpSpPr>
          <p:cNvPr name="Group 18" id="18"/>
          <p:cNvGrpSpPr/>
          <p:nvPr/>
        </p:nvGrpSpPr>
        <p:grpSpPr>
          <a:xfrm rot="0">
            <a:off x="10053965" y="6913075"/>
            <a:ext cx="6880342" cy="2071714"/>
            <a:chOff x="0" y="0"/>
            <a:chExt cx="2080830" cy="626551"/>
          </a:xfrm>
        </p:grpSpPr>
        <p:sp>
          <p:nvSpPr>
            <p:cNvPr name="Freeform 19" id="19"/>
            <p:cNvSpPr/>
            <p:nvPr/>
          </p:nvSpPr>
          <p:spPr>
            <a:xfrm flipH="false" flipV="false" rot="0">
              <a:off x="0" y="0"/>
              <a:ext cx="2080830" cy="626551"/>
            </a:xfrm>
            <a:custGeom>
              <a:avLst/>
              <a:gdLst/>
              <a:ahLst/>
              <a:cxnLst/>
              <a:rect r="r" b="b" t="t" l="l"/>
              <a:pathLst>
                <a:path h="626551" w="2080830">
                  <a:moveTo>
                    <a:pt x="33757" y="0"/>
                  </a:moveTo>
                  <a:lnTo>
                    <a:pt x="2047073" y="0"/>
                  </a:lnTo>
                  <a:cubicBezTo>
                    <a:pt x="2056026" y="0"/>
                    <a:pt x="2064612" y="3556"/>
                    <a:pt x="2070943" y="9887"/>
                  </a:cubicBezTo>
                  <a:cubicBezTo>
                    <a:pt x="2077273" y="16218"/>
                    <a:pt x="2080830" y="24804"/>
                    <a:pt x="2080830" y="33757"/>
                  </a:cubicBezTo>
                  <a:lnTo>
                    <a:pt x="2080830" y="592794"/>
                  </a:lnTo>
                  <a:cubicBezTo>
                    <a:pt x="2080830" y="601747"/>
                    <a:pt x="2077273" y="610333"/>
                    <a:pt x="2070943" y="616664"/>
                  </a:cubicBezTo>
                  <a:cubicBezTo>
                    <a:pt x="2064612" y="622994"/>
                    <a:pt x="2056026" y="626551"/>
                    <a:pt x="2047073" y="626551"/>
                  </a:cubicBezTo>
                  <a:lnTo>
                    <a:pt x="33757" y="626551"/>
                  </a:lnTo>
                  <a:cubicBezTo>
                    <a:pt x="24804" y="626551"/>
                    <a:pt x="16218" y="622994"/>
                    <a:pt x="9887" y="616664"/>
                  </a:cubicBezTo>
                  <a:cubicBezTo>
                    <a:pt x="3556" y="610333"/>
                    <a:pt x="0" y="601747"/>
                    <a:pt x="0" y="592794"/>
                  </a:cubicBezTo>
                  <a:lnTo>
                    <a:pt x="0" y="33757"/>
                  </a:lnTo>
                  <a:cubicBezTo>
                    <a:pt x="0" y="24804"/>
                    <a:pt x="3556" y="16218"/>
                    <a:pt x="9887" y="9887"/>
                  </a:cubicBezTo>
                  <a:cubicBezTo>
                    <a:pt x="16218" y="3556"/>
                    <a:pt x="24804" y="0"/>
                    <a:pt x="33757" y="0"/>
                  </a:cubicBezTo>
                  <a:close/>
                </a:path>
              </a:pathLst>
            </a:custGeom>
            <a:solidFill>
              <a:srgbClr val="F9FAFC"/>
            </a:solidFill>
            <a:ln w="28575" cap="rnd">
              <a:solidFill>
                <a:srgbClr val="ECF0F6"/>
              </a:solidFill>
              <a:prstDash val="solid"/>
              <a:round/>
            </a:ln>
          </p:spPr>
        </p:sp>
        <p:sp>
          <p:nvSpPr>
            <p:cNvPr name="TextBox 20" id="20"/>
            <p:cNvSpPr txBox="true"/>
            <p:nvPr/>
          </p:nvSpPr>
          <p:spPr>
            <a:xfrm>
              <a:off x="0" y="-19050"/>
              <a:ext cx="2080830" cy="645601"/>
            </a:xfrm>
            <a:prstGeom prst="rect">
              <a:avLst/>
            </a:prstGeom>
          </p:spPr>
          <p:txBody>
            <a:bodyPr anchor="ctr" rtlCol="false" tIns="50800" lIns="50800" bIns="50800" rIns="50800"/>
            <a:lstStyle/>
            <a:p>
              <a:pPr algn="ctr">
                <a:lnSpc>
                  <a:spcPts val="1620"/>
                </a:lnSpc>
              </a:pPr>
            </a:p>
          </p:txBody>
        </p:sp>
      </p:grpSp>
      <p:sp>
        <p:nvSpPr>
          <p:cNvPr name="TextBox 21" id="21"/>
          <p:cNvSpPr txBox="true"/>
          <p:nvPr/>
        </p:nvSpPr>
        <p:spPr>
          <a:xfrm rot="0">
            <a:off x="10272210" y="7113100"/>
            <a:ext cx="6443852" cy="1871689"/>
          </a:xfrm>
          <a:prstGeom prst="rect">
            <a:avLst/>
          </a:prstGeom>
        </p:spPr>
        <p:txBody>
          <a:bodyPr anchor="t" rtlCol="false" tIns="0" lIns="0" bIns="0" rIns="0">
            <a:spAutoFit/>
          </a:bodyPr>
          <a:lstStyle/>
          <a:p>
            <a:pPr algn="ctr">
              <a:lnSpc>
                <a:spcPts val="2542"/>
              </a:lnSpc>
            </a:pPr>
            <a:r>
              <a:rPr lang="en-US" sz="1741" b="true">
                <a:solidFill>
                  <a:srgbClr val="000000"/>
                </a:solidFill>
                <a:latin typeface="Canva Sans Bold"/>
                <a:ea typeface="Canva Sans Bold"/>
                <a:cs typeface="Canva Sans Bold"/>
                <a:sym typeface="Canva Sans Bold"/>
              </a:rPr>
              <a:t>Model Parameters</a:t>
            </a:r>
          </a:p>
          <a:p>
            <a:pPr algn="l">
              <a:lnSpc>
                <a:spcPts val="2542"/>
              </a:lnSpc>
            </a:pPr>
          </a:p>
          <a:p>
            <a:pPr algn="l" marL="376035" indent="-188018" lvl="1">
              <a:lnSpc>
                <a:spcPts val="2542"/>
              </a:lnSpc>
              <a:buFont typeface="Arial"/>
              <a:buChar char="•"/>
            </a:pPr>
            <a:r>
              <a:rPr lang="en-US" sz="1741">
                <a:solidFill>
                  <a:srgbClr val="000000"/>
                </a:solidFill>
                <a:latin typeface="Canva Sans"/>
                <a:ea typeface="Canva Sans"/>
                <a:cs typeface="Canva Sans"/>
                <a:sym typeface="Canva Sans"/>
              </a:rPr>
              <a:t>300 estimators</a:t>
            </a:r>
          </a:p>
          <a:p>
            <a:pPr algn="l" marL="376035" indent="-188018" lvl="1">
              <a:lnSpc>
                <a:spcPts val="2542"/>
              </a:lnSpc>
              <a:buFont typeface="Arial"/>
              <a:buChar char="•"/>
            </a:pPr>
            <a:r>
              <a:rPr lang="en-US" sz="1741">
                <a:solidFill>
                  <a:srgbClr val="000000"/>
                </a:solidFill>
                <a:latin typeface="Canva Sans"/>
                <a:ea typeface="Canva Sans"/>
                <a:cs typeface="Canva Sans"/>
                <a:sym typeface="Canva Sans"/>
              </a:rPr>
              <a:t>max_depth 6</a:t>
            </a:r>
          </a:p>
          <a:p>
            <a:pPr algn="l" marL="376035" indent="-188018" lvl="1">
              <a:lnSpc>
                <a:spcPts val="2542"/>
              </a:lnSpc>
              <a:buFont typeface="Arial"/>
              <a:buChar char="•"/>
            </a:pPr>
            <a:r>
              <a:rPr lang="en-US" sz="1741">
                <a:solidFill>
                  <a:srgbClr val="000000"/>
                </a:solidFill>
                <a:latin typeface="Canva Sans"/>
                <a:ea typeface="Canva Sans"/>
                <a:cs typeface="Canva Sans"/>
                <a:sym typeface="Canva Sans"/>
              </a:rPr>
              <a:t>learning_rate 0.05.</a:t>
            </a:r>
          </a:p>
          <a:p>
            <a:pPr algn="l">
              <a:lnSpc>
                <a:spcPts val="2542"/>
              </a:lnSpc>
            </a:pPr>
          </a:p>
        </p:txBody>
      </p:sp>
      <p:grpSp>
        <p:nvGrpSpPr>
          <p:cNvPr name="Group 22" id="22"/>
          <p:cNvGrpSpPr/>
          <p:nvPr/>
        </p:nvGrpSpPr>
        <p:grpSpPr>
          <a:xfrm rot="0">
            <a:off x="9995590" y="4035134"/>
            <a:ext cx="6938717" cy="2601716"/>
            <a:chOff x="0" y="0"/>
            <a:chExt cx="1827481" cy="685226"/>
          </a:xfrm>
        </p:grpSpPr>
        <p:sp>
          <p:nvSpPr>
            <p:cNvPr name="Freeform 23" id="23"/>
            <p:cNvSpPr/>
            <p:nvPr/>
          </p:nvSpPr>
          <p:spPr>
            <a:xfrm flipH="false" flipV="false" rot="0">
              <a:off x="0" y="0"/>
              <a:ext cx="1827481" cy="685226"/>
            </a:xfrm>
            <a:custGeom>
              <a:avLst/>
              <a:gdLst/>
              <a:ahLst/>
              <a:cxnLst/>
              <a:rect r="r" b="b" t="t" l="l"/>
              <a:pathLst>
                <a:path h="685226" w="1827481">
                  <a:moveTo>
                    <a:pt x="33473" y="0"/>
                  </a:moveTo>
                  <a:lnTo>
                    <a:pt x="1794008" y="0"/>
                  </a:lnTo>
                  <a:cubicBezTo>
                    <a:pt x="1812495" y="0"/>
                    <a:pt x="1827481" y="14986"/>
                    <a:pt x="1827481" y="33473"/>
                  </a:cubicBezTo>
                  <a:lnTo>
                    <a:pt x="1827481" y="651753"/>
                  </a:lnTo>
                  <a:cubicBezTo>
                    <a:pt x="1827481" y="660630"/>
                    <a:pt x="1823955" y="669144"/>
                    <a:pt x="1817677" y="675422"/>
                  </a:cubicBezTo>
                  <a:cubicBezTo>
                    <a:pt x="1811400" y="681699"/>
                    <a:pt x="1802886" y="685226"/>
                    <a:pt x="1794008" y="685226"/>
                  </a:cubicBezTo>
                  <a:lnTo>
                    <a:pt x="33473" y="685226"/>
                  </a:lnTo>
                  <a:cubicBezTo>
                    <a:pt x="14986" y="685226"/>
                    <a:pt x="0" y="670239"/>
                    <a:pt x="0" y="651753"/>
                  </a:cubicBezTo>
                  <a:lnTo>
                    <a:pt x="0" y="33473"/>
                  </a:lnTo>
                  <a:cubicBezTo>
                    <a:pt x="0" y="14986"/>
                    <a:pt x="14986" y="0"/>
                    <a:pt x="33473" y="0"/>
                  </a:cubicBezTo>
                  <a:close/>
                </a:path>
              </a:pathLst>
            </a:custGeom>
            <a:solidFill>
              <a:srgbClr val="F9FAFC"/>
            </a:solidFill>
            <a:ln w="28575" cap="rnd">
              <a:solidFill>
                <a:srgbClr val="ECF0F6"/>
              </a:solidFill>
              <a:prstDash val="solid"/>
              <a:round/>
            </a:ln>
          </p:spPr>
        </p:sp>
        <p:sp>
          <p:nvSpPr>
            <p:cNvPr name="TextBox 24" id="24"/>
            <p:cNvSpPr txBox="true"/>
            <p:nvPr/>
          </p:nvSpPr>
          <p:spPr>
            <a:xfrm>
              <a:off x="0" y="-19050"/>
              <a:ext cx="1827481" cy="704276"/>
            </a:xfrm>
            <a:prstGeom prst="rect">
              <a:avLst/>
            </a:prstGeom>
          </p:spPr>
          <p:txBody>
            <a:bodyPr anchor="ctr" rtlCol="false" tIns="50800" lIns="50800" bIns="50800" rIns="50800"/>
            <a:lstStyle/>
            <a:p>
              <a:pPr algn="ctr">
                <a:lnSpc>
                  <a:spcPts val="1620"/>
                </a:lnSpc>
              </a:pPr>
            </a:p>
          </p:txBody>
        </p:sp>
      </p:grpSp>
      <p:sp>
        <p:nvSpPr>
          <p:cNvPr name="TextBox 25" id="25"/>
          <p:cNvSpPr txBox="true"/>
          <p:nvPr/>
        </p:nvSpPr>
        <p:spPr>
          <a:xfrm rot="0">
            <a:off x="10266883" y="4321510"/>
            <a:ext cx="6286574" cy="2312289"/>
          </a:xfrm>
          <a:prstGeom prst="rect">
            <a:avLst/>
          </a:prstGeom>
        </p:spPr>
        <p:txBody>
          <a:bodyPr anchor="t" rtlCol="false" tIns="0" lIns="0" bIns="0" rIns="0">
            <a:spAutoFit/>
          </a:bodyPr>
          <a:lstStyle/>
          <a:p>
            <a:pPr algn="ctr">
              <a:lnSpc>
                <a:spcPts val="2628"/>
              </a:lnSpc>
            </a:pPr>
            <a:r>
              <a:rPr lang="en-US" sz="1800" b="true">
                <a:solidFill>
                  <a:srgbClr val="000000"/>
                </a:solidFill>
                <a:latin typeface="Canva Sans Bold"/>
                <a:ea typeface="Canva Sans Bold"/>
                <a:cs typeface="Canva Sans Bold"/>
                <a:sym typeface="Canva Sans Bold"/>
              </a:rPr>
              <a:t>Feature Importance Insights</a:t>
            </a:r>
          </a:p>
          <a:p>
            <a:pPr algn="l">
              <a:lnSpc>
                <a:spcPts val="2628"/>
              </a:lnSpc>
            </a:pPr>
          </a:p>
          <a:p>
            <a:pPr algn="ctr">
              <a:lnSpc>
                <a:spcPts val="2628"/>
              </a:lnSpc>
            </a:pPr>
            <a:r>
              <a:rPr lang="en-US" sz="1800">
                <a:solidFill>
                  <a:srgbClr val="000000"/>
                </a:solidFill>
                <a:latin typeface="Canva Sans"/>
                <a:ea typeface="Canva Sans"/>
                <a:cs typeface="Canva Sans"/>
                <a:sym typeface="Canva Sans"/>
              </a:rPr>
              <a:t>The </a:t>
            </a:r>
            <a:r>
              <a:rPr lang="en-US" sz="1800" b="true">
                <a:solidFill>
                  <a:srgbClr val="00A982"/>
                </a:solidFill>
                <a:latin typeface="Canva Sans Bold"/>
                <a:ea typeface="Canva Sans Bold"/>
                <a:cs typeface="Canva Sans Bold"/>
                <a:sym typeface="Canva Sans Bold"/>
              </a:rPr>
              <a:t>Uplo</a:t>
            </a:r>
            <a:r>
              <a:rPr lang="en-US" sz="1800" b="true">
                <a:solidFill>
                  <a:srgbClr val="00A982"/>
                </a:solidFill>
                <a:latin typeface="Canva Sans Bold"/>
                <a:ea typeface="Canva Sans Bold"/>
                <a:cs typeface="Canva Sans Bold"/>
                <a:sym typeface="Canva Sans Bold"/>
              </a:rPr>
              <a:t>ad Ratio (0.438)</a:t>
            </a:r>
            <a:r>
              <a:rPr lang="en-US" sz="1800">
                <a:solidFill>
                  <a:srgbClr val="000000"/>
                </a:solidFill>
                <a:latin typeface="Canva Sans"/>
                <a:ea typeface="Canva Sans"/>
                <a:cs typeface="Canva Sans"/>
                <a:sym typeface="Canva Sans"/>
              </a:rPr>
              <a:t> emerged as the single most critical predictor, successfully distinguishing heavily asymmetrical data downloads from symmetrical background web traffic, despite full payload encryption.</a:t>
            </a:r>
          </a:p>
          <a:p>
            <a:pPr algn="l">
              <a:lnSpc>
                <a:spcPts val="2628"/>
              </a:lnSpc>
            </a:pPr>
          </a:p>
        </p:txBody>
      </p:sp>
      <p:sp>
        <p:nvSpPr>
          <p:cNvPr name="Freeform 26" id="26"/>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5"/>
            <a:stretch>
              <a:fillRect l="0" t="0" r="0" b="0"/>
            </a:stretch>
          </a:blipFill>
        </p:spPr>
      </p:sp>
      <p:grpSp>
        <p:nvGrpSpPr>
          <p:cNvPr name="Group 27" id="27"/>
          <p:cNvGrpSpPr/>
          <p:nvPr/>
        </p:nvGrpSpPr>
        <p:grpSpPr>
          <a:xfrm rot="0">
            <a:off x="13570941" y="2628767"/>
            <a:ext cx="3363366" cy="1172143"/>
            <a:chOff x="0" y="0"/>
            <a:chExt cx="1767878" cy="616110"/>
          </a:xfrm>
        </p:grpSpPr>
        <p:sp>
          <p:nvSpPr>
            <p:cNvPr name="Freeform 28" id="28"/>
            <p:cNvSpPr/>
            <p:nvPr/>
          </p:nvSpPr>
          <p:spPr>
            <a:xfrm flipH="false" flipV="false" rot="0">
              <a:off x="0" y="0"/>
              <a:ext cx="1767878" cy="616110"/>
            </a:xfrm>
            <a:custGeom>
              <a:avLst/>
              <a:gdLst/>
              <a:ahLst/>
              <a:cxnLst/>
              <a:rect r="r" b="b" t="t" l="l"/>
              <a:pathLst>
                <a:path h="616110" w="1767878">
                  <a:moveTo>
                    <a:pt x="69055" y="0"/>
                  </a:moveTo>
                  <a:lnTo>
                    <a:pt x="1698822" y="0"/>
                  </a:lnTo>
                  <a:cubicBezTo>
                    <a:pt x="1736960" y="0"/>
                    <a:pt x="1767878" y="30917"/>
                    <a:pt x="1767878" y="69055"/>
                  </a:cubicBezTo>
                  <a:lnTo>
                    <a:pt x="1767878" y="547055"/>
                  </a:lnTo>
                  <a:cubicBezTo>
                    <a:pt x="1767878" y="565370"/>
                    <a:pt x="1760602" y="582934"/>
                    <a:pt x="1747652" y="595885"/>
                  </a:cubicBezTo>
                  <a:cubicBezTo>
                    <a:pt x="1734701" y="608835"/>
                    <a:pt x="1717137" y="616110"/>
                    <a:pt x="1698822" y="616110"/>
                  </a:cubicBezTo>
                  <a:lnTo>
                    <a:pt x="69055" y="616110"/>
                  </a:lnTo>
                  <a:cubicBezTo>
                    <a:pt x="30917" y="616110"/>
                    <a:pt x="0" y="585193"/>
                    <a:pt x="0" y="547055"/>
                  </a:cubicBezTo>
                  <a:lnTo>
                    <a:pt x="0" y="69055"/>
                  </a:lnTo>
                  <a:cubicBezTo>
                    <a:pt x="0" y="50741"/>
                    <a:pt x="7275" y="33176"/>
                    <a:pt x="20226" y="20226"/>
                  </a:cubicBezTo>
                  <a:cubicBezTo>
                    <a:pt x="33176" y="7275"/>
                    <a:pt x="50741" y="0"/>
                    <a:pt x="69055" y="0"/>
                  </a:cubicBezTo>
                  <a:close/>
                </a:path>
              </a:pathLst>
            </a:custGeom>
            <a:solidFill>
              <a:srgbClr val="01A982"/>
            </a:solidFill>
          </p:spPr>
        </p:sp>
        <p:sp>
          <p:nvSpPr>
            <p:cNvPr name="TextBox 29" id="29"/>
            <p:cNvSpPr txBox="true"/>
            <p:nvPr/>
          </p:nvSpPr>
          <p:spPr>
            <a:xfrm>
              <a:off x="0" y="-19050"/>
              <a:ext cx="1767878" cy="635160"/>
            </a:xfrm>
            <a:prstGeom prst="rect">
              <a:avLst/>
            </a:prstGeom>
          </p:spPr>
          <p:txBody>
            <a:bodyPr anchor="ctr" rtlCol="false" tIns="50800" lIns="50800" bIns="50800" rIns="50800"/>
            <a:lstStyle/>
            <a:p>
              <a:pPr algn="ctr">
                <a:lnSpc>
                  <a:spcPts val="1620"/>
                </a:lnSpc>
              </a:pPr>
            </a:p>
          </p:txBody>
        </p:sp>
      </p:grpSp>
      <p:sp>
        <p:nvSpPr>
          <p:cNvPr name="TextBox 30" id="30"/>
          <p:cNvSpPr txBox="true"/>
          <p:nvPr/>
        </p:nvSpPr>
        <p:spPr>
          <a:xfrm rot="0">
            <a:off x="14637508" y="2792429"/>
            <a:ext cx="1343628" cy="521363"/>
          </a:xfrm>
          <a:prstGeom prst="rect">
            <a:avLst/>
          </a:prstGeom>
        </p:spPr>
        <p:txBody>
          <a:bodyPr anchor="t" rtlCol="false" tIns="0" lIns="0" bIns="0" rIns="0">
            <a:spAutoFit/>
          </a:bodyPr>
          <a:lstStyle/>
          <a:p>
            <a:pPr algn="ctr">
              <a:lnSpc>
                <a:spcPts val="4374"/>
              </a:lnSpc>
            </a:pPr>
            <a:r>
              <a:rPr lang="en-US" b="true" sz="2996">
                <a:solidFill>
                  <a:srgbClr val="FFFFFF"/>
                </a:solidFill>
                <a:latin typeface="Canva Sans Bold"/>
                <a:ea typeface="Canva Sans Bold"/>
                <a:cs typeface="Canva Sans Bold"/>
                <a:sym typeface="Canva Sans Bold"/>
              </a:rPr>
              <a:t>0.7886</a:t>
            </a:r>
          </a:p>
        </p:txBody>
      </p:sp>
      <p:sp>
        <p:nvSpPr>
          <p:cNvPr name="TextBox 31" id="31"/>
          <p:cNvSpPr txBox="true"/>
          <p:nvPr/>
        </p:nvSpPr>
        <p:spPr>
          <a:xfrm rot="0">
            <a:off x="14026716" y="3338473"/>
            <a:ext cx="2565211" cy="207929"/>
          </a:xfrm>
          <a:prstGeom prst="rect">
            <a:avLst/>
          </a:prstGeom>
        </p:spPr>
        <p:txBody>
          <a:bodyPr anchor="t" rtlCol="false" tIns="0" lIns="0" bIns="0" rIns="0">
            <a:spAutoFit/>
          </a:bodyPr>
          <a:lstStyle/>
          <a:p>
            <a:pPr algn="ctr">
              <a:lnSpc>
                <a:spcPts val="1755"/>
              </a:lnSpc>
            </a:pPr>
            <a:r>
              <a:rPr lang="en-US" sz="1202">
                <a:solidFill>
                  <a:srgbClr val="FFFFFF"/>
                </a:solidFill>
                <a:latin typeface="Canva Sans"/>
                <a:ea typeface="Canva Sans"/>
                <a:cs typeface="Canva Sans"/>
                <a:sym typeface="Canva Sans"/>
              </a:rPr>
              <a:t>Average Macro F1</a:t>
            </a:r>
          </a:p>
        </p:txBody>
      </p:sp>
      <p:sp>
        <p:nvSpPr>
          <p:cNvPr name="Freeform 32" id="32"/>
          <p:cNvSpPr/>
          <p:nvPr/>
        </p:nvSpPr>
        <p:spPr>
          <a:xfrm flipH="false" flipV="false" rot="0">
            <a:off x="283275" y="2863614"/>
            <a:ext cx="9157277" cy="6138788"/>
          </a:xfrm>
          <a:custGeom>
            <a:avLst/>
            <a:gdLst/>
            <a:ahLst/>
            <a:cxnLst/>
            <a:rect r="r" b="b" t="t" l="l"/>
            <a:pathLst>
              <a:path h="6138788" w="9157277">
                <a:moveTo>
                  <a:pt x="0" y="0"/>
                </a:moveTo>
                <a:lnTo>
                  <a:pt x="9157277" y="0"/>
                </a:lnTo>
                <a:lnTo>
                  <a:pt x="9157277" y="6138788"/>
                </a:lnTo>
                <a:lnTo>
                  <a:pt x="0" y="6138788"/>
                </a:lnTo>
                <a:lnTo>
                  <a:pt x="0" y="0"/>
                </a:lnTo>
                <a:close/>
              </a:path>
            </a:pathLst>
          </a:custGeom>
          <a:blipFill>
            <a:blip r:embed="rId6"/>
            <a:stretch>
              <a:fillRect l="0" t="0" r="-13984" b="0"/>
            </a:stretch>
          </a:blipFill>
        </p:spPr>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15</a:t>
              </a:r>
            </a:p>
          </p:txBody>
        </p:sp>
      </p:grpSp>
      <p:sp>
        <p:nvSpPr>
          <p:cNvPr name="AutoShape 7" id="7"/>
          <p:cNvSpPr/>
          <p:nvPr/>
        </p:nvSpPr>
        <p:spPr>
          <a:xfrm>
            <a:off x="3861146" y="2206313"/>
            <a:ext cx="10349659" cy="0"/>
          </a:xfrm>
          <a:prstGeom prst="line">
            <a:avLst/>
          </a:prstGeom>
          <a:ln cap="rnd" w="123825">
            <a:solidFill>
              <a:srgbClr val="00A982"/>
            </a:solidFill>
            <a:prstDash val="solid"/>
            <a:headEnd type="none" len="sm" w="sm"/>
            <a:tailEnd type="none" len="sm" w="sm"/>
          </a:ln>
        </p:spPr>
      </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1" id="11"/>
          <p:cNvSpPr/>
          <p:nvPr/>
        </p:nvSpPr>
        <p:spPr>
          <a:xfrm flipH="false" flipV="false" rot="0">
            <a:off x="13864148" y="7004349"/>
            <a:ext cx="3843412" cy="1314178"/>
          </a:xfrm>
          <a:custGeom>
            <a:avLst/>
            <a:gdLst/>
            <a:ahLst/>
            <a:cxnLst/>
            <a:rect r="r" b="b" t="t" l="l"/>
            <a:pathLst>
              <a:path h="1314178" w="3843412">
                <a:moveTo>
                  <a:pt x="0" y="0"/>
                </a:moveTo>
                <a:lnTo>
                  <a:pt x="3843412" y="0"/>
                </a:lnTo>
                <a:lnTo>
                  <a:pt x="3843412" y="1314178"/>
                </a:lnTo>
                <a:lnTo>
                  <a:pt x="0" y="1314178"/>
                </a:lnTo>
                <a:lnTo>
                  <a:pt x="0" y="0"/>
                </a:lnTo>
                <a:close/>
              </a:path>
            </a:pathLst>
          </a:custGeom>
          <a:blipFill>
            <a:blip r:embed="rId5"/>
            <a:stretch>
              <a:fillRect l="0" t="0" r="-43216" b="0"/>
            </a:stretch>
          </a:blipFill>
        </p:spPr>
      </p:sp>
      <p:sp>
        <p:nvSpPr>
          <p:cNvPr name="Freeform 12" id="12"/>
          <p:cNvSpPr/>
          <p:nvPr/>
        </p:nvSpPr>
        <p:spPr>
          <a:xfrm flipH="false" flipV="false" rot="0">
            <a:off x="1693943" y="9557093"/>
            <a:ext cx="2563648" cy="319081"/>
          </a:xfrm>
          <a:custGeom>
            <a:avLst/>
            <a:gdLst/>
            <a:ahLst/>
            <a:cxnLst/>
            <a:rect r="r" b="b" t="t" l="l"/>
            <a:pathLst>
              <a:path h="319081" w="2563648">
                <a:moveTo>
                  <a:pt x="0" y="0"/>
                </a:moveTo>
                <a:lnTo>
                  <a:pt x="2563649" y="0"/>
                </a:lnTo>
                <a:lnTo>
                  <a:pt x="2563649" y="319081"/>
                </a:lnTo>
                <a:lnTo>
                  <a:pt x="0" y="319081"/>
                </a:lnTo>
                <a:lnTo>
                  <a:pt x="0" y="0"/>
                </a:lnTo>
                <a:close/>
              </a:path>
            </a:pathLst>
          </a:custGeom>
          <a:blipFill>
            <a:blip r:embed="rId6"/>
            <a:stretch>
              <a:fillRect l="0" t="0" r="0" b="0"/>
            </a:stretch>
          </a:blipFill>
        </p:spPr>
      </p:sp>
      <p:sp>
        <p:nvSpPr>
          <p:cNvPr name="Freeform 13" id="13"/>
          <p:cNvSpPr/>
          <p:nvPr/>
        </p:nvSpPr>
        <p:spPr>
          <a:xfrm flipH="false" flipV="false" rot="0">
            <a:off x="13894995" y="3370077"/>
            <a:ext cx="3819771" cy="1599186"/>
          </a:xfrm>
          <a:custGeom>
            <a:avLst/>
            <a:gdLst/>
            <a:ahLst/>
            <a:cxnLst/>
            <a:rect r="r" b="b" t="t" l="l"/>
            <a:pathLst>
              <a:path h="1599186" w="3819771">
                <a:moveTo>
                  <a:pt x="0" y="0"/>
                </a:moveTo>
                <a:lnTo>
                  <a:pt x="3819771" y="0"/>
                </a:lnTo>
                <a:lnTo>
                  <a:pt x="3819771" y="1599186"/>
                </a:lnTo>
                <a:lnTo>
                  <a:pt x="0" y="1599186"/>
                </a:lnTo>
                <a:lnTo>
                  <a:pt x="0" y="0"/>
                </a:lnTo>
                <a:close/>
              </a:path>
            </a:pathLst>
          </a:custGeom>
          <a:blipFill>
            <a:blip r:embed="rId7"/>
            <a:stretch>
              <a:fillRect l="0" t="0" r="-78409" b="0"/>
            </a:stretch>
          </a:blipFill>
        </p:spPr>
      </p:sp>
      <p:sp>
        <p:nvSpPr>
          <p:cNvPr name="TextBox 14" id="14"/>
          <p:cNvSpPr txBox="true"/>
          <p:nvPr/>
        </p:nvSpPr>
        <p:spPr>
          <a:xfrm rot="0">
            <a:off x="1693943" y="923925"/>
            <a:ext cx="14592499" cy="863587"/>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Dynamic QoS Policing </a:t>
            </a:r>
          </a:p>
        </p:txBody>
      </p:sp>
      <p:sp>
        <p:nvSpPr>
          <p:cNvPr name="TextBox 15" id="15"/>
          <p:cNvSpPr txBox="true"/>
          <p:nvPr/>
        </p:nvSpPr>
        <p:spPr>
          <a:xfrm rot="0">
            <a:off x="957834" y="2820676"/>
            <a:ext cx="12573118" cy="1943154"/>
          </a:xfrm>
          <a:prstGeom prst="rect">
            <a:avLst/>
          </a:prstGeom>
        </p:spPr>
        <p:txBody>
          <a:bodyPr anchor="t" rtlCol="false" tIns="0" lIns="0" bIns="0" rIns="0">
            <a:spAutoFit/>
          </a:bodyPr>
          <a:lstStyle/>
          <a:p>
            <a:pPr algn="l">
              <a:lnSpc>
                <a:spcPts val="2853"/>
              </a:lnSpc>
            </a:pPr>
            <a:r>
              <a:rPr lang="en-US" sz="2377" b="true">
                <a:solidFill>
                  <a:srgbClr val="292D3A"/>
                </a:solidFill>
                <a:latin typeface="Canva Sans Bold"/>
                <a:ea typeface="Canva Sans Bold"/>
                <a:cs typeface="Canva Sans Bold"/>
                <a:sym typeface="Canva Sans Bold"/>
              </a:rPr>
              <a:t>Pha</a:t>
            </a:r>
            <a:r>
              <a:rPr lang="en-US" b="true" sz="2377">
                <a:solidFill>
                  <a:srgbClr val="292D3A"/>
                </a:solidFill>
                <a:latin typeface="Canva Sans Bold"/>
                <a:ea typeface="Canva Sans Bold"/>
                <a:cs typeface="Canva Sans Bold"/>
                <a:sym typeface="Canva Sans Bold"/>
              </a:rPr>
              <a:t>se 1: Initial State</a:t>
            </a:r>
          </a:p>
          <a:p>
            <a:pPr algn="l">
              <a:lnSpc>
                <a:spcPts val="2400"/>
              </a:lnSpc>
            </a:pPr>
            <a:r>
              <a:rPr lang="en-US" sz="2000">
                <a:solidFill>
                  <a:srgbClr val="292D3A"/>
                </a:solidFill>
                <a:latin typeface="Canva Sans"/>
                <a:ea typeface="Canva Sans"/>
                <a:cs typeface="Canva Sans"/>
                <a:sym typeface="Canva Sans"/>
              </a:rPr>
              <a:t>When the system starts, we create 4 HTB queues on the switch egress port (s1-eth2): Default, Video, Data, and Web. But only the Default queue is active. A catch-all OpenFlow rule (priority 1) sends all traffic to this queue. Since no flows are classified yet, every packet goes through Default and gets equal treatment — first come, first served, full 10 Mbps available.</a:t>
            </a:r>
          </a:p>
          <a:p>
            <a:pPr algn="l">
              <a:lnSpc>
                <a:spcPts val="2853"/>
              </a:lnSpc>
            </a:pPr>
          </a:p>
        </p:txBody>
      </p:sp>
      <p:sp>
        <p:nvSpPr>
          <p:cNvPr name="TextBox 16" id="16"/>
          <p:cNvSpPr txBox="true"/>
          <p:nvPr/>
        </p:nvSpPr>
        <p:spPr>
          <a:xfrm rot="0">
            <a:off x="957834" y="4763830"/>
            <a:ext cx="12573118" cy="1886058"/>
          </a:xfrm>
          <a:prstGeom prst="rect">
            <a:avLst/>
          </a:prstGeom>
        </p:spPr>
        <p:txBody>
          <a:bodyPr anchor="t" rtlCol="false" tIns="0" lIns="0" bIns="0" rIns="0">
            <a:spAutoFit/>
          </a:bodyPr>
          <a:lstStyle/>
          <a:p>
            <a:pPr algn="l">
              <a:lnSpc>
                <a:spcPts val="2853"/>
              </a:lnSpc>
            </a:pPr>
            <a:r>
              <a:rPr lang="en-US" sz="2377" b="true">
                <a:solidFill>
                  <a:srgbClr val="292D3A"/>
                </a:solidFill>
                <a:latin typeface="Canva Sans Bold"/>
                <a:ea typeface="Canva Sans Bold"/>
                <a:cs typeface="Canva Sans Bold"/>
                <a:sym typeface="Canva Sans Bold"/>
              </a:rPr>
              <a:t>Phase 2: Flow Gets Classified — OpenF</a:t>
            </a:r>
            <a:r>
              <a:rPr lang="en-US" b="true" sz="2377">
                <a:solidFill>
                  <a:srgbClr val="292D3A"/>
                </a:solidFill>
                <a:latin typeface="Canva Sans Bold"/>
                <a:ea typeface="Canva Sans Bold"/>
                <a:cs typeface="Canva Sans Bold"/>
                <a:sym typeface="Canva Sans Bold"/>
              </a:rPr>
              <a:t>low Rule Installed</a:t>
            </a:r>
          </a:p>
          <a:p>
            <a:pPr algn="l">
              <a:lnSpc>
                <a:spcPts val="2400"/>
              </a:lnSpc>
            </a:pPr>
            <a:r>
              <a:rPr lang="en-US" sz="2000">
                <a:solidFill>
                  <a:srgbClr val="292D3A"/>
                </a:solidFill>
                <a:latin typeface="Canva Sans"/>
                <a:ea typeface="Canva Sans"/>
                <a:cs typeface="Canva Sans"/>
                <a:sym typeface="Canva Sans"/>
              </a:rPr>
              <a:t>When the ML model predicts a flow's class (say Video), we install a specific OpenFlow rule (priority 100) that matches that flow's 5-tuple (src IP, dst IP, src port, dst port, UDP) and enqueues it into the Video queue (Queue 1). This rule has higher priority than the default, so OVS matches it first. From this point, every packet of that flow goes into the Video queue instead of Default.</a:t>
            </a:r>
          </a:p>
          <a:p>
            <a:pPr algn="l">
              <a:lnSpc>
                <a:spcPts val="2400"/>
              </a:lnSpc>
            </a:pPr>
          </a:p>
        </p:txBody>
      </p:sp>
      <p:sp>
        <p:nvSpPr>
          <p:cNvPr name="TextBox 17" id="17"/>
          <p:cNvSpPr txBox="true"/>
          <p:nvPr/>
        </p:nvSpPr>
        <p:spPr>
          <a:xfrm rot="0">
            <a:off x="957834" y="6766021"/>
            <a:ext cx="12573118" cy="1886058"/>
          </a:xfrm>
          <a:prstGeom prst="rect">
            <a:avLst/>
          </a:prstGeom>
        </p:spPr>
        <p:txBody>
          <a:bodyPr anchor="t" rtlCol="false" tIns="0" lIns="0" bIns="0" rIns="0">
            <a:spAutoFit/>
          </a:bodyPr>
          <a:lstStyle/>
          <a:p>
            <a:pPr algn="l">
              <a:lnSpc>
                <a:spcPts val="2853"/>
              </a:lnSpc>
            </a:pPr>
            <a:r>
              <a:rPr lang="en-US" sz="2377" b="true">
                <a:solidFill>
                  <a:srgbClr val="292D3A"/>
                </a:solidFill>
                <a:latin typeface="Canva Sans Bold"/>
                <a:ea typeface="Canva Sans Bold"/>
                <a:cs typeface="Canva Sans Bold"/>
                <a:sym typeface="Canva Sans Bold"/>
              </a:rPr>
              <a:t>Phase 3: Bandwidth Rebalances Automatically</a:t>
            </a:r>
          </a:p>
          <a:p>
            <a:pPr algn="l">
              <a:lnSpc>
                <a:spcPts val="2400"/>
              </a:lnSpc>
            </a:pPr>
            <a:r>
              <a:rPr lang="en-US" sz="2000">
                <a:solidFill>
                  <a:srgbClr val="292D3A"/>
                </a:solidFill>
                <a:latin typeface="Canva Sans"/>
                <a:ea typeface="Canva Sans"/>
                <a:cs typeface="Canva Sans"/>
                <a:sym typeface="Canva Sans"/>
              </a:rPr>
              <a:t>Each queue has a weight — Video: 4, Data: 2, Web: 1, Default: 1. When a new class becomes active for the first time, we recalculate every queue's guaranteed minimum bandwidth using weighted fair share. For example, if only Video and Data are active: Video gets 4/6 of 10 Mbps (~6.6 Mbps min), Data gets 2/6 (~3.3 Mbps min). Default gets whatever is left. Every queue can still burst up to the full 10 Mbps when others are idle. These rates are pushed to the OVS kernel in real time via ovs-vsctl.</a:t>
            </a:r>
          </a:p>
        </p:txBody>
      </p:sp>
      <p:sp>
        <p:nvSpPr>
          <p:cNvPr name="AutoShape 18" id="18"/>
          <p:cNvSpPr/>
          <p:nvPr/>
        </p:nvSpPr>
        <p:spPr>
          <a:xfrm flipH="true">
            <a:off x="15785854" y="4969263"/>
            <a:ext cx="19027" cy="1710368"/>
          </a:xfrm>
          <a:prstGeom prst="line">
            <a:avLst/>
          </a:prstGeom>
          <a:ln cap="flat" w="38100">
            <a:solidFill>
              <a:srgbClr val="00A982"/>
            </a:solidFill>
            <a:prstDash val="solid"/>
            <a:headEnd type="none" len="sm" w="sm"/>
            <a:tailEnd type="triangle" len="med" w="lg"/>
          </a:ln>
        </p:spPr>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15</a:t>
              </a: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0" id="10"/>
          <p:cNvSpPr/>
          <p:nvPr/>
        </p:nvSpPr>
        <p:spPr>
          <a:xfrm flipH="false" flipV="false" rot="0">
            <a:off x="1693943" y="9557093"/>
            <a:ext cx="2563648" cy="319081"/>
          </a:xfrm>
          <a:custGeom>
            <a:avLst/>
            <a:gdLst/>
            <a:ahLst/>
            <a:cxnLst/>
            <a:rect r="r" b="b" t="t" l="l"/>
            <a:pathLst>
              <a:path h="319081" w="2563648">
                <a:moveTo>
                  <a:pt x="0" y="0"/>
                </a:moveTo>
                <a:lnTo>
                  <a:pt x="2563649" y="0"/>
                </a:lnTo>
                <a:lnTo>
                  <a:pt x="2563649" y="319081"/>
                </a:lnTo>
                <a:lnTo>
                  <a:pt x="0" y="319081"/>
                </a:lnTo>
                <a:lnTo>
                  <a:pt x="0" y="0"/>
                </a:lnTo>
                <a:close/>
              </a:path>
            </a:pathLst>
          </a:custGeom>
          <a:blipFill>
            <a:blip r:embed="rId5"/>
            <a:stretch>
              <a:fillRect l="0" t="0" r="0" b="0"/>
            </a:stretch>
          </a:blipFill>
        </p:spPr>
      </p:sp>
      <p:sp>
        <p:nvSpPr>
          <p:cNvPr name="Freeform 11" id="11"/>
          <p:cNvSpPr/>
          <p:nvPr/>
        </p:nvSpPr>
        <p:spPr>
          <a:xfrm flipH="false" flipV="false" rot="0">
            <a:off x="1439278" y="926916"/>
            <a:ext cx="15409444" cy="8433168"/>
          </a:xfrm>
          <a:custGeom>
            <a:avLst/>
            <a:gdLst/>
            <a:ahLst/>
            <a:cxnLst/>
            <a:rect r="r" b="b" t="t" l="l"/>
            <a:pathLst>
              <a:path h="8433168" w="15409444">
                <a:moveTo>
                  <a:pt x="0" y="0"/>
                </a:moveTo>
                <a:lnTo>
                  <a:pt x="15409444" y="0"/>
                </a:lnTo>
                <a:lnTo>
                  <a:pt x="15409444" y="8433168"/>
                </a:lnTo>
                <a:lnTo>
                  <a:pt x="0" y="84331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5388839" y="1415613"/>
            <a:ext cx="10649085" cy="1292434"/>
            <a:chOff x="0" y="0"/>
            <a:chExt cx="2804697" cy="340394"/>
          </a:xfrm>
        </p:grpSpPr>
        <p:sp>
          <p:nvSpPr>
            <p:cNvPr name="Freeform 13" id="13"/>
            <p:cNvSpPr/>
            <p:nvPr/>
          </p:nvSpPr>
          <p:spPr>
            <a:xfrm flipH="false" flipV="false" rot="0">
              <a:off x="0" y="0"/>
              <a:ext cx="2804697" cy="340394"/>
            </a:xfrm>
            <a:custGeom>
              <a:avLst/>
              <a:gdLst/>
              <a:ahLst/>
              <a:cxnLst/>
              <a:rect r="r" b="b" t="t" l="l"/>
              <a:pathLst>
                <a:path h="340394" w="2804697">
                  <a:moveTo>
                    <a:pt x="0" y="0"/>
                  </a:moveTo>
                  <a:lnTo>
                    <a:pt x="2804697" y="0"/>
                  </a:lnTo>
                  <a:lnTo>
                    <a:pt x="2804697" y="340394"/>
                  </a:lnTo>
                  <a:lnTo>
                    <a:pt x="0" y="340394"/>
                  </a:lnTo>
                  <a:close/>
                </a:path>
              </a:pathLst>
            </a:custGeom>
            <a:solidFill>
              <a:srgbClr val="FFFFFF"/>
            </a:solidFill>
            <a:ln w="9525" cap="sq">
              <a:solidFill>
                <a:srgbClr val="000000"/>
              </a:solidFill>
              <a:prstDash val="solid"/>
              <a:miter/>
            </a:ln>
          </p:spPr>
        </p:sp>
        <p:sp>
          <p:nvSpPr>
            <p:cNvPr name="TextBox 14" id="14"/>
            <p:cNvSpPr txBox="true"/>
            <p:nvPr/>
          </p:nvSpPr>
          <p:spPr>
            <a:xfrm>
              <a:off x="0" y="-19050"/>
              <a:ext cx="2804697" cy="359444"/>
            </a:xfrm>
            <a:prstGeom prst="rect">
              <a:avLst/>
            </a:prstGeom>
          </p:spPr>
          <p:txBody>
            <a:bodyPr anchor="ctr" rtlCol="false" tIns="50800" lIns="50800" bIns="50800" rIns="50800"/>
            <a:lstStyle/>
            <a:p>
              <a:pPr algn="ctr">
                <a:lnSpc>
                  <a:spcPts val="3299"/>
                </a:lnSpc>
              </a:pPr>
            </a:p>
          </p:txBody>
        </p:sp>
      </p:grpSp>
      <p:sp>
        <p:nvSpPr>
          <p:cNvPr name="AutoShape 15" id="15"/>
          <p:cNvSpPr/>
          <p:nvPr/>
        </p:nvSpPr>
        <p:spPr>
          <a:xfrm>
            <a:off x="2218969" y="1547480"/>
            <a:ext cx="2904907" cy="0"/>
          </a:xfrm>
          <a:prstGeom prst="line">
            <a:avLst/>
          </a:prstGeom>
          <a:ln cap="flat" w="38100">
            <a:solidFill>
              <a:srgbClr val="00A982"/>
            </a:solidFill>
            <a:prstDash val="solid"/>
            <a:headEnd type="none" len="sm" w="sm"/>
            <a:tailEnd type="triangle" len="med" w="lg"/>
          </a:ln>
        </p:spPr>
      </p:sp>
      <p:sp>
        <p:nvSpPr>
          <p:cNvPr name="AutoShape 16" id="16"/>
          <p:cNvSpPr/>
          <p:nvPr/>
        </p:nvSpPr>
        <p:spPr>
          <a:xfrm>
            <a:off x="2218969" y="1718930"/>
            <a:ext cx="2904907" cy="0"/>
          </a:xfrm>
          <a:prstGeom prst="line">
            <a:avLst/>
          </a:prstGeom>
          <a:ln cap="flat" w="38100">
            <a:solidFill>
              <a:srgbClr val="00A982"/>
            </a:solidFill>
            <a:prstDash val="solid"/>
            <a:headEnd type="none" len="sm" w="sm"/>
            <a:tailEnd type="triangle" len="med" w="lg"/>
          </a:ln>
        </p:spPr>
      </p:sp>
      <p:sp>
        <p:nvSpPr>
          <p:cNvPr name="AutoShape 17" id="17"/>
          <p:cNvSpPr/>
          <p:nvPr/>
        </p:nvSpPr>
        <p:spPr>
          <a:xfrm>
            <a:off x="2218969" y="1890380"/>
            <a:ext cx="2904907" cy="0"/>
          </a:xfrm>
          <a:prstGeom prst="line">
            <a:avLst/>
          </a:prstGeom>
          <a:ln cap="flat" w="38100">
            <a:solidFill>
              <a:srgbClr val="00A982"/>
            </a:solidFill>
            <a:prstDash val="solid"/>
            <a:headEnd type="none" len="sm" w="sm"/>
            <a:tailEnd type="triangle" len="med" w="lg"/>
          </a:ln>
        </p:spPr>
      </p:sp>
      <p:sp>
        <p:nvSpPr>
          <p:cNvPr name="AutoShape 18" id="18"/>
          <p:cNvSpPr/>
          <p:nvPr/>
        </p:nvSpPr>
        <p:spPr>
          <a:xfrm>
            <a:off x="2218969" y="2061830"/>
            <a:ext cx="2904907" cy="0"/>
          </a:xfrm>
          <a:prstGeom prst="line">
            <a:avLst/>
          </a:prstGeom>
          <a:ln cap="flat" w="38100">
            <a:solidFill>
              <a:srgbClr val="00A982"/>
            </a:solidFill>
            <a:prstDash val="solid"/>
            <a:headEnd type="none" len="sm" w="sm"/>
            <a:tailEnd type="triangle" len="med" w="lg"/>
          </a:ln>
        </p:spPr>
      </p:sp>
      <p:sp>
        <p:nvSpPr>
          <p:cNvPr name="AutoShape 19" id="19"/>
          <p:cNvSpPr/>
          <p:nvPr/>
        </p:nvSpPr>
        <p:spPr>
          <a:xfrm>
            <a:off x="2218969" y="2233280"/>
            <a:ext cx="2904907" cy="0"/>
          </a:xfrm>
          <a:prstGeom prst="line">
            <a:avLst/>
          </a:prstGeom>
          <a:ln cap="flat" w="38100">
            <a:solidFill>
              <a:srgbClr val="00A982"/>
            </a:solidFill>
            <a:prstDash val="solid"/>
            <a:headEnd type="none" len="sm" w="sm"/>
            <a:tailEnd type="triangle" len="med" w="lg"/>
          </a:ln>
        </p:spPr>
      </p:sp>
      <p:sp>
        <p:nvSpPr>
          <p:cNvPr name="AutoShape 20" id="20"/>
          <p:cNvSpPr/>
          <p:nvPr/>
        </p:nvSpPr>
        <p:spPr>
          <a:xfrm>
            <a:off x="2218969" y="2404730"/>
            <a:ext cx="2904907" cy="0"/>
          </a:xfrm>
          <a:prstGeom prst="line">
            <a:avLst/>
          </a:prstGeom>
          <a:ln cap="flat" w="38100">
            <a:solidFill>
              <a:srgbClr val="00A982"/>
            </a:solidFill>
            <a:prstDash val="solid"/>
            <a:headEnd type="none" len="sm" w="sm"/>
            <a:tailEnd type="triangle" len="med" w="lg"/>
          </a:ln>
        </p:spPr>
      </p:sp>
      <p:sp>
        <p:nvSpPr>
          <p:cNvPr name="AutoShape 21" id="21"/>
          <p:cNvSpPr/>
          <p:nvPr/>
        </p:nvSpPr>
        <p:spPr>
          <a:xfrm>
            <a:off x="2218969" y="2576180"/>
            <a:ext cx="2904907" cy="0"/>
          </a:xfrm>
          <a:prstGeom prst="line">
            <a:avLst/>
          </a:prstGeom>
          <a:ln cap="flat" w="38100">
            <a:solidFill>
              <a:srgbClr val="00A982"/>
            </a:solidFill>
            <a:prstDash val="solid"/>
            <a:headEnd type="none" len="sm" w="sm"/>
            <a:tailEnd type="triangle" len="med" w="lg"/>
          </a:ln>
        </p:spPr>
      </p:sp>
      <p:sp>
        <p:nvSpPr>
          <p:cNvPr name="AutoShape 22" id="22"/>
          <p:cNvSpPr/>
          <p:nvPr/>
        </p:nvSpPr>
        <p:spPr>
          <a:xfrm>
            <a:off x="6691222" y="2841261"/>
            <a:ext cx="0" cy="666054"/>
          </a:xfrm>
          <a:prstGeom prst="line">
            <a:avLst/>
          </a:prstGeom>
          <a:ln cap="flat" w="38100">
            <a:solidFill>
              <a:srgbClr val="00A982"/>
            </a:solidFill>
            <a:prstDash val="solid"/>
            <a:headEnd type="none" len="sm" w="sm"/>
            <a:tailEnd type="triangle" len="med" w="lg"/>
          </a:ln>
        </p:spPr>
      </p:sp>
      <p:grpSp>
        <p:nvGrpSpPr>
          <p:cNvPr name="Group 23" id="23"/>
          <p:cNvGrpSpPr/>
          <p:nvPr/>
        </p:nvGrpSpPr>
        <p:grpSpPr>
          <a:xfrm rot="0">
            <a:off x="2034055" y="3754965"/>
            <a:ext cx="14458314" cy="4565412"/>
            <a:chOff x="0" y="0"/>
            <a:chExt cx="3807951" cy="1202413"/>
          </a:xfrm>
        </p:grpSpPr>
        <p:sp>
          <p:nvSpPr>
            <p:cNvPr name="Freeform 24" id="24"/>
            <p:cNvSpPr/>
            <p:nvPr/>
          </p:nvSpPr>
          <p:spPr>
            <a:xfrm flipH="false" flipV="false" rot="0">
              <a:off x="0" y="0"/>
              <a:ext cx="3807951" cy="1202413"/>
            </a:xfrm>
            <a:custGeom>
              <a:avLst/>
              <a:gdLst/>
              <a:ahLst/>
              <a:cxnLst/>
              <a:rect r="r" b="b" t="t" l="l"/>
              <a:pathLst>
                <a:path h="1202413" w="3807951">
                  <a:moveTo>
                    <a:pt x="27309" y="0"/>
                  </a:moveTo>
                  <a:lnTo>
                    <a:pt x="3780642" y="0"/>
                  </a:lnTo>
                  <a:cubicBezTo>
                    <a:pt x="3795725" y="0"/>
                    <a:pt x="3807951" y="12227"/>
                    <a:pt x="3807951" y="27309"/>
                  </a:cubicBezTo>
                  <a:lnTo>
                    <a:pt x="3807951" y="1175104"/>
                  </a:lnTo>
                  <a:cubicBezTo>
                    <a:pt x="3807951" y="1182347"/>
                    <a:pt x="3805074" y="1189293"/>
                    <a:pt x="3799953" y="1194415"/>
                  </a:cubicBezTo>
                  <a:cubicBezTo>
                    <a:pt x="3794832" y="1199536"/>
                    <a:pt x="3787885" y="1202413"/>
                    <a:pt x="3780642" y="1202413"/>
                  </a:cubicBezTo>
                  <a:lnTo>
                    <a:pt x="27309" y="1202413"/>
                  </a:lnTo>
                  <a:cubicBezTo>
                    <a:pt x="12227" y="1202413"/>
                    <a:pt x="0" y="1190187"/>
                    <a:pt x="0" y="1175104"/>
                  </a:cubicBezTo>
                  <a:lnTo>
                    <a:pt x="0" y="27309"/>
                  </a:lnTo>
                  <a:cubicBezTo>
                    <a:pt x="0" y="12227"/>
                    <a:pt x="12227" y="0"/>
                    <a:pt x="27309" y="0"/>
                  </a:cubicBezTo>
                  <a:close/>
                </a:path>
              </a:pathLst>
            </a:custGeom>
            <a:solidFill>
              <a:srgbClr val="FFFFFF"/>
            </a:solidFill>
            <a:ln w="19050" cap="rnd">
              <a:solidFill>
                <a:srgbClr val="000000"/>
              </a:solidFill>
              <a:prstDash val="solid"/>
              <a:round/>
            </a:ln>
          </p:spPr>
        </p:sp>
        <p:sp>
          <p:nvSpPr>
            <p:cNvPr name="TextBox 25" id="25"/>
            <p:cNvSpPr txBox="true"/>
            <p:nvPr/>
          </p:nvSpPr>
          <p:spPr>
            <a:xfrm>
              <a:off x="0" y="-19050"/>
              <a:ext cx="3807951" cy="1221463"/>
            </a:xfrm>
            <a:prstGeom prst="rect">
              <a:avLst/>
            </a:prstGeom>
          </p:spPr>
          <p:txBody>
            <a:bodyPr anchor="ctr" rtlCol="false" tIns="50800" lIns="50800" bIns="50800" rIns="50800"/>
            <a:lstStyle/>
            <a:p>
              <a:pPr algn="ctr">
                <a:lnSpc>
                  <a:spcPts val="1620"/>
                </a:lnSpc>
              </a:pPr>
            </a:p>
          </p:txBody>
        </p:sp>
      </p:grpSp>
      <p:sp>
        <p:nvSpPr>
          <p:cNvPr name="AutoShape 26" id="26"/>
          <p:cNvSpPr/>
          <p:nvPr/>
        </p:nvSpPr>
        <p:spPr>
          <a:xfrm flipV="true">
            <a:off x="7108612" y="2747626"/>
            <a:ext cx="0" cy="759689"/>
          </a:xfrm>
          <a:prstGeom prst="line">
            <a:avLst/>
          </a:prstGeom>
          <a:ln cap="flat" w="38100">
            <a:solidFill>
              <a:srgbClr val="00A982"/>
            </a:solidFill>
            <a:prstDash val="solid"/>
            <a:headEnd type="none" len="sm" w="sm"/>
            <a:tailEnd type="triangle" len="med" w="lg"/>
          </a:ln>
        </p:spPr>
      </p:sp>
      <p:grpSp>
        <p:nvGrpSpPr>
          <p:cNvPr name="Group 27" id="27"/>
          <p:cNvGrpSpPr/>
          <p:nvPr/>
        </p:nvGrpSpPr>
        <p:grpSpPr>
          <a:xfrm rot="0">
            <a:off x="2975768" y="3970110"/>
            <a:ext cx="2586832" cy="1070537"/>
            <a:chOff x="0" y="0"/>
            <a:chExt cx="681306" cy="281952"/>
          </a:xfrm>
        </p:grpSpPr>
        <p:sp>
          <p:nvSpPr>
            <p:cNvPr name="Freeform 28" id="28"/>
            <p:cNvSpPr/>
            <p:nvPr/>
          </p:nvSpPr>
          <p:spPr>
            <a:xfrm flipH="false" flipV="false" rot="0">
              <a:off x="0" y="0"/>
              <a:ext cx="681306" cy="281952"/>
            </a:xfrm>
            <a:custGeom>
              <a:avLst/>
              <a:gdLst/>
              <a:ahLst/>
              <a:cxnLst/>
              <a:rect r="r" b="b" t="t" l="l"/>
              <a:pathLst>
                <a:path h="281952" w="681306">
                  <a:moveTo>
                    <a:pt x="140976" y="0"/>
                  </a:moveTo>
                  <a:lnTo>
                    <a:pt x="540330" y="0"/>
                  </a:lnTo>
                  <a:cubicBezTo>
                    <a:pt x="577719" y="0"/>
                    <a:pt x="613577" y="14853"/>
                    <a:pt x="640015" y="41291"/>
                  </a:cubicBezTo>
                  <a:cubicBezTo>
                    <a:pt x="666453" y="67729"/>
                    <a:pt x="681306" y="103587"/>
                    <a:pt x="681306" y="140976"/>
                  </a:cubicBezTo>
                  <a:lnTo>
                    <a:pt x="681306" y="140976"/>
                  </a:lnTo>
                  <a:cubicBezTo>
                    <a:pt x="681306" y="218835"/>
                    <a:pt x="618188" y="281952"/>
                    <a:pt x="540330" y="281952"/>
                  </a:cubicBezTo>
                  <a:lnTo>
                    <a:pt x="140976" y="281952"/>
                  </a:lnTo>
                  <a:cubicBezTo>
                    <a:pt x="103587" y="281952"/>
                    <a:pt x="67729" y="267099"/>
                    <a:pt x="41291" y="240661"/>
                  </a:cubicBezTo>
                  <a:cubicBezTo>
                    <a:pt x="14853" y="214223"/>
                    <a:pt x="0" y="178365"/>
                    <a:pt x="0" y="140976"/>
                  </a:cubicBezTo>
                  <a:lnTo>
                    <a:pt x="0" y="140976"/>
                  </a:lnTo>
                  <a:cubicBezTo>
                    <a:pt x="0" y="103587"/>
                    <a:pt x="14853" y="67729"/>
                    <a:pt x="41291" y="41291"/>
                  </a:cubicBezTo>
                  <a:cubicBezTo>
                    <a:pt x="67729" y="14853"/>
                    <a:pt x="103587" y="0"/>
                    <a:pt x="140976" y="0"/>
                  </a:cubicBezTo>
                  <a:close/>
                </a:path>
              </a:pathLst>
            </a:custGeom>
            <a:solidFill>
              <a:srgbClr val="FFFFFF"/>
            </a:solidFill>
            <a:ln w="19050" cap="rnd">
              <a:solidFill>
                <a:srgbClr val="000000"/>
              </a:solidFill>
              <a:prstDash val="solid"/>
              <a:round/>
            </a:ln>
          </p:spPr>
        </p:sp>
        <p:sp>
          <p:nvSpPr>
            <p:cNvPr name="TextBox 29" id="29"/>
            <p:cNvSpPr txBox="true"/>
            <p:nvPr/>
          </p:nvSpPr>
          <p:spPr>
            <a:xfrm>
              <a:off x="0" y="-19050"/>
              <a:ext cx="681306" cy="301002"/>
            </a:xfrm>
            <a:prstGeom prst="rect">
              <a:avLst/>
            </a:prstGeom>
          </p:spPr>
          <p:txBody>
            <a:bodyPr anchor="ctr" rtlCol="false" tIns="50800" lIns="50800" bIns="50800" rIns="50800"/>
            <a:lstStyle/>
            <a:p>
              <a:pPr algn="ctr">
                <a:lnSpc>
                  <a:spcPts val="2099"/>
                </a:lnSpc>
              </a:pPr>
              <a:r>
                <a:rPr lang="en-US" b="true" sz="1749">
                  <a:solidFill>
                    <a:srgbClr val="000000"/>
                  </a:solidFill>
                  <a:latin typeface="Arimo Bold"/>
                  <a:ea typeface="Arimo Bold"/>
                  <a:cs typeface="Arimo Bold"/>
                  <a:sym typeface="Arimo Bold"/>
                </a:rPr>
                <a:t>Quic Classification</a:t>
              </a:r>
            </a:p>
          </p:txBody>
        </p:sp>
      </p:grpSp>
      <p:sp>
        <p:nvSpPr>
          <p:cNvPr name="AutoShape 30" id="30"/>
          <p:cNvSpPr/>
          <p:nvPr/>
        </p:nvSpPr>
        <p:spPr>
          <a:xfrm>
            <a:off x="5678780" y="4491232"/>
            <a:ext cx="1515689" cy="0"/>
          </a:xfrm>
          <a:prstGeom prst="line">
            <a:avLst/>
          </a:prstGeom>
          <a:ln cap="flat" w="38100">
            <a:solidFill>
              <a:srgbClr val="00A982"/>
            </a:solidFill>
            <a:prstDash val="solid"/>
            <a:headEnd type="none" len="sm" w="sm"/>
            <a:tailEnd type="triangle" len="med" w="lg"/>
          </a:ln>
        </p:spPr>
      </p:sp>
      <p:grpSp>
        <p:nvGrpSpPr>
          <p:cNvPr name="Group 31" id="31"/>
          <p:cNvGrpSpPr/>
          <p:nvPr/>
        </p:nvGrpSpPr>
        <p:grpSpPr>
          <a:xfrm rot="0">
            <a:off x="7308769" y="3970110"/>
            <a:ext cx="2586832" cy="1173390"/>
            <a:chOff x="0" y="0"/>
            <a:chExt cx="681306" cy="309041"/>
          </a:xfrm>
        </p:grpSpPr>
        <p:sp>
          <p:nvSpPr>
            <p:cNvPr name="Freeform 32" id="32"/>
            <p:cNvSpPr/>
            <p:nvPr/>
          </p:nvSpPr>
          <p:spPr>
            <a:xfrm flipH="false" flipV="false" rot="0">
              <a:off x="0" y="0"/>
              <a:ext cx="681306" cy="309041"/>
            </a:xfrm>
            <a:custGeom>
              <a:avLst/>
              <a:gdLst/>
              <a:ahLst/>
              <a:cxnLst/>
              <a:rect r="r" b="b" t="t" l="l"/>
              <a:pathLst>
                <a:path h="309041" w="681306">
                  <a:moveTo>
                    <a:pt x="152634" y="0"/>
                  </a:moveTo>
                  <a:lnTo>
                    <a:pt x="528672" y="0"/>
                  </a:lnTo>
                  <a:cubicBezTo>
                    <a:pt x="612969" y="0"/>
                    <a:pt x="681306" y="68336"/>
                    <a:pt x="681306" y="152634"/>
                  </a:cubicBezTo>
                  <a:lnTo>
                    <a:pt x="681306" y="156407"/>
                  </a:lnTo>
                  <a:cubicBezTo>
                    <a:pt x="681306" y="240705"/>
                    <a:pt x="612969" y="309041"/>
                    <a:pt x="528672" y="309041"/>
                  </a:cubicBezTo>
                  <a:lnTo>
                    <a:pt x="152634" y="309041"/>
                  </a:lnTo>
                  <a:cubicBezTo>
                    <a:pt x="68336" y="309041"/>
                    <a:pt x="0" y="240705"/>
                    <a:pt x="0" y="156407"/>
                  </a:cubicBezTo>
                  <a:lnTo>
                    <a:pt x="0" y="152634"/>
                  </a:lnTo>
                  <a:cubicBezTo>
                    <a:pt x="0" y="68336"/>
                    <a:pt x="68336" y="0"/>
                    <a:pt x="152634" y="0"/>
                  </a:cubicBezTo>
                  <a:close/>
                </a:path>
              </a:pathLst>
            </a:custGeom>
            <a:solidFill>
              <a:srgbClr val="FFFFFF"/>
            </a:solidFill>
            <a:ln w="19050" cap="rnd">
              <a:solidFill>
                <a:srgbClr val="000000"/>
              </a:solidFill>
              <a:prstDash val="solid"/>
              <a:round/>
            </a:ln>
          </p:spPr>
        </p:sp>
        <p:sp>
          <p:nvSpPr>
            <p:cNvPr name="TextBox 33" id="33"/>
            <p:cNvSpPr txBox="true"/>
            <p:nvPr/>
          </p:nvSpPr>
          <p:spPr>
            <a:xfrm>
              <a:off x="0" y="-19050"/>
              <a:ext cx="681306" cy="328091"/>
            </a:xfrm>
            <a:prstGeom prst="rect">
              <a:avLst/>
            </a:prstGeom>
          </p:spPr>
          <p:txBody>
            <a:bodyPr anchor="ctr" rtlCol="false" tIns="50800" lIns="50800" bIns="50800" rIns="50800"/>
            <a:lstStyle/>
            <a:p>
              <a:pPr algn="ctr">
                <a:lnSpc>
                  <a:spcPts val="2099"/>
                </a:lnSpc>
              </a:pPr>
              <a:r>
                <a:rPr lang="en-US" sz="1749" b="true">
                  <a:solidFill>
                    <a:srgbClr val="000000"/>
                  </a:solidFill>
                  <a:latin typeface="Arimo Bold"/>
                  <a:ea typeface="Arimo Bold"/>
                  <a:cs typeface="Arimo Bold"/>
                  <a:sym typeface="Arimo Bold"/>
                </a:rPr>
                <a:t>Flow creation </a:t>
              </a:r>
            </a:p>
            <a:p>
              <a:pPr algn="ctr">
                <a:lnSpc>
                  <a:spcPts val="2099"/>
                </a:lnSpc>
              </a:pPr>
              <a:r>
                <a:rPr lang="en-US" b="true" sz="1749">
                  <a:solidFill>
                    <a:srgbClr val="000000"/>
                  </a:solidFill>
                  <a:latin typeface="Arimo Bold"/>
                  <a:ea typeface="Arimo Bold"/>
                  <a:cs typeface="Arimo Bold"/>
                  <a:sym typeface="Arimo Bold"/>
                </a:rPr>
                <a:t>(5-tuples + cid)</a:t>
              </a:r>
            </a:p>
          </p:txBody>
        </p:sp>
      </p:grpSp>
      <p:grpSp>
        <p:nvGrpSpPr>
          <p:cNvPr name="Group 34" id="34"/>
          <p:cNvGrpSpPr/>
          <p:nvPr/>
        </p:nvGrpSpPr>
        <p:grpSpPr>
          <a:xfrm rot="0">
            <a:off x="7308769" y="5905897"/>
            <a:ext cx="2706729" cy="737692"/>
            <a:chOff x="0" y="0"/>
            <a:chExt cx="712883" cy="194289"/>
          </a:xfrm>
        </p:grpSpPr>
        <p:sp>
          <p:nvSpPr>
            <p:cNvPr name="Freeform 35" id="35"/>
            <p:cNvSpPr/>
            <p:nvPr/>
          </p:nvSpPr>
          <p:spPr>
            <a:xfrm flipH="false" flipV="false" rot="0">
              <a:off x="0" y="0"/>
              <a:ext cx="712883" cy="194289"/>
            </a:xfrm>
            <a:custGeom>
              <a:avLst/>
              <a:gdLst/>
              <a:ahLst/>
              <a:cxnLst/>
              <a:rect r="r" b="b" t="t" l="l"/>
              <a:pathLst>
                <a:path h="194289" w="712883">
                  <a:moveTo>
                    <a:pt x="0" y="0"/>
                  </a:moveTo>
                  <a:lnTo>
                    <a:pt x="712883" y="0"/>
                  </a:lnTo>
                  <a:lnTo>
                    <a:pt x="712883" y="194289"/>
                  </a:lnTo>
                  <a:lnTo>
                    <a:pt x="0" y="194289"/>
                  </a:lnTo>
                  <a:close/>
                </a:path>
              </a:pathLst>
            </a:custGeom>
            <a:solidFill>
              <a:srgbClr val="FFFFFF"/>
            </a:solidFill>
            <a:ln w="9525" cap="sq">
              <a:solidFill>
                <a:srgbClr val="000000"/>
              </a:solidFill>
              <a:prstDash val="solid"/>
              <a:miter/>
            </a:ln>
          </p:spPr>
        </p:sp>
        <p:sp>
          <p:nvSpPr>
            <p:cNvPr name="TextBox 36" id="36"/>
            <p:cNvSpPr txBox="true"/>
            <p:nvPr/>
          </p:nvSpPr>
          <p:spPr>
            <a:xfrm>
              <a:off x="0" y="-19050"/>
              <a:ext cx="712883" cy="213339"/>
            </a:xfrm>
            <a:prstGeom prst="rect">
              <a:avLst/>
            </a:prstGeom>
          </p:spPr>
          <p:txBody>
            <a:bodyPr anchor="ctr" rtlCol="false" tIns="50800" lIns="50800" bIns="50800" rIns="50800"/>
            <a:lstStyle/>
            <a:p>
              <a:pPr algn="ctr">
                <a:lnSpc>
                  <a:spcPts val="3299"/>
                </a:lnSpc>
              </a:pPr>
              <a:r>
                <a:rPr lang="en-US" sz="2749">
                  <a:solidFill>
                    <a:srgbClr val="000000"/>
                  </a:solidFill>
                  <a:latin typeface="Arimo"/>
                  <a:ea typeface="Arimo"/>
                  <a:cs typeface="Arimo"/>
                  <a:sym typeface="Arimo"/>
                </a:rPr>
                <a:t>5-sec Window</a:t>
              </a:r>
            </a:p>
          </p:txBody>
        </p:sp>
      </p:grpSp>
      <p:sp>
        <p:nvSpPr>
          <p:cNvPr name="AutoShape 37" id="37"/>
          <p:cNvSpPr/>
          <p:nvPr/>
        </p:nvSpPr>
        <p:spPr>
          <a:xfrm>
            <a:off x="8621235" y="5192217"/>
            <a:ext cx="0" cy="666054"/>
          </a:xfrm>
          <a:prstGeom prst="line">
            <a:avLst/>
          </a:prstGeom>
          <a:ln cap="flat" w="38100">
            <a:solidFill>
              <a:srgbClr val="00A982"/>
            </a:solidFill>
            <a:prstDash val="solid"/>
            <a:headEnd type="none" len="sm" w="sm"/>
            <a:tailEnd type="triangle" len="med" w="lg"/>
          </a:ln>
        </p:spPr>
      </p:sp>
      <p:grpSp>
        <p:nvGrpSpPr>
          <p:cNvPr name="Group 38" id="38"/>
          <p:cNvGrpSpPr/>
          <p:nvPr/>
        </p:nvGrpSpPr>
        <p:grpSpPr>
          <a:xfrm rot="21469">
            <a:off x="7303919" y="7139120"/>
            <a:ext cx="2706729" cy="1057475"/>
            <a:chOff x="0" y="0"/>
            <a:chExt cx="712883" cy="278512"/>
          </a:xfrm>
        </p:grpSpPr>
        <p:sp>
          <p:nvSpPr>
            <p:cNvPr name="Freeform 39" id="39"/>
            <p:cNvSpPr/>
            <p:nvPr/>
          </p:nvSpPr>
          <p:spPr>
            <a:xfrm flipH="false" flipV="false" rot="0">
              <a:off x="0" y="0"/>
              <a:ext cx="712883" cy="278512"/>
            </a:xfrm>
            <a:custGeom>
              <a:avLst/>
              <a:gdLst/>
              <a:ahLst/>
              <a:cxnLst/>
              <a:rect r="r" b="b" t="t" l="l"/>
              <a:pathLst>
                <a:path h="278512" w="712883">
                  <a:moveTo>
                    <a:pt x="0" y="0"/>
                  </a:moveTo>
                  <a:lnTo>
                    <a:pt x="712883" y="0"/>
                  </a:lnTo>
                  <a:lnTo>
                    <a:pt x="712883" y="278512"/>
                  </a:lnTo>
                  <a:lnTo>
                    <a:pt x="0" y="278512"/>
                  </a:lnTo>
                  <a:close/>
                </a:path>
              </a:pathLst>
            </a:custGeom>
            <a:solidFill>
              <a:srgbClr val="FFFFFF"/>
            </a:solidFill>
            <a:ln w="9525" cap="sq">
              <a:solidFill>
                <a:srgbClr val="000000"/>
              </a:solidFill>
              <a:prstDash val="solid"/>
              <a:miter/>
            </a:ln>
          </p:spPr>
        </p:sp>
        <p:sp>
          <p:nvSpPr>
            <p:cNvPr name="TextBox 40" id="40"/>
            <p:cNvSpPr txBox="true"/>
            <p:nvPr/>
          </p:nvSpPr>
          <p:spPr>
            <a:xfrm>
              <a:off x="0" y="-19050"/>
              <a:ext cx="712883" cy="297562"/>
            </a:xfrm>
            <a:prstGeom prst="rect">
              <a:avLst/>
            </a:prstGeom>
          </p:spPr>
          <p:txBody>
            <a:bodyPr anchor="ctr" rtlCol="false" tIns="50800" lIns="50800" bIns="50800" rIns="50800"/>
            <a:lstStyle/>
            <a:p>
              <a:pPr algn="ctr">
                <a:lnSpc>
                  <a:spcPts val="3299"/>
                </a:lnSpc>
              </a:pPr>
              <a:r>
                <a:rPr lang="en-US" sz="2749">
                  <a:solidFill>
                    <a:srgbClr val="000000"/>
                  </a:solidFill>
                  <a:latin typeface="Arimo"/>
                  <a:ea typeface="Arimo"/>
                  <a:cs typeface="Arimo"/>
                  <a:sym typeface="Arimo"/>
                </a:rPr>
                <a:t>Feature extraction</a:t>
              </a:r>
            </a:p>
          </p:txBody>
        </p:sp>
      </p:grpSp>
      <p:sp>
        <p:nvSpPr>
          <p:cNvPr name="AutoShape 41" id="41"/>
          <p:cNvSpPr/>
          <p:nvPr/>
        </p:nvSpPr>
        <p:spPr>
          <a:xfrm flipH="true">
            <a:off x="8493478" y="6643346"/>
            <a:ext cx="91204" cy="549983"/>
          </a:xfrm>
          <a:prstGeom prst="line">
            <a:avLst/>
          </a:prstGeom>
          <a:ln cap="flat" w="38100">
            <a:solidFill>
              <a:srgbClr val="00A982"/>
            </a:solidFill>
            <a:prstDash val="solid"/>
            <a:headEnd type="none" len="sm" w="sm"/>
            <a:tailEnd type="triangle" len="med" w="lg"/>
          </a:ln>
        </p:spPr>
      </p:sp>
      <p:sp>
        <p:nvSpPr>
          <p:cNvPr name="AutoShape 42" id="42"/>
          <p:cNvSpPr/>
          <p:nvPr/>
        </p:nvSpPr>
        <p:spPr>
          <a:xfrm>
            <a:off x="10232032" y="7658332"/>
            <a:ext cx="887185" cy="0"/>
          </a:xfrm>
          <a:prstGeom prst="line">
            <a:avLst/>
          </a:prstGeom>
          <a:ln cap="flat" w="38100">
            <a:solidFill>
              <a:srgbClr val="00A982"/>
            </a:solidFill>
            <a:prstDash val="solid"/>
            <a:headEnd type="none" len="sm" w="sm"/>
            <a:tailEnd type="triangle" len="med" w="lg"/>
          </a:ln>
        </p:spPr>
      </p:sp>
      <p:grpSp>
        <p:nvGrpSpPr>
          <p:cNvPr name="Group 43" id="43"/>
          <p:cNvGrpSpPr/>
          <p:nvPr/>
        </p:nvGrpSpPr>
        <p:grpSpPr>
          <a:xfrm rot="21469">
            <a:off x="11341569" y="7103625"/>
            <a:ext cx="2706729" cy="1057475"/>
            <a:chOff x="0" y="0"/>
            <a:chExt cx="712883" cy="278512"/>
          </a:xfrm>
        </p:grpSpPr>
        <p:sp>
          <p:nvSpPr>
            <p:cNvPr name="Freeform 44" id="44"/>
            <p:cNvSpPr/>
            <p:nvPr/>
          </p:nvSpPr>
          <p:spPr>
            <a:xfrm flipH="false" flipV="false" rot="0">
              <a:off x="0" y="0"/>
              <a:ext cx="712883" cy="278512"/>
            </a:xfrm>
            <a:custGeom>
              <a:avLst/>
              <a:gdLst/>
              <a:ahLst/>
              <a:cxnLst/>
              <a:rect r="r" b="b" t="t" l="l"/>
              <a:pathLst>
                <a:path h="278512" w="712883">
                  <a:moveTo>
                    <a:pt x="0" y="0"/>
                  </a:moveTo>
                  <a:lnTo>
                    <a:pt x="712883" y="0"/>
                  </a:lnTo>
                  <a:lnTo>
                    <a:pt x="712883" y="278512"/>
                  </a:lnTo>
                  <a:lnTo>
                    <a:pt x="0" y="278512"/>
                  </a:lnTo>
                  <a:close/>
                </a:path>
              </a:pathLst>
            </a:custGeom>
            <a:solidFill>
              <a:srgbClr val="FFFFFF"/>
            </a:solidFill>
            <a:ln w="9525" cap="sq">
              <a:solidFill>
                <a:srgbClr val="000000"/>
              </a:solidFill>
              <a:prstDash val="solid"/>
              <a:miter/>
            </a:ln>
          </p:spPr>
        </p:sp>
        <p:sp>
          <p:nvSpPr>
            <p:cNvPr name="TextBox 45" id="45"/>
            <p:cNvSpPr txBox="true"/>
            <p:nvPr/>
          </p:nvSpPr>
          <p:spPr>
            <a:xfrm>
              <a:off x="0" y="-19050"/>
              <a:ext cx="712883" cy="297562"/>
            </a:xfrm>
            <a:prstGeom prst="rect">
              <a:avLst/>
            </a:prstGeom>
          </p:spPr>
          <p:txBody>
            <a:bodyPr anchor="ctr" rtlCol="false" tIns="50800" lIns="50800" bIns="50800" rIns="50800"/>
            <a:lstStyle/>
            <a:p>
              <a:pPr algn="ctr">
                <a:lnSpc>
                  <a:spcPts val="3299"/>
                </a:lnSpc>
              </a:pPr>
              <a:r>
                <a:rPr lang="en-US" sz="2749">
                  <a:solidFill>
                    <a:srgbClr val="000000"/>
                  </a:solidFill>
                  <a:latin typeface="Arimo"/>
                  <a:ea typeface="Arimo"/>
                  <a:cs typeface="Arimo"/>
                  <a:sym typeface="Arimo"/>
                </a:rPr>
                <a:t>Traffic classification</a:t>
              </a:r>
            </a:p>
          </p:txBody>
        </p:sp>
      </p:grpSp>
      <p:sp>
        <p:nvSpPr>
          <p:cNvPr name="AutoShape 46" id="46"/>
          <p:cNvSpPr/>
          <p:nvPr/>
        </p:nvSpPr>
        <p:spPr>
          <a:xfrm flipV="true">
            <a:off x="12675883" y="6643588"/>
            <a:ext cx="19050" cy="379603"/>
          </a:xfrm>
          <a:prstGeom prst="line">
            <a:avLst/>
          </a:prstGeom>
          <a:ln cap="flat" w="38100">
            <a:solidFill>
              <a:srgbClr val="00A982"/>
            </a:solidFill>
            <a:prstDash val="solid"/>
            <a:headEnd type="none" len="sm" w="sm"/>
            <a:tailEnd type="triangle" len="med" w="lg"/>
          </a:ln>
        </p:spPr>
      </p:sp>
      <p:grpSp>
        <p:nvGrpSpPr>
          <p:cNvPr name="Group 47" id="47"/>
          <p:cNvGrpSpPr/>
          <p:nvPr/>
        </p:nvGrpSpPr>
        <p:grpSpPr>
          <a:xfrm rot="21469">
            <a:off x="11341569" y="5508934"/>
            <a:ext cx="2706729" cy="1057475"/>
            <a:chOff x="0" y="0"/>
            <a:chExt cx="712883" cy="278512"/>
          </a:xfrm>
        </p:grpSpPr>
        <p:sp>
          <p:nvSpPr>
            <p:cNvPr name="Freeform 48" id="48"/>
            <p:cNvSpPr/>
            <p:nvPr/>
          </p:nvSpPr>
          <p:spPr>
            <a:xfrm flipH="false" flipV="false" rot="0">
              <a:off x="0" y="0"/>
              <a:ext cx="712883" cy="278512"/>
            </a:xfrm>
            <a:custGeom>
              <a:avLst/>
              <a:gdLst/>
              <a:ahLst/>
              <a:cxnLst/>
              <a:rect r="r" b="b" t="t" l="l"/>
              <a:pathLst>
                <a:path h="278512" w="712883">
                  <a:moveTo>
                    <a:pt x="0" y="0"/>
                  </a:moveTo>
                  <a:lnTo>
                    <a:pt x="712883" y="0"/>
                  </a:lnTo>
                  <a:lnTo>
                    <a:pt x="712883" y="278512"/>
                  </a:lnTo>
                  <a:lnTo>
                    <a:pt x="0" y="278512"/>
                  </a:lnTo>
                  <a:close/>
                </a:path>
              </a:pathLst>
            </a:custGeom>
            <a:solidFill>
              <a:srgbClr val="FFFFFF"/>
            </a:solidFill>
            <a:ln w="9525" cap="sq">
              <a:solidFill>
                <a:srgbClr val="000000"/>
              </a:solidFill>
              <a:prstDash val="solid"/>
              <a:miter/>
            </a:ln>
          </p:spPr>
        </p:sp>
        <p:sp>
          <p:nvSpPr>
            <p:cNvPr name="TextBox 49" id="49"/>
            <p:cNvSpPr txBox="true"/>
            <p:nvPr/>
          </p:nvSpPr>
          <p:spPr>
            <a:xfrm>
              <a:off x="0" y="-19050"/>
              <a:ext cx="712883" cy="297562"/>
            </a:xfrm>
            <a:prstGeom prst="rect">
              <a:avLst/>
            </a:prstGeom>
          </p:spPr>
          <p:txBody>
            <a:bodyPr anchor="ctr" rtlCol="false" tIns="50800" lIns="50800" bIns="50800" rIns="50800"/>
            <a:lstStyle/>
            <a:p>
              <a:pPr algn="ctr">
                <a:lnSpc>
                  <a:spcPts val="3299"/>
                </a:lnSpc>
              </a:pPr>
              <a:r>
                <a:rPr lang="en-US" sz="2749">
                  <a:solidFill>
                    <a:srgbClr val="000000"/>
                  </a:solidFill>
                  <a:latin typeface="Arimo"/>
                  <a:ea typeface="Arimo"/>
                  <a:cs typeface="Arimo"/>
                  <a:sym typeface="Arimo"/>
                </a:rPr>
                <a:t>QOS and acl rules </a:t>
              </a:r>
            </a:p>
          </p:txBody>
        </p:sp>
      </p:grpSp>
      <p:sp>
        <p:nvSpPr>
          <p:cNvPr name="AutoShape 50" id="50"/>
          <p:cNvSpPr/>
          <p:nvPr/>
        </p:nvSpPr>
        <p:spPr>
          <a:xfrm flipV="true">
            <a:off x="12656833" y="5040646"/>
            <a:ext cx="19050" cy="459846"/>
          </a:xfrm>
          <a:prstGeom prst="line">
            <a:avLst/>
          </a:prstGeom>
          <a:ln cap="flat" w="38100">
            <a:solidFill>
              <a:srgbClr val="00A982"/>
            </a:solidFill>
            <a:prstDash val="solid"/>
            <a:headEnd type="none" len="sm" w="sm"/>
            <a:tailEnd type="triangle" len="med" w="lg"/>
          </a:ln>
        </p:spPr>
      </p:sp>
      <p:grpSp>
        <p:nvGrpSpPr>
          <p:cNvPr name="Group 51" id="51"/>
          <p:cNvGrpSpPr/>
          <p:nvPr/>
        </p:nvGrpSpPr>
        <p:grpSpPr>
          <a:xfrm rot="0">
            <a:off x="11363417" y="3867256"/>
            <a:ext cx="2586832" cy="1173390"/>
            <a:chOff x="0" y="0"/>
            <a:chExt cx="681306" cy="309041"/>
          </a:xfrm>
        </p:grpSpPr>
        <p:sp>
          <p:nvSpPr>
            <p:cNvPr name="Freeform 52" id="52"/>
            <p:cNvSpPr/>
            <p:nvPr/>
          </p:nvSpPr>
          <p:spPr>
            <a:xfrm flipH="false" flipV="false" rot="0">
              <a:off x="0" y="0"/>
              <a:ext cx="681306" cy="309041"/>
            </a:xfrm>
            <a:custGeom>
              <a:avLst/>
              <a:gdLst/>
              <a:ahLst/>
              <a:cxnLst/>
              <a:rect r="r" b="b" t="t" l="l"/>
              <a:pathLst>
                <a:path h="309041" w="681306">
                  <a:moveTo>
                    <a:pt x="152634" y="0"/>
                  </a:moveTo>
                  <a:lnTo>
                    <a:pt x="528672" y="0"/>
                  </a:lnTo>
                  <a:cubicBezTo>
                    <a:pt x="612969" y="0"/>
                    <a:pt x="681306" y="68336"/>
                    <a:pt x="681306" y="152634"/>
                  </a:cubicBezTo>
                  <a:lnTo>
                    <a:pt x="681306" y="156407"/>
                  </a:lnTo>
                  <a:cubicBezTo>
                    <a:pt x="681306" y="240705"/>
                    <a:pt x="612969" y="309041"/>
                    <a:pt x="528672" y="309041"/>
                  </a:cubicBezTo>
                  <a:lnTo>
                    <a:pt x="152634" y="309041"/>
                  </a:lnTo>
                  <a:cubicBezTo>
                    <a:pt x="68336" y="309041"/>
                    <a:pt x="0" y="240705"/>
                    <a:pt x="0" y="156407"/>
                  </a:cubicBezTo>
                  <a:lnTo>
                    <a:pt x="0" y="152634"/>
                  </a:lnTo>
                  <a:cubicBezTo>
                    <a:pt x="0" y="68336"/>
                    <a:pt x="68336" y="0"/>
                    <a:pt x="152634" y="0"/>
                  </a:cubicBezTo>
                  <a:close/>
                </a:path>
              </a:pathLst>
            </a:custGeom>
            <a:solidFill>
              <a:srgbClr val="FFFFFF"/>
            </a:solidFill>
            <a:ln w="19050" cap="rnd">
              <a:solidFill>
                <a:srgbClr val="000000"/>
              </a:solidFill>
              <a:prstDash val="solid"/>
              <a:round/>
            </a:ln>
          </p:spPr>
        </p:sp>
        <p:sp>
          <p:nvSpPr>
            <p:cNvPr name="TextBox 53" id="53"/>
            <p:cNvSpPr txBox="true"/>
            <p:nvPr/>
          </p:nvSpPr>
          <p:spPr>
            <a:xfrm>
              <a:off x="0" y="-19050"/>
              <a:ext cx="681306" cy="328091"/>
            </a:xfrm>
            <a:prstGeom prst="rect">
              <a:avLst/>
            </a:prstGeom>
          </p:spPr>
          <p:txBody>
            <a:bodyPr anchor="ctr" rtlCol="false" tIns="50800" lIns="50800" bIns="50800" rIns="50800"/>
            <a:lstStyle/>
            <a:p>
              <a:pPr algn="ctr">
                <a:lnSpc>
                  <a:spcPts val="2099"/>
                </a:lnSpc>
              </a:pPr>
              <a:r>
                <a:rPr lang="en-US" b="true" sz="1749">
                  <a:solidFill>
                    <a:srgbClr val="000000"/>
                  </a:solidFill>
                  <a:latin typeface="Arimo Bold"/>
                  <a:ea typeface="Arimo Bold"/>
                  <a:cs typeface="Arimo Bold"/>
                  <a:sym typeface="Arimo Bold"/>
                </a:rPr>
                <a:t>Dashboard</a:t>
              </a:r>
            </a:p>
          </p:txBody>
        </p:sp>
      </p:grpSp>
      <p:grpSp>
        <p:nvGrpSpPr>
          <p:cNvPr name="Group 54" id="54"/>
          <p:cNvGrpSpPr/>
          <p:nvPr/>
        </p:nvGrpSpPr>
        <p:grpSpPr>
          <a:xfrm rot="21469">
            <a:off x="6963975" y="1512399"/>
            <a:ext cx="2022935" cy="1057475"/>
            <a:chOff x="0" y="0"/>
            <a:chExt cx="532790" cy="278512"/>
          </a:xfrm>
        </p:grpSpPr>
        <p:sp>
          <p:nvSpPr>
            <p:cNvPr name="Freeform 55" id="55"/>
            <p:cNvSpPr/>
            <p:nvPr/>
          </p:nvSpPr>
          <p:spPr>
            <a:xfrm flipH="false" flipV="false" rot="0">
              <a:off x="0" y="0"/>
              <a:ext cx="532790" cy="278512"/>
            </a:xfrm>
            <a:custGeom>
              <a:avLst/>
              <a:gdLst/>
              <a:ahLst/>
              <a:cxnLst/>
              <a:rect r="r" b="b" t="t" l="l"/>
              <a:pathLst>
                <a:path h="278512" w="532790">
                  <a:moveTo>
                    <a:pt x="0" y="0"/>
                  </a:moveTo>
                  <a:lnTo>
                    <a:pt x="532790" y="0"/>
                  </a:lnTo>
                  <a:lnTo>
                    <a:pt x="532790" y="278512"/>
                  </a:lnTo>
                  <a:lnTo>
                    <a:pt x="0" y="278512"/>
                  </a:lnTo>
                  <a:close/>
                </a:path>
              </a:pathLst>
            </a:custGeom>
            <a:solidFill>
              <a:srgbClr val="FFFFFF"/>
            </a:solidFill>
            <a:ln w="9525" cap="sq">
              <a:solidFill>
                <a:srgbClr val="000000"/>
              </a:solidFill>
              <a:prstDash val="solid"/>
              <a:miter/>
            </a:ln>
          </p:spPr>
        </p:sp>
        <p:sp>
          <p:nvSpPr>
            <p:cNvPr name="TextBox 56" id="56"/>
            <p:cNvSpPr txBox="true"/>
            <p:nvPr/>
          </p:nvSpPr>
          <p:spPr>
            <a:xfrm>
              <a:off x="0" y="-9525"/>
              <a:ext cx="532790" cy="288037"/>
            </a:xfrm>
            <a:prstGeom prst="rect">
              <a:avLst/>
            </a:prstGeom>
          </p:spPr>
          <p:txBody>
            <a:bodyPr anchor="ctr" rtlCol="false" tIns="50800" lIns="50800" bIns="50800" rIns="50800"/>
            <a:lstStyle/>
            <a:p>
              <a:pPr algn="ctr">
                <a:lnSpc>
                  <a:spcPts val="2699"/>
                </a:lnSpc>
              </a:pPr>
              <a:r>
                <a:rPr lang="en-US" sz="2249">
                  <a:solidFill>
                    <a:srgbClr val="000000"/>
                  </a:solidFill>
                  <a:latin typeface="Arimo"/>
                  <a:ea typeface="Arimo"/>
                  <a:cs typeface="Arimo"/>
                  <a:sym typeface="Arimo"/>
                </a:rPr>
                <a:t>QOS and acl rules </a:t>
              </a:r>
            </a:p>
          </p:txBody>
        </p:sp>
      </p:grpSp>
      <p:sp>
        <p:nvSpPr>
          <p:cNvPr name="AutoShape 57" id="57"/>
          <p:cNvSpPr/>
          <p:nvPr/>
        </p:nvSpPr>
        <p:spPr>
          <a:xfrm>
            <a:off x="9126928" y="2041136"/>
            <a:ext cx="574990" cy="0"/>
          </a:xfrm>
          <a:prstGeom prst="line">
            <a:avLst/>
          </a:prstGeom>
          <a:ln cap="flat" w="38100">
            <a:solidFill>
              <a:srgbClr val="00A982"/>
            </a:solidFill>
            <a:prstDash val="solid"/>
            <a:headEnd type="none" len="sm" w="sm"/>
            <a:tailEnd type="triangle" len="med" w="lg"/>
          </a:ln>
        </p:spPr>
      </p:sp>
      <p:grpSp>
        <p:nvGrpSpPr>
          <p:cNvPr name="Group 58" id="58"/>
          <p:cNvGrpSpPr/>
          <p:nvPr/>
        </p:nvGrpSpPr>
        <p:grpSpPr>
          <a:xfrm rot="0">
            <a:off x="9968618" y="1459415"/>
            <a:ext cx="1116765" cy="1116765"/>
            <a:chOff x="0" y="0"/>
            <a:chExt cx="812800" cy="812800"/>
          </a:xfrm>
        </p:grpSpPr>
        <p:sp>
          <p:nvSpPr>
            <p:cNvPr name="Freeform 59" id="5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FFFFF"/>
            </a:solidFill>
            <a:ln w="19050" cap="sq">
              <a:solidFill>
                <a:srgbClr val="000000"/>
              </a:solidFill>
              <a:prstDash val="solid"/>
              <a:miter/>
            </a:ln>
          </p:spPr>
        </p:sp>
        <p:sp>
          <p:nvSpPr>
            <p:cNvPr name="TextBox 60" id="60"/>
            <p:cNvSpPr txBox="true"/>
            <p:nvPr/>
          </p:nvSpPr>
          <p:spPr>
            <a:xfrm>
              <a:off x="139700" y="120650"/>
              <a:ext cx="533400" cy="552450"/>
            </a:xfrm>
            <a:prstGeom prst="rect">
              <a:avLst/>
            </a:prstGeom>
          </p:spPr>
          <p:txBody>
            <a:bodyPr anchor="ctr" rtlCol="false" tIns="50800" lIns="50800" bIns="50800" rIns="50800"/>
            <a:lstStyle/>
            <a:p>
              <a:pPr algn="ctr">
                <a:lnSpc>
                  <a:spcPts val="1020"/>
                </a:lnSpc>
              </a:pPr>
              <a:r>
                <a:rPr lang="en-US" sz="850">
                  <a:solidFill>
                    <a:srgbClr val="000000"/>
                  </a:solidFill>
                  <a:latin typeface="Arimo"/>
                  <a:ea typeface="Arimo"/>
                  <a:cs typeface="Arimo"/>
                  <a:sym typeface="Arimo"/>
                </a:rPr>
                <a:t>BLOCKED?</a:t>
              </a:r>
            </a:p>
          </p:txBody>
        </p:sp>
      </p:grpSp>
      <p:sp>
        <p:nvSpPr>
          <p:cNvPr name="TextBox 61" id="61"/>
          <p:cNvSpPr txBox="true"/>
          <p:nvPr/>
        </p:nvSpPr>
        <p:spPr>
          <a:xfrm rot="0">
            <a:off x="1693943" y="180894"/>
            <a:ext cx="14592499" cy="738492"/>
          </a:xfrm>
          <a:prstGeom prst="rect">
            <a:avLst/>
          </a:prstGeom>
        </p:spPr>
        <p:txBody>
          <a:bodyPr anchor="t" rtlCol="false" tIns="0" lIns="0" bIns="0" rIns="0">
            <a:spAutoFit/>
          </a:bodyPr>
          <a:lstStyle/>
          <a:p>
            <a:pPr algn="ctr">
              <a:lnSpc>
                <a:spcPts val="6020"/>
              </a:lnSpc>
            </a:pPr>
            <a:r>
              <a:rPr lang="en-US" sz="4300" b="true">
                <a:solidFill>
                  <a:srgbClr val="292D3A"/>
                </a:solidFill>
                <a:latin typeface="Canva Sans Bold"/>
                <a:ea typeface="Canva Sans Bold"/>
                <a:cs typeface="Canva Sans Bold"/>
                <a:sym typeface="Canva Sans Bold"/>
              </a:rPr>
              <a:t>Simulation</a:t>
            </a:r>
          </a:p>
        </p:txBody>
      </p:sp>
      <p:sp>
        <p:nvSpPr>
          <p:cNvPr name="TextBox 62" id="62"/>
          <p:cNvSpPr txBox="true"/>
          <p:nvPr/>
        </p:nvSpPr>
        <p:spPr>
          <a:xfrm rot="0">
            <a:off x="1811027" y="8550542"/>
            <a:ext cx="1399877" cy="495300"/>
          </a:xfrm>
          <a:prstGeom prst="rect">
            <a:avLst/>
          </a:prstGeom>
        </p:spPr>
        <p:txBody>
          <a:bodyPr anchor="t" rtlCol="false" tIns="0" lIns="0" bIns="0" rIns="0">
            <a:spAutoFit/>
          </a:bodyPr>
          <a:lstStyle/>
          <a:p>
            <a:pPr algn="ctr">
              <a:lnSpc>
                <a:spcPts val="3779"/>
              </a:lnSpc>
              <a:spcBef>
                <a:spcPct val="0"/>
              </a:spcBef>
            </a:pPr>
            <a:r>
              <a:rPr lang="en-US" b="true" sz="3149">
                <a:solidFill>
                  <a:srgbClr val="292D3A"/>
                </a:solidFill>
                <a:latin typeface="Arimo Bold"/>
                <a:ea typeface="Arimo Bold"/>
                <a:cs typeface="Arimo Bold"/>
                <a:sym typeface="Arimo Bold"/>
              </a:rPr>
              <a:t>Mininet</a:t>
            </a:r>
          </a:p>
        </p:txBody>
      </p:sp>
      <p:sp>
        <p:nvSpPr>
          <p:cNvPr name="TextBox 63" id="63"/>
          <p:cNvSpPr txBox="true"/>
          <p:nvPr/>
        </p:nvSpPr>
        <p:spPr>
          <a:xfrm rot="0">
            <a:off x="2701262" y="2688997"/>
            <a:ext cx="1556330" cy="371475"/>
          </a:xfrm>
          <a:prstGeom prst="rect">
            <a:avLst/>
          </a:prstGeom>
        </p:spPr>
        <p:txBody>
          <a:bodyPr anchor="t" rtlCol="false" tIns="0" lIns="0" bIns="0" rIns="0">
            <a:spAutoFit/>
          </a:bodyPr>
          <a:lstStyle/>
          <a:p>
            <a:pPr algn="ctr">
              <a:lnSpc>
                <a:spcPts val="2819"/>
              </a:lnSpc>
              <a:spcBef>
                <a:spcPct val="0"/>
              </a:spcBef>
            </a:pPr>
            <a:r>
              <a:rPr lang="en-US" sz="2349">
                <a:solidFill>
                  <a:srgbClr val="292D3A"/>
                </a:solidFill>
                <a:latin typeface="Arimo"/>
                <a:ea typeface="Arimo"/>
                <a:cs typeface="Arimo"/>
                <a:sym typeface="Arimo"/>
              </a:rPr>
              <a:t>Packets</a:t>
            </a:r>
          </a:p>
        </p:txBody>
      </p:sp>
      <p:sp>
        <p:nvSpPr>
          <p:cNvPr name="TextBox 64" id="64"/>
          <p:cNvSpPr txBox="true"/>
          <p:nvPr/>
        </p:nvSpPr>
        <p:spPr>
          <a:xfrm rot="0">
            <a:off x="5123876" y="2935815"/>
            <a:ext cx="1481836" cy="314325"/>
          </a:xfrm>
          <a:prstGeom prst="rect">
            <a:avLst/>
          </a:prstGeom>
        </p:spPr>
        <p:txBody>
          <a:bodyPr anchor="t" rtlCol="false" tIns="0" lIns="0" bIns="0" rIns="0">
            <a:spAutoFit/>
          </a:bodyPr>
          <a:lstStyle/>
          <a:p>
            <a:pPr algn="ctr">
              <a:lnSpc>
                <a:spcPts val="2339"/>
              </a:lnSpc>
              <a:spcBef>
                <a:spcPct val="0"/>
              </a:spcBef>
            </a:pPr>
            <a:r>
              <a:rPr lang="en-US" b="true" sz="1949">
                <a:solidFill>
                  <a:srgbClr val="292D3A"/>
                </a:solidFill>
                <a:latin typeface="Arimo Bold"/>
                <a:ea typeface="Arimo Bold"/>
                <a:cs typeface="Arimo Bold"/>
                <a:sym typeface="Arimo Bold"/>
              </a:rPr>
              <a:t>Mirroring</a:t>
            </a:r>
          </a:p>
        </p:txBody>
      </p:sp>
      <p:sp>
        <p:nvSpPr>
          <p:cNvPr name="TextBox 65" id="65"/>
          <p:cNvSpPr txBox="true"/>
          <p:nvPr/>
        </p:nvSpPr>
        <p:spPr>
          <a:xfrm rot="0">
            <a:off x="7194337" y="2973915"/>
            <a:ext cx="3385044" cy="533400"/>
          </a:xfrm>
          <a:prstGeom prst="rect">
            <a:avLst/>
          </a:prstGeom>
        </p:spPr>
        <p:txBody>
          <a:bodyPr anchor="t" rtlCol="false" tIns="0" lIns="0" bIns="0" rIns="0">
            <a:spAutoFit/>
          </a:bodyPr>
          <a:lstStyle/>
          <a:p>
            <a:pPr algn="ctr">
              <a:lnSpc>
                <a:spcPts val="2099"/>
              </a:lnSpc>
              <a:spcBef>
                <a:spcPct val="0"/>
              </a:spcBef>
            </a:pPr>
            <a:r>
              <a:rPr lang="en-US" b="true" sz="1749">
                <a:solidFill>
                  <a:srgbClr val="292D3A"/>
                </a:solidFill>
                <a:latin typeface="Arimo Bold"/>
                <a:ea typeface="Arimo Bold"/>
                <a:cs typeface="Arimo Bold"/>
                <a:sym typeface="Arimo Bold"/>
              </a:rPr>
              <a:t>ACL + QOS Rules for all the flows</a:t>
            </a:r>
          </a:p>
        </p:txBody>
      </p:sp>
      <p:sp>
        <p:nvSpPr>
          <p:cNvPr name="TextBox 66" id="66"/>
          <p:cNvSpPr txBox="true"/>
          <p:nvPr/>
        </p:nvSpPr>
        <p:spPr>
          <a:xfrm rot="0">
            <a:off x="5893369" y="4624582"/>
            <a:ext cx="966366" cy="495300"/>
          </a:xfrm>
          <a:prstGeom prst="rect">
            <a:avLst/>
          </a:prstGeom>
        </p:spPr>
        <p:txBody>
          <a:bodyPr anchor="t" rtlCol="false" tIns="0" lIns="0" bIns="0" rIns="0">
            <a:spAutoFit/>
          </a:bodyPr>
          <a:lstStyle/>
          <a:p>
            <a:pPr algn="ctr">
              <a:lnSpc>
                <a:spcPts val="1918"/>
              </a:lnSpc>
              <a:spcBef>
                <a:spcPct val="0"/>
              </a:spcBef>
            </a:pPr>
            <a:r>
              <a:rPr lang="en-US" b="true" sz="1598">
                <a:solidFill>
                  <a:srgbClr val="292D3A"/>
                </a:solidFill>
                <a:latin typeface="Arimo Bold"/>
                <a:ea typeface="Arimo Bold"/>
                <a:cs typeface="Arimo Bold"/>
                <a:sym typeface="Arimo Bold"/>
              </a:rPr>
              <a:t>Quic Packets</a:t>
            </a:r>
          </a:p>
        </p:txBody>
      </p:sp>
      <p:sp>
        <p:nvSpPr>
          <p:cNvPr name="TextBox 67" id="67"/>
          <p:cNvSpPr txBox="true"/>
          <p:nvPr/>
        </p:nvSpPr>
        <p:spPr>
          <a:xfrm rot="0">
            <a:off x="2346288" y="7779017"/>
            <a:ext cx="864617" cy="276225"/>
          </a:xfrm>
          <a:prstGeom prst="rect">
            <a:avLst/>
          </a:prstGeom>
        </p:spPr>
        <p:txBody>
          <a:bodyPr anchor="t" rtlCol="false" tIns="0" lIns="0" bIns="0" rIns="0">
            <a:spAutoFit/>
          </a:bodyPr>
          <a:lstStyle/>
          <a:p>
            <a:pPr algn="ctr">
              <a:lnSpc>
                <a:spcPts val="2099"/>
              </a:lnSpc>
              <a:spcBef>
                <a:spcPct val="0"/>
              </a:spcBef>
            </a:pPr>
            <a:r>
              <a:rPr lang="en-US" sz="1749">
                <a:solidFill>
                  <a:srgbClr val="292D3A"/>
                </a:solidFill>
                <a:latin typeface="Arimo"/>
                <a:ea typeface="Arimo"/>
                <a:cs typeface="Arimo"/>
                <a:sym typeface="Arimo"/>
              </a:rPr>
              <a:t>Hc Node</a:t>
            </a:r>
          </a:p>
        </p:txBody>
      </p:sp>
      <p:sp>
        <p:nvSpPr>
          <p:cNvPr name="TextBox 68" id="68"/>
          <p:cNvSpPr txBox="true"/>
          <p:nvPr/>
        </p:nvSpPr>
        <p:spPr>
          <a:xfrm rot="0">
            <a:off x="5069007" y="3202515"/>
            <a:ext cx="1536490" cy="304800"/>
          </a:xfrm>
          <a:prstGeom prst="rect">
            <a:avLst/>
          </a:prstGeom>
        </p:spPr>
        <p:txBody>
          <a:bodyPr anchor="t" rtlCol="false" tIns="0" lIns="0" bIns="0" rIns="0">
            <a:spAutoFit/>
          </a:bodyPr>
          <a:lstStyle/>
          <a:p>
            <a:pPr algn="ctr">
              <a:lnSpc>
                <a:spcPts val="2219"/>
              </a:lnSpc>
              <a:spcBef>
                <a:spcPct val="0"/>
              </a:spcBef>
            </a:pPr>
            <a:r>
              <a:rPr lang="en-US" b="true" sz="1849">
                <a:solidFill>
                  <a:srgbClr val="292D3A"/>
                </a:solidFill>
                <a:latin typeface="Arimo Bold"/>
                <a:ea typeface="Arimo Bold"/>
                <a:cs typeface="Arimo Bold"/>
                <a:sym typeface="Arimo Bold"/>
              </a:rPr>
              <a:t>s1-eth3</a:t>
            </a:r>
          </a:p>
        </p:txBody>
      </p:sp>
      <p:sp>
        <p:nvSpPr>
          <p:cNvPr name="TextBox 69" id="69"/>
          <p:cNvSpPr txBox="true"/>
          <p:nvPr/>
        </p:nvSpPr>
        <p:spPr>
          <a:xfrm rot="0">
            <a:off x="5388839" y="1623680"/>
            <a:ext cx="1302382" cy="904875"/>
          </a:xfrm>
          <a:prstGeom prst="rect">
            <a:avLst/>
          </a:prstGeom>
        </p:spPr>
        <p:txBody>
          <a:bodyPr anchor="t" rtlCol="false" tIns="0" lIns="0" bIns="0" rIns="0">
            <a:spAutoFit/>
          </a:bodyPr>
          <a:lstStyle/>
          <a:p>
            <a:pPr algn="ctr">
              <a:lnSpc>
                <a:spcPts val="2339"/>
              </a:lnSpc>
            </a:pPr>
            <a:r>
              <a:rPr lang="en-US" sz="1949">
                <a:solidFill>
                  <a:srgbClr val="292D3A"/>
                </a:solidFill>
                <a:latin typeface="Arimo"/>
                <a:ea typeface="Arimo"/>
                <a:cs typeface="Arimo"/>
                <a:sym typeface="Arimo"/>
              </a:rPr>
              <a:t>OVS</a:t>
            </a:r>
          </a:p>
          <a:p>
            <a:pPr algn="ctr">
              <a:lnSpc>
                <a:spcPts val="2339"/>
              </a:lnSpc>
              <a:spcBef>
                <a:spcPct val="0"/>
              </a:spcBef>
            </a:pPr>
            <a:r>
              <a:rPr lang="en-US" sz="1949">
                <a:solidFill>
                  <a:srgbClr val="292D3A"/>
                </a:solidFill>
                <a:latin typeface="Arimo"/>
                <a:ea typeface="Arimo"/>
                <a:cs typeface="Arimo"/>
                <a:sym typeface="Arimo"/>
              </a:rPr>
              <a:t>(virtual switch)</a:t>
            </a:r>
          </a:p>
        </p:txBody>
      </p:sp>
      <p:sp>
        <p:nvSpPr>
          <p:cNvPr name="AutoShape 70" id="70"/>
          <p:cNvSpPr/>
          <p:nvPr/>
        </p:nvSpPr>
        <p:spPr>
          <a:xfrm>
            <a:off x="11218733" y="2017798"/>
            <a:ext cx="574990" cy="0"/>
          </a:xfrm>
          <a:prstGeom prst="line">
            <a:avLst/>
          </a:prstGeom>
          <a:ln cap="flat" w="38100">
            <a:solidFill>
              <a:srgbClr val="00A982"/>
            </a:solidFill>
            <a:prstDash val="solid"/>
            <a:headEnd type="none" len="sm" w="sm"/>
            <a:tailEnd type="triangle" len="med" w="lg"/>
          </a:ln>
        </p:spPr>
      </p:sp>
      <p:sp>
        <p:nvSpPr>
          <p:cNvPr name="TextBox 71" id="71"/>
          <p:cNvSpPr txBox="true"/>
          <p:nvPr/>
        </p:nvSpPr>
        <p:spPr>
          <a:xfrm rot="0">
            <a:off x="10900007" y="1771318"/>
            <a:ext cx="1116765" cy="219075"/>
          </a:xfrm>
          <a:prstGeom prst="rect">
            <a:avLst/>
          </a:prstGeom>
        </p:spPr>
        <p:txBody>
          <a:bodyPr anchor="t" rtlCol="false" tIns="0" lIns="0" bIns="0" rIns="0">
            <a:spAutoFit/>
          </a:bodyPr>
          <a:lstStyle/>
          <a:p>
            <a:pPr algn="ctr">
              <a:lnSpc>
                <a:spcPts val="1620"/>
              </a:lnSpc>
              <a:spcBef>
                <a:spcPct val="0"/>
              </a:spcBef>
            </a:pPr>
            <a:r>
              <a:rPr lang="en-US" sz="1350">
                <a:solidFill>
                  <a:srgbClr val="292D3A"/>
                </a:solidFill>
                <a:latin typeface="Arimo"/>
                <a:ea typeface="Arimo"/>
                <a:cs typeface="Arimo"/>
                <a:sym typeface="Arimo"/>
              </a:rPr>
              <a:t>NO</a:t>
            </a:r>
          </a:p>
        </p:txBody>
      </p:sp>
      <p:grpSp>
        <p:nvGrpSpPr>
          <p:cNvPr name="Group 72" id="72"/>
          <p:cNvGrpSpPr/>
          <p:nvPr/>
        </p:nvGrpSpPr>
        <p:grpSpPr>
          <a:xfrm rot="21469">
            <a:off x="12271722" y="1560667"/>
            <a:ext cx="2706729" cy="221250"/>
            <a:chOff x="0" y="0"/>
            <a:chExt cx="712883" cy="58272"/>
          </a:xfrm>
        </p:grpSpPr>
        <p:sp>
          <p:nvSpPr>
            <p:cNvPr name="Freeform 73" id="73"/>
            <p:cNvSpPr/>
            <p:nvPr/>
          </p:nvSpPr>
          <p:spPr>
            <a:xfrm flipH="false" flipV="false" rot="0">
              <a:off x="0" y="0"/>
              <a:ext cx="712883" cy="58272"/>
            </a:xfrm>
            <a:custGeom>
              <a:avLst/>
              <a:gdLst/>
              <a:ahLst/>
              <a:cxnLst/>
              <a:rect r="r" b="b" t="t" l="l"/>
              <a:pathLst>
                <a:path h="58272" w="712883">
                  <a:moveTo>
                    <a:pt x="0" y="0"/>
                  </a:moveTo>
                  <a:lnTo>
                    <a:pt x="712883" y="0"/>
                  </a:lnTo>
                  <a:lnTo>
                    <a:pt x="712883" y="58272"/>
                  </a:lnTo>
                  <a:lnTo>
                    <a:pt x="0" y="58272"/>
                  </a:lnTo>
                  <a:close/>
                </a:path>
              </a:pathLst>
            </a:custGeom>
            <a:solidFill>
              <a:srgbClr val="FFFFFF"/>
            </a:solidFill>
            <a:ln w="9525" cap="sq">
              <a:solidFill>
                <a:srgbClr val="000000"/>
              </a:solidFill>
              <a:prstDash val="solid"/>
              <a:miter/>
            </a:ln>
          </p:spPr>
        </p:sp>
        <p:sp>
          <p:nvSpPr>
            <p:cNvPr name="TextBox 74" id="74"/>
            <p:cNvSpPr txBox="true"/>
            <p:nvPr/>
          </p:nvSpPr>
          <p:spPr>
            <a:xfrm>
              <a:off x="0" y="-19050"/>
              <a:ext cx="712883" cy="77322"/>
            </a:xfrm>
            <a:prstGeom prst="rect">
              <a:avLst/>
            </a:prstGeom>
          </p:spPr>
          <p:txBody>
            <a:bodyPr anchor="ctr" rtlCol="false" tIns="50800" lIns="50800" bIns="50800" rIns="50800"/>
            <a:lstStyle/>
            <a:p>
              <a:pPr algn="ctr">
                <a:lnSpc>
                  <a:spcPts val="3299"/>
                </a:lnSpc>
              </a:pPr>
            </a:p>
          </p:txBody>
        </p:sp>
      </p:grpSp>
      <p:grpSp>
        <p:nvGrpSpPr>
          <p:cNvPr name="Group 75" id="75"/>
          <p:cNvGrpSpPr/>
          <p:nvPr/>
        </p:nvGrpSpPr>
        <p:grpSpPr>
          <a:xfrm rot="21469">
            <a:off x="12271722" y="1898830"/>
            <a:ext cx="2706729" cy="221250"/>
            <a:chOff x="0" y="0"/>
            <a:chExt cx="712883" cy="58272"/>
          </a:xfrm>
        </p:grpSpPr>
        <p:sp>
          <p:nvSpPr>
            <p:cNvPr name="Freeform 76" id="76"/>
            <p:cNvSpPr/>
            <p:nvPr/>
          </p:nvSpPr>
          <p:spPr>
            <a:xfrm flipH="false" flipV="false" rot="0">
              <a:off x="0" y="0"/>
              <a:ext cx="712883" cy="58272"/>
            </a:xfrm>
            <a:custGeom>
              <a:avLst/>
              <a:gdLst/>
              <a:ahLst/>
              <a:cxnLst/>
              <a:rect r="r" b="b" t="t" l="l"/>
              <a:pathLst>
                <a:path h="58272" w="712883">
                  <a:moveTo>
                    <a:pt x="0" y="0"/>
                  </a:moveTo>
                  <a:lnTo>
                    <a:pt x="712883" y="0"/>
                  </a:lnTo>
                  <a:lnTo>
                    <a:pt x="712883" y="58272"/>
                  </a:lnTo>
                  <a:lnTo>
                    <a:pt x="0" y="58272"/>
                  </a:lnTo>
                  <a:close/>
                </a:path>
              </a:pathLst>
            </a:custGeom>
            <a:solidFill>
              <a:srgbClr val="FFFFFF"/>
            </a:solidFill>
            <a:ln w="9525" cap="sq">
              <a:solidFill>
                <a:srgbClr val="000000"/>
              </a:solidFill>
              <a:prstDash val="solid"/>
              <a:miter/>
            </a:ln>
          </p:spPr>
        </p:sp>
        <p:sp>
          <p:nvSpPr>
            <p:cNvPr name="TextBox 77" id="77"/>
            <p:cNvSpPr txBox="true"/>
            <p:nvPr/>
          </p:nvSpPr>
          <p:spPr>
            <a:xfrm>
              <a:off x="0" y="-19050"/>
              <a:ext cx="712883" cy="77322"/>
            </a:xfrm>
            <a:prstGeom prst="rect">
              <a:avLst/>
            </a:prstGeom>
          </p:spPr>
          <p:txBody>
            <a:bodyPr anchor="ctr" rtlCol="false" tIns="50800" lIns="50800" bIns="50800" rIns="50800"/>
            <a:lstStyle/>
            <a:p>
              <a:pPr algn="ctr">
                <a:lnSpc>
                  <a:spcPts val="3299"/>
                </a:lnSpc>
              </a:pPr>
            </a:p>
          </p:txBody>
        </p:sp>
      </p:grpSp>
      <p:grpSp>
        <p:nvGrpSpPr>
          <p:cNvPr name="Group 78" id="78"/>
          <p:cNvGrpSpPr/>
          <p:nvPr/>
        </p:nvGrpSpPr>
        <p:grpSpPr>
          <a:xfrm rot="21469">
            <a:off x="12271722" y="2270330"/>
            <a:ext cx="2706729" cy="221250"/>
            <a:chOff x="0" y="0"/>
            <a:chExt cx="712883" cy="58272"/>
          </a:xfrm>
        </p:grpSpPr>
        <p:sp>
          <p:nvSpPr>
            <p:cNvPr name="Freeform 79" id="79"/>
            <p:cNvSpPr/>
            <p:nvPr/>
          </p:nvSpPr>
          <p:spPr>
            <a:xfrm flipH="false" flipV="false" rot="0">
              <a:off x="0" y="0"/>
              <a:ext cx="712883" cy="58272"/>
            </a:xfrm>
            <a:custGeom>
              <a:avLst/>
              <a:gdLst/>
              <a:ahLst/>
              <a:cxnLst/>
              <a:rect r="r" b="b" t="t" l="l"/>
              <a:pathLst>
                <a:path h="58272" w="712883">
                  <a:moveTo>
                    <a:pt x="0" y="0"/>
                  </a:moveTo>
                  <a:lnTo>
                    <a:pt x="712883" y="0"/>
                  </a:lnTo>
                  <a:lnTo>
                    <a:pt x="712883" y="58272"/>
                  </a:lnTo>
                  <a:lnTo>
                    <a:pt x="0" y="58272"/>
                  </a:lnTo>
                  <a:close/>
                </a:path>
              </a:pathLst>
            </a:custGeom>
            <a:solidFill>
              <a:srgbClr val="FFFFFF"/>
            </a:solidFill>
            <a:ln w="9525" cap="sq">
              <a:solidFill>
                <a:srgbClr val="000000"/>
              </a:solidFill>
              <a:prstDash val="solid"/>
              <a:miter/>
            </a:ln>
          </p:spPr>
        </p:sp>
        <p:sp>
          <p:nvSpPr>
            <p:cNvPr name="TextBox 80" id="80"/>
            <p:cNvSpPr txBox="true"/>
            <p:nvPr/>
          </p:nvSpPr>
          <p:spPr>
            <a:xfrm>
              <a:off x="0" y="-19050"/>
              <a:ext cx="712883" cy="77322"/>
            </a:xfrm>
            <a:prstGeom prst="rect">
              <a:avLst/>
            </a:prstGeom>
          </p:spPr>
          <p:txBody>
            <a:bodyPr anchor="ctr" rtlCol="false" tIns="50800" lIns="50800" bIns="50800" rIns="50800"/>
            <a:lstStyle/>
            <a:p>
              <a:pPr algn="ctr">
                <a:lnSpc>
                  <a:spcPts val="3299"/>
                </a:lnSpc>
              </a:pPr>
            </a:p>
          </p:txBody>
        </p:sp>
      </p:grpSp>
      <p:sp>
        <p:nvSpPr>
          <p:cNvPr name="TextBox 81" id="81"/>
          <p:cNvSpPr txBox="true"/>
          <p:nvPr/>
        </p:nvSpPr>
        <p:spPr>
          <a:xfrm rot="0">
            <a:off x="13079118" y="2457118"/>
            <a:ext cx="1116765" cy="219075"/>
          </a:xfrm>
          <a:prstGeom prst="rect">
            <a:avLst/>
          </a:prstGeom>
        </p:spPr>
        <p:txBody>
          <a:bodyPr anchor="t" rtlCol="false" tIns="0" lIns="0" bIns="0" rIns="0">
            <a:spAutoFit/>
          </a:bodyPr>
          <a:lstStyle/>
          <a:p>
            <a:pPr algn="ctr">
              <a:lnSpc>
                <a:spcPts val="1620"/>
              </a:lnSpc>
              <a:spcBef>
                <a:spcPct val="0"/>
              </a:spcBef>
            </a:pPr>
            <a:r>
              <a:rPr lang="en-US" sz="1350">
                <a:solidFill>
                  <a:srgbClr val="292D3A"/>
                </a:solidFill>
                <a:latin typeface="Arimo"/>
                <a:ea typeface="Arimo"/>
                <a:cs typeface="Arimo"/>
                <a:sym typeface="Arimo"/>
              </a:rPr>
              <a:t>Queue</a:t>
            </a:r>
          </a:p>
        </p:txBody>
      </p:sp>
      <p:sp>
        <p:nvSpPr>
          <p:cNvPr name="TextBox 82" id="82"/>
          <p:cNvSpPr txBox="true"/>
          <p:nvPr/>
        </p:nvSpPr>
        <p:spPr>
          <a:xfrm rot="0">
            <a:off x="12271057" y="1537955"/>
            <a:ext cx="2708058" cy="219075"/>
          </a:xfrm>
          <a:prstGeom prst="rect">
            <a:avLst/>
          </a:prstGeom>
        </p:spPr>
        <p:txBody>
          <a:bodyPr anchor="t" rtlCol="false" tIns="0" lIns="0" bIns="0" rIns="0">
            <a:spAutoFit/>
          </a:bodyPr>
          <a:lstStyle/>
          <a:p>
            <a:pPr algn="ctr">
              <a:lnSpc>
                <a:spcPts val="1620"/>
              </a:lnSpc>
              <a:spcBef>
                <a:spcPct val="0"/>
              </a:spcBef>
            </a:pPr>
            <a:r>
              <a:rPr lang="en-US" sz="1350">
                <a:solidFill>
                  <a:srgbClr val="292D3A"/>
                </a:solidFill>
                <a:latin typeface="Arimo"/>
                <a:ea typeface="Arimo"/>
                <a:cs typeface="Arimo"/>
                <a:sym typeface="Arimo"/>
              </a:rPr>
              <a:t>Video</a:t>
            </a:r>
          </a:p>
        </p:txBody>
      </p:sp>
      <p:sp>
        <p:nvSpPr>
          <p:cNvPr name="TextBox 83" id="83"/>
          <p:cNvSpPr txBox="true"/>
          <p:nvPr/>
        </p:nvSpPr>
        <p:spPr>
          <a:xfrm rot="0">
            <a:off x="12283472" y="1890393"/>
            <a:ext cx="2708058" cy="219075"/>
          </a:xfrm>
          <a:prstGeom prst="rect">
            <a:avLst/>
          </a:prstGeom>
        </p:spPr>
        <p:txBody>
          <a:bodyPr anchor="t" rtlCol="false" tIns="0" lIns="0" bIns="0" rIns="0">
            <a:spAutoFit/>
          </a:bodyPr>
          <a:lstStyle/>
          <a:p>
            <a:pPr algn="ctr">
              <a:lnSpc>
                <a:spcPts val="1620"/>
              </a:lnSpc>
              <a:spcBef>
                <a:spcPct val="0"/>
              </a:spcBef>
            </a:pPr>
            <a:r>
              <a:rPr lang="en-US" sz="1350">
                <a:solidFill>
                  <a:srgbClr val="292D3A"/>
                </a:solidFill>
                <a:latin typeface="Arimo"/>
                <a:ea typeface="Arimo"/>
                <a:cs typeface="Arimo"/>
                <a:sym typeface="Arimo"/>
              </a:rPr>
              <a:t>Web</a:t>
            </a:r>
          </a:p>
        </p:txBody>
      </p:sp>
      <p:sp>
        <p:nvSpPr>
          <p:cNvPr name="TextBox 84" id="84"/>
          <p:cNvSpPr txBox="true"/>
          <p:nvPr/>
        </p:nvSpPr>
        <p:spPr>
          <a:xfrm rot="0">
            <a:off x="12283472" y="2257093"/>
            <a:ext cx="2708058" cy="219075"/>
          </a:xfrm>
          <a:prstGeom prst="rect">
            <a:avLst/>
          </a:prstGeom>
        </p:spPr>
        <p:txBody>
          <a:bodyPr anchor="t" rtlCol="false" tIns="0" lIns="0" bIns="0" rIns="0">
            <a:spAutoFit/>
          </a:bodyPr>
          <a:lstStyle/>
          <a:p>
            <a:pPr algn="ctr">
              <a:lnSpc>
                <a:spcPts val="1620"/>
              </a:lnSpc>
              <a:spcBef>
                <a:spcPct val="0"/>
              </a:spcBef>
            </a:pPr>
            <a:r>
              <a:rPr lang="en-US" sz="1350">
                <a:solidFill>
                  <a:srgbClr val="292D3A"/>
                </a:solidFill>
                <a:latin typeface="Arimo"/>
                <a:ea typeface="Arimo"/>
                <a:cs typeface="Arimo"/>
                <a:sym typeface="Arimo"/>
              </a:rPr>
              <a:t>data</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1028700" y="6293388"/>
            <a:ext cx="16230600" cy="0"/>
          </a:xfrm>
          <a:prstGeom prst="line">
            <a:avLst/>
          </a:prstGeom>
          <a:ln cap="flat" w="38100">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7607808" y="9603467"/>
            <a:ext cx="9326499" cy="285750"/>
            <a:chOff x="0" y="0"/>
            <a:chExt cx="12435332" cy="381000"/>
          </a:xfrm>
        </p:grpSpPr>
        <p:sp>
          <p:nvSpPr>
            <p:cNvPr name="Freeform 6" id="6"/>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7" id="7"/>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TextBox 8" id="8"/>
          <p:cNvSpPr txBox="true"/>
          <p:nvPr/>
        </p:nvSpPr>
        <p:spPr>
          <a:xfrm rot="0">
            <a:off x="3429762" y="4542465"/>
            <a:ext cx="11428476" cy="1078245"/>
          </a:xfrm>
          <a:prstGeom prst="rect">
            <a:avLst/>
          </a:prstGeom>
        </p:spPr>
        <p:txBody>
          <a:bodyPr anchor="t" rtlCol="false" tIns="0" lIns="0" bIns="0" rIns="0">
            <a:spAutoFit/>
          </a:bodyPr>
          <a:lstStyle/>
          <a:p>
            <a:pPr algn="ctr">
              <a:lnSpc>
                <a:spcPts val="8820"/>
              </a:lnSpc>
            </a:pPr>
            <a:r>
              <a:rPr lang="en-US" sz="6300" b="true">
                <a:solidFill>
                  <a:srgbClr val="292D3A"/>
                </a:solidFill>
                <a:latin typeface="Canva Sans Bold"/>
                <a:ea typeface="Canva Sans Bold"/>
                <a:cs typeface="Canva Sans Bold"/>
                <a:sym typeface="Canva Sans Bold"/>
              </a:rPr>
              <a:t>DEMO</a:t>
            </a:r>
          </a:p>
        </p:txBody>
      </p:sp>
      <p:sp>
        <p:nvSpPr>
          <p:cNvPr name="AutoShape 9" id="9"/>
          <p:cNvSpPr/>
          <p:nvPr/>
        </p:nvSpPr>
        <p:spPr>
          <a:xfrm>
            <a:off x="1028700" y="3990015"/>
            <a:ext cx="16230600" cy="0"/>
          </a:xfrm>
          <a:prstGeom prst="line">
            <a:avLst/>
          </a:prstGeom>
          <a:ln cap="flat" w="38100">
            <a:solidFill>
              <a:srgbClr val="00A982"/>
            </a:solidFill>
            <a:prstDash val="solid"/>
            <a:headEnd type="none" len="sm" w="sm"/>
            <a:tailEnd type="none" len="sm" w="sm"/>
          </a:ln>
        </p:spPr>
      </p:sp>
      <p:grpSp>
        <p:nvGrpSpPr>
          <p:cNvPr name="Group 10" id="10"/>
          <p:cNvGrpSpPr/>
          <p:nvPr/>
        </p:nvGrpSpPr>
        <p:grpSpPr>
          <a:xfrm rot="0">
            <a:off x="17202150" y="9603467"/>
            <a:ext cx="511169" cy="285750"/>
            <a:chOff x="0" y="0"/>
            <a:chExt cx="681558" cy="381000"/>
          </a:xfrm>
        </p:grpSpPr>
        <p:sp>
          <p:nvSpPr>
            <p:cNvPr name="Freeform 11" id="11"/>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2" id="12"/>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16</a:t>
              </a:r>
            </a:p>
          </p:txBody>
        </p:sp>
      </p:gr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7139615" y="1992290"/>
            <a:ext cx="4398775" cy="0"/>
          </a:xfrm>
          <a:prstGeom prst="line">
            <a:avLst/>
          </a:prstGeom>
          <a:ln cap="rnd" w="12382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1028700" y="3192742"/>
            <a:ext cx="4872334" cy="5553253"/>
            <a:chOff x="0" y="0"/>
            <a:chExt cx="1283248" cy="1462585"/>
          </a:xfrm>
        </p:grpSpPr>
        <p:sp>
          <p:nvSpPr>
            <p:cNvPr name="Freeform 6" id="6"/>
            <p:cNvSpPr/>
            <p:nvPr/>
          </p:nvSpPr>
          <p:spPr>
            <a:xfrm flipH="false" flipV="false" rot="0">
              <a:off x="0" y="0"/>
              <a:ext cx="1283248" cy="1462585"/>
            </a:xfrm>
            <a:custGeom>
              <a:avLst/>
              <a:gdLst/>
              <a:ahLst/>
              <a:cxnLst/>
              <a:rect r="r" b="b" t="t" l="l"/>
              <a:pathLst>
                <a:path h="1462585" w="1283248">
                  <a:moveTo>
                    <a:pt x="47669" y="0"/>
                  </a:moveTo>
                  <a:lnTo>
                    <a:pt x="1235580" y="0"/>
                  </a:lnTo>
                  <a:cubicBezTo>
                    <a:pt x="1261906" y="0"/>
                    <a:pt x="1283248" y="21342"/>
                    <a:pt x="1283248" y="47669"/>
                  </a:cubicBezTo>
                  <a:lnTo>
                    <a:pt x="1283248" y="1414917"/>
                  </a:lnTo>
                  <a:cubicBezTo>
                    <a:pt x="1283248" y="1427559"/>
                    <a:pt x="1278226" y="1439684"/>
                    <a:pt x="1269287" y="1448623"/>
                  </a:cubicBezTo>
                  <a:cubicBezTo>
                    <a:pt x="1260347" y="1457563"/>
                    <a:pt x="1248222" y="1462585"/>
                    <a:pt x="1235580" y="1462585"/>
                  </a:cubicBezTo>
                  <a:lnTo>
                    <a:pt x="47669" y="1462585"/>
                  </a:lnTo>
                  <a:cubicBezTo>
                    <a:pt x="21342" y="1462585"/>
                    <a:pt x="0" y="1441243"/>
                    <a:pt x="0" y="1414917"/>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7" id="7"/>
            <p:cNvSpPr txBox="true"/>
            <p:nvPr/>
          </p:nvSpPr>
          <p:spPr>
            <a:xfrm>
              <a:off x="0" y="-19050"/>
              <a:ext cx="1283248" cy="1481635"/>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1" id="11"/>
          <p:cNvSpPr/>
          <p:nvPr/>
        </p:nvSpPr>
        <p:spPr>
          <a:xfrm flipH="false" flipV="false" rot="0">
            <a:off x="1489969" y="3596246"/>
            <a:ext cx="473656" cy="473656"/>
          </a:xfrm>
          <a:custGeom>
            <a:avLst/>
            <a:gdLst/>
            <a:ahLst/>
            <a:cxnLst/>
            <a:rect r="r" b="b" t="t" l="l"/>
            <a:pathLst>
              <a:path h="473656" w="473656">
                <a:moveTo>
                  <a:pt x="0" y="0"/>
                </a:moveTo>
                <a:lnTo>
                  <a:pt x="473656" y="0"/>
                </a:lnTo>
                <a:lnTo>
                  <a:pt x="473656" y="473656"/>
                </a:lnTo>
                <a:lnTo>
                  <a:pt x="0" y="473656"/>
                </a:lnTo>
                <a:lnTo>
                  <a:pt x="0" y="0"/>
                </a:lnTo>
                <a:close/>
              </a:path>
            </a:pathLst>
          </a:custGeom>
          <a:blipFill>
            <a:blip r:embed="rId5"/>
            <a:stretch>
              <a:fillRect l="0" t="0" r="0" b="0"/>
            </a:stretch>
          </a:blipFill>
        </p:spPr>
      </p:sp>
      <p:grpSp>
        <p:nvGrpSpPr>
          <p:cNvPr name="Group 12" id="12"/>
          <p:cNvGrpSpPr/>
          <p:nvPr/>
        </p:nvGrpSpPr>
        <p:grpSpPr>
          <a:xfrm rot="0">
            <a:off x="6364566" y="3192742"/>
            <a:ext cx="5173824" cy="5553253"/>
            <a:chOff x="0" y="0"/>
            <a:chExt cx="1362653" cy="1462585"/>
          </a:xfrm>
        </p:grpSpPr>
        <p:sp>
          <p:nvSpPr>
            <p:cNvPr name="Freeform 13" id="13"/>
            <p:cNvSpPr/>
            <p:nvPr/>
          </p:nvSpPr>
          <p:spPr>
            <a:xfrm flipH="false" flipV="false" rot="0">
              <a:off x="0" y="0"/>
              <a:ext cx="1362653" cy="1462585"/>
            </a:xfrm>
            <a:custGeom>
              <a:avLst/>
              <a:gdLst/>
              <a:ahLst/>
              <a:cxnLst/>
              <a:rect r="r" b="b" t="t" l="l"/>
              <a:pathLst>
                <a:path h="1462585" w="1362653">
                  <a:moveTo>
                    <a:pt x="44891" y="0"/>
                  </a:moveTo>
                  <a:lnTo>
                    <a:pt x="1317762" y="0"/>
                  </a:lnTo>
                  <a:cubicBezTo>
                    <a:pt x="1329668" y="0"/>
                    <a:pt x="1341086" y="4730"/>
                    <a:pt x="1349505" y="13148"/>
                  </a:cubicBezTo>
                  <a:cubicBezTo>
                    <a:pt x="1357924" y="21567"/>
                    <a:pt x="1362653" y="32985"/>
                    <a:pt x="1362653" y="44891"/>
                  </a:cubicBezTo>
                  <a:lnTo>
                    <a:pt x="1362653" y="1417694"/>
                  </a:lnTo>
                  <a:cubicBezTo>
                    <a:pt x="1362653" y="1442487"/>
                    <a:pt x="1342555" y="1462585"/>
                    <a:pt x="1317762" y="1462585"/>
                  </a:cubicBezTo>
                  <a:lnTo>
                    <a:pt x="44891" y="1462585"/>
                  </a:lnTo>
                  <a:cubicBezTo>
                    <a:pt x="20098" y="1462585"/>
                    <a:pt x="0" y="1442487"/>
                    <a:pt x="0" y="1417694"/>
                  </a:cubicBezTo>
                  <a:lnTo>
                    <a:pt x="0" y="44891"/>
                  </a:lnTo>
                  <a:cubicBezTo>
                    <a:pt x="0" y="20098"/>
                    <a:pt x="20098" y="0"/>
                    <a:pt x="44891" y="0"/>
                  </a:cubicBezTo>
                  <a:close/>
                </a:path>
              </a:pathLst>
            </a:custGeom>
            <a:solidFill>
              <a:srgbClr val="F9FAFC"/>
            </a:solidFill>
            <a:ln w="28575" cap="rnd">
              <a:solidFill>
                <a:srgbClr val="ECF0F6"/>
              </a:solidFill>
              <a:prstDash val="solid"/>
              <a:round/>
            </a:ln>
          </p:spPr>
        </p:sp>
        <p:sp>
          <p:nvSpPr>
            <p:cNvPr name="TextBox 14" id="14"/>
            <p:cNvSpPr txBox="true"/>
            <p:nvPr/>
          </p:nvSpPr>
          <p:spPr>
            <a:xfrm>
              <a:off x="0" y="-19050"/>
              <a:ext cx="1362653" cy="1481635"/>
            </a:xfrm>
            <a:prstGeom prst="rect">
              <a:avLst/>
            </a:prstGeom>
          </p:spPr>
          <p:txBody>
            <a:bodyPr anchor="ctr" rtlCol="false" tIns="50800" lIns="50800" bIns="50800" rIns="50800"/>
            <a:lstStyle/>
            <a:p>
              <a:pPr algn="ctr">
                <a:lnSpc>
                  <a:spcPts val="1620"/>
                </a:lnSpc>
              </a:pPr>
            </a:p>
          </p:txBody>
        </p:sp>
      </p:grpSp>
      <p:sp>
        <p:nvSpPr>
          <p:cNvPr name="Freeform 15" id="15"/>
          <p:cNvSpPr/>
          <p:nvPr/>
        </p:nvSpPr>
        <p:spPr>
          <a:xfrm flipH="false" flipV="false" rot="0">
            <a:off x="6871013" y="3596246"/>
            <a:ext cx="537203" cy="460176"/>
          </a:xfrm>
          <a:custGeom>
            <a:avLst/>
            <a:gdLst/>
            <a:ahLst/>
            <a:cxnLst/>
            <a:rect r="r" b="b" t="t" l="l"/>
            <a:pathLst>
              <a:path h="460176" w="537203">
                <a:moveTo>
                  <a:pt x="0" y="0"/>
                </a:moveTo>
                <a:lnTo>
                  <a:pt x="537203" y="0"/>
                </a:lnTo>
                <a:lnTo>
                  <a:pt x="537203" y="460176"/>
                </a:lnTo>
                <a:lnTo>
                  <a:pt x="0" y="460176"/>
                </a:lnTo>
                <a:lnTo>
                  <a:pt x="0" y="0"/>
                </a:lnTo>
                <a:close/>
              </a:path>
            </a:pathLst>
          </a:custGeom>
          <a:blipFill>
            <a:blip r:embed="rId6"/>
            <a:stretch>
              <a:fillRect l="-3603" t="-121" r="-3603" b="0"/>
            </a:stretch>
          </a:blipFill>
        </p:spPr>
      </p:sp>
      <p:sp>
        <p:nvSpPr>
          <p:cNvPr name="TextBox 16" id="16"/>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Key Learnings</a:t>
            </a:r>
          </a:p>
        </p:txBody>
      </p:sp>
      <p:sp>
        <p:nvSpPr>
          <p:cNvPr name="TextBox 17" id="17"/>
          <p:cNvSpPr txBox="true"/>
          <p:nvPr/>
        </p:nvSpPr>
        <p:spPr>
          <a:xfrm rot="0">
            <a:off x="1489969" y="4514042"/>
            <a:ext cx="4021336" cy="396225"/>
          </a:xfrm>
          <a:prstGeom prst="rect">
            <a:avLst/>
          </a:prstGeom>
        </p:spPr>
        <p:txBody>
          <a:bodyPr anchor="t" rtlCol="false" tIns="0" lIns="0" bIns="0" rIns="0">
            <a:spAutoFit/>
          </a:bodyPr>
          <a:lstStyle/>
          <a:p>
            <a:pPr algn="l">
              <a:lnSpc>
                <a:spcPts val="3360"/>
              </a:lnSpc>
            </a:pPr>
            <a:r>
              <a:rPr lang="en-US" sz="2400" b="true">
                <a:solidFill>
                  <a:srgbClr val="00A982"/>
                </a:solidFill>
                <a:latin typeface="Canva Sans Bold"/>
                <a:ea typeface="Canva Sans Bold"/>
                <a:cs typeface="Canva Sans Bold"/>
                <a:sym typeface="Canva Sans Bold"/>
              </a:rPr>
              <a:t>Raw Sockets Over Libraries</a:t>
            </a:r>
          </a:p>
        </p:txBody>
      </p:sp>
      <p:sp>
        <p:nvSpPr>
          <p:cNvPr name="TextBox 18" id="18"/>
          <p:cNvSpPr txBox="true"/>
          <p:nvPr/>
        </p:nvSpPr>
        <p:spPr>
          <a:xfrm rot="0">
            <a:off x="1489969" y="5318017"/>
            <a:ext cx="4411065" cy="2715803"/>
          </a:xfrm>
          <a:prstGeom prst="rect">
            <a:avLst/>
          </a:prstGeom>
        </p:spPr>
        <p:txBody>
          <a:bodyPr anchor="t" rtlCol="false" tIns="0" lIns="0" bIns="0" rIns="0">
            <a:spAutoFit/>
          </a:bodyPr>
          <a:lstStyle/>
          <a:p>
            <a:pPr algn="l">
              <a:lnSpc>
                <a:spcPts val="3090"/>
              </a:lnSpc>
            </a:pPr>
            <a:r>
              <a:rPr lang="en-US" sz="2207">
                <a:solidFill>
                  <a:srgbClr val="000000"/>
                </a:solidFill>
                <a:latin typeface="Canva Sans"/>
                <a:ea typeface="Canva Sans"/>
                <a:cs typeface="Canva Sans"/>
                <a:sym typeface="Canva Sans"/>
              </a:rPr>
              <a:t>Re-implem</a:t>
            </a:r>
            <a:r>
              <a:rPr lang="en-US" sz="2207">
                <a:solidFill>
                  <a:srgbClr val="000000"/>
                </a:solidFill>
                <a:latin typeface="Canva Sans"/>
                <a:ea typeface="Canva Sans"/>
                <a:cs typeface="Canva Sans"/>
                <a:sym typeface="Canva Sans"/>
              </a:rPr>
              <a:t>enting a purpose-built L2-L4 parser via raw Python sockets (ETH_P_ALL) is vastly superior to heavy libraries for achieving zero-latency processing in constrained SDN namespaces.</a:t>
            </a:r>
          </a:p>
        </p:txBody>
      </p:sp>
      <p:sp>
        <p:nvSpPr>
          <p:cNvPr name="TextBox 19" id="19"/>
          <p:cNvSpPr txBox="true"/>
          <p:nvPr/>
        </p:nvSpPr>
        <p:spPr>
          <a:xfrm rot="0">
            <a:off x="6861488" y="4333095"/>
            <a:ext cx="4496395" cy="815338"/>
          </a:xfrm>
          <a:prstGeom prst="rect">
            <a:avLst/>
          </a:prstGeom>
        </p:spPr>
        <p:txBody>
          <a:bodyPr anchor="t" rtlCol="false" tIns="0" lIns="0" bIns="0" rIns="0">
            <a:spAutoFit/>
          </a:bodyPr>
          <a:lstStyle/>
          <a:p>
            <a:pPr algn="l">
              <a:lnSpc>
                <a:spcPts val="3360"/>
              </a:lnSpc>
            </a:pPr>
            <a:r>
              <a:rPr lang="en-US" sz="2400" b="true">
                <a:solidFill>
                  <a:srgbClr val="00A982"/>
                </a:solidFill>
                <a:latin typeface="Canva Sans Bold"/>
                <a:ea typeface="Canva Sans Bold"/>
                <a:cs typeface="Canva Sans Bold"/>
                <a:sym typeface="Canva Sans Bold"/>
              </a:rPr>
              <a:t>Understanding QUIC Protocol </a:t>
            </a:r>
          </a:p>
          <a:p>
            <a:pPr algn="l">
              <a:lnSpc>
                <a:spcPts val="3360"/>
              </a:lnSpc>
            </a:pPr>
            <a:r>
              <a:rPr lang="en-US" sz="2400" b="true">
                <a:solidFill>
                  <a:srgbClr val="00A982"/>
                </a:solidFill>
                <a:latin typeface="Canva Sans Bold"/>
                <a:ea typeface="Canva Sans Bold"/>
                <a:cs typeface="Canva Sans Bold"/>
                <a:sym typeface="Canva Sans Bold"/>
              </a:rPr>
              <a:t>Internals</a:t>
            </a:r>
          </a:p>
        </p:txBody>
      </p:sp>
      <p:sp>
        <p:nvSpPr>
          <p:cNvPr name="TextBox 20" id="20"/>
          <p:cNvSpPr txBox="true"/>
          <p:nvPr/>
        </p:nvSpPr>
        <p:spPr>
          <a:xfrm rot="0">
            <a:off x="6861488" y="5332708"/>
            <a:ext cx="4089277" cy="2956373"/>
          </a:xfrm>
          <a:prstGeom prst="rect">
            <a:avLst/>
          </a:prstGeom>
        </p:spPr>
        <p:txBody>
          <a:bodyPr anchor="t" rtlCol="false" tIns="0" lIns="0" bIns="0" rIns="0">
            <a:spAutoFit/>
          </a:bodyPr>
          <a:lstStyle/>
          <a:p>
            <a:pPr algn="l">
              <a:lnSpc>
                <a:spcPts val="2950"/>
              </a:lnSpc>
            </a:pPr>
            <a:r>
              <a:rPr lang="en-US" sz="2107">
                <a:solidFill>
                  <a:srgbClr val="000000"/>
                </a:solidFill>
                <a:latin typeface="Canva Sans"/>
                <a:ea typeface="Canva Sans"/>
                <a:cs typeface="Canva Sans"/>
                <a:sym typeface="Canva Sans"/>
              </a:rPr>
              <a:t>Developed a comprehensive understanding of the QUIC protocol, including Long and Sho</a:t>
            </a:r>
            <a:r>
              <a:rPr lang="en-US" sz="2107">
                <a:solidFill>
                  <a:srgbClr val="000000"/>
                </a:solidFill>
                <a:latin typeface="Canva Sans"/>
                <a:ea typeface="Canva Sans"/>
                <a:cs typeface="Canva Sans"/>
                <a:sym typeface="Canva Sans"/>
              </a:rPr>
              <a:t>rt Headers, Connection IDs, handshake packets, version negotiation, and how QUIC differs from traditional TCP/UDP communication.</a:t>
            </a:r>
          </a:p>
        </p:txBody>
      </p:sp>
      <p:grpSp>
        <p:nvGrpSpPr>
          <p:cNvPr name="Group 21" id="21"/>
          <p:cNvGrpSpPr/>
          <p:nvPr/>
        </p:nvGrpSpPr>
        <p:grpSpPr>
          <a:xfrm rot="0">
            <a:off x="11925041" y="3192742"/>
            <a:ext cx="5532693" cy="5553253"/>
            <a:chOff x="0" y="0"/>
            <a:chExt cx="1457170" cy="1462585"/>
          </a:xfrm>
        </p:grpSpPr>
        <p:sp>
          <p:nvSpPr>
            <p:cNvPr name="Freeform 22" id="22"/>
            <p:cNvSpPr/>
            <p:nvPr/>
          </p:nvSpPr>
          <p:spPr>
            <a:xfrm flipH="false" flipV="false" rot="0">
              <a:off x="0" y="0"/>
              <a:ext cx="1457170" cy="1462585"/>
            </a:xfrm>
            <a:custGeom>
              <a:avLst/>
              <a:gdLst/>
              <a:ahLst/>
              <a:cxnLst/>
              <a:rect r="r" b="b" t="t" l="l"/>
              <a:pathLst>
                <a:path h="1462585" w="1457170">
                  <a:moveTo>
                    <a:pt x="41979" y="0"/>
                  </a:moveTo>
                  <a:lnTo>
                    <a:pt x="1415191" y="0"/>
                  </a:lnTo>
                  <a:cubicBezTo>
                    <a:pt x="1438375" y="0"/>
                    <a:pt x="1457170" y="18795"/>
                    <a:pt x="1457170" y="41979"/>
                  </a:cubicBezTo>
                  <a:lnTo>
                    <a:pt x="1457170" y="1420606"/>
                  </a:lnTo>
                  <a:cubicBezTo>
                    <a:pt x="1457170" y="1443790"/>
                    <a:pt x="1438375" y="1462585"/>
                    <a:pt x="1415191" y="1462585"/>
                  </a:cubicBezTo>
                  <a:lnTo>
                    <a:pt x="41979" y="1462585"/>
                  </a:lnTo>
                  <a:cubicBezTo>
                    <a:pt x="18795" y="1462585"/>
                    <a:pt x="0" y="1443790"/>
                    <a:pt x="0" y="1420606"/>
                  </a:cubicBezTo>
                  <a:lnTo>
                    <a:pt x="0" y="41979"/>
                  </a:lnTo>
                  <a:cubicBezTo>
                    <a:pt x="0" y="18795"/>
                    <a:pt x="18795" y="0"/>
                    <a:pt x="41979" y="0"/>
                  </a:cubicBezTo>
                  <a:close/>
                </a:path>
              </a:pathLst>
            </a:custGeom>
            <a:solidFill>
              <a:srgbClr val="F9FAFC"/>
            </a:solidFill>
            <a:ln w="28575" cap="rnd">
              <a:solidFill>
                <a:srgbClr val="ECF0F6"/>
              </a:solidFill>
              <a:prstDash val="solid"/>
              <a:round/>
            </a:ln>
          </p:spPr>
        </p:sp>
        <p:sp>
          <p:nvSpPr>
            <p:cNvPr name="TextBox 23" id="23"/>
            <p:cNvSpPr txBox="true"/>
            <p:nvPr/>
          </p:nvSpPr>
          <p:spPr>
            <a:xfrm>
              <a:off x="0" y="-19050"/>
              <a:ext cx="1457170" cy="1481635"/>
            </a:xfrm>
            <a:prstGeom prst="rect">
              <a:avLst/>
            </a:prstGeom>
          </p:spPr>
          <p:txBody>
            <a:bodyPr anchor="ctr" rtlCol="false" tIns="50800" lIns="50800" bIns="50800" rIns="50800"/>
            <a:lstStyle/>
            <a:p>
              <a:pPr algn="ctr">
                <a:lnSpc>
                  <a:spcPts val="1620"/>
                </a:lnSpc>
              </a:pPr>
            </a:p>
          </p:txBody>
        </p:sp>
      </p:grpSp>
      <p:sp>
        <p:nvSpPr>
          <p:cNvPr name="Freeform 24" id="24"/>
          <p:cNvSpPr/>
          <p:nvPr/>
        </p:nvSpPr>
        <p:spPr>
          <a:xfrm flipH="false" flipV="false" rot="0">
            <a:off x="12386310" y="3602986"/>
            <a:ext cx="537203" cy="460176"/>
          </a:xfrm>
          <a:custGeom>
            <a:avLst/>
            <a:gdLst/>
            <a:ahLst/>
            <a:cxnLst/>
            <a:rect r="r" b="b" t="t" l="l"/>
            <a:pathLst>
              <a:path h="460176" w="537203">
                <a:moveTo>
                  <a:pt x="0" y="0"/>
                </a:moveTo>
                <a:lnTo>
                  <a:pt x="537203" y="0"/>
                </a:lnTo>
                <a:lnTo>
                  <a:pt x="537203" y="460176"/>
                </a:lnTo>
                <a:lnTo>
                  <a:pt x="0" y="460176"/>
                </a:lnTo>
                <a:lnTo>
                  <a:pt x="0" y="0"/>
                </a:lnTo>
                <a:close/>
              </a:path>
            </a:pathLst>
          </a:custGeom>
          <a:blipFill>
            <a:blip r:embed="rId6"/>
            <a:stretch>
              <a:fillRect l="-3603" t="-121" r="-3603" b="0"/>
            </a:stretch>
          </a:blipFill>
        </p:spPr>
      </p:sp>
      <p:sp>
        <p:nvSpPr>
          <p:cNvPr name="TextBox 25" id="25"/>
          <p:cNvSpPr txBox="true"/>
          <p:nvPr/>
        </p:nvSpPr>
        <p:spPr>
          <a:xfrm rot="0">
            <a:off x="12386310" y="4333095"/>
            <a:ext cx="4091285" cy="815338"/>
          </a:xfrm>
          <a:prstGeom prst="rect">
            <a:avLst/>
          </a:prstGeom>
        </p:spPr>
        <p:txBody>
          <a:bodyPr anchor="t" rtlCol="false" tIns="0" lIns="0" bIns="0" rIns="0">
            <a:spAutoFit/>
          </a:bodyPr>
          <a:lstStyle/>
          <a:p>
            <a:pPr algn="l">
              <a:lnSpc>
                <a:spcPts val="3360"/>
              </a:lnSpc>
            </a:pPr>
            <a:r>
              <a:rPr lang="en-US" sz="2400" b="true">
                <a:solidFill>
                  <a:srgbClr val="00A982"/>
                </a:solidFill>
                <a:latin typeface="Canva Sans Bold"/>
                <a:ea typeface="Canva Sans Bold"/>
                <a:cs typeface="Canva Sans Bold"/>
                <a:sym typeface="Canva Sans Bold"/>
              </a:rPr>
              <a:t>ML for Real-World Network </a:t>
            </a:r>
          </a:p>
          <a:p>
            <a:pPr algn="l">
              <a:lnSpc>
                <a:spcPts val="3360"/>
              </a:lnSpc>
            </a:pPr>
            <a:r>
              <a:rPr lang="en-US" sz="2400" b="true">
                <a:solidFill>
                  <a:srgbClr val="00A982"/>
                </a:solidFill>
                <a:latin typeface="Canva Sans Bold"/>
                <a:ea typeface="Canva Sans Bold"/>
                <a:cs typeface="Canva Sans Bold"/>
                <a:sym typeface="Canva Sans Bold"/>
              </a:rPr>
              <a:t>Traffic</a:t>
            </a:r>
          </a:p>
        </p:txBody>
      </p:sp>
      <p:sp>
        <p:nvSpPr>
          <p:cNvPr name="TextBox 26" id="26"/>
          <p:cNvSpPr txBox="true"/>
          <p:nvPr/>
        </p:nvSpPr>
        <p:spPr>
          <a:xfrm rot="0">
            <a:off x="12386310" y="5318017"/>
            <a:ext cx="4815840" cy="2584898"/>
          </a:xfrm>
          <a:prstGeom prst="rect">
            <a:avLst/>
          </a:prstGeom>
        </p:spPr>
        <p:txBody>
          <a:bodyPr anchor="t" rtlCol="false" tIns="0" lIns="0" bIns="0" rIns="0">
            <a:spAutoFit/>
          </a:bodyPr>
          <a:lstStyle/>
          <a:p>
            <a:pPr algn="l">
              <a:lnSpc>
                <a:spcPts val="2950"/>
              </a:lnSpc>
            </a:pPr>
            <a:r>
              <a:rPr lang="en-US" sz="2107">
                <a:solidFill>
                  <a:srgbClr val="000000"/>
                </a:solidFill>
                <a:latin typeface="Canva Sans"/>
                <a:ea typeface="Canva Sans"/>
                <a:cs typeface="Canva Sans"/>
                <a:sym typeface="Canva Sans"/>
              </a:rPr>
              <a:t>Gain</a:t>
            </a:r>
            <a:r>
              <a:rPr lang="en-US" sz="2107">
                <a:solidFill>
                  <a:srgbClr val="000000"/>
                </a:solidFill>
                <a:latin typeface="Canva Sans"/>
                <a:ea typeface="Canva Sans"/>
                <a:cs typeface="Canva Sans"/>
                <a:sym typeface="Canva Sans"/>
              </a:rPr>
              <a:t>ed practical experience in feature engineering, model training (XGBoost), cross-validation, threshold optimization, SHAP-based interpretability, and evaluating models on unseen network traffic to ensure reliable deployment.</a:t>
            </a:r>
          </a:p>
        </p:txBody>
      </p:sp>
      <p:grpSp>
        <p:nvGrpSpPr>
          <p:cNvPr name="Group 27" id="27"/>
          <p:cNvGrpSpPr/>
          <p:nvPr/>
        </p:nvGrpSpPr>
        <p:grpSpPr>
          <a:xfrm rot="0">
            <a:off x="17202150" y="9603467"/>
            <a:ext cx="511169" cy="285750"/>
            <a:chOff x="0" y="0"/>
            <a:chExt cx="681558" cy="381000"/>
          </a:xfrm>
        </p:grpSpPr>
        <p:sp>
          <p:nvSpPr>
            <p:cNvPr name="Freeform 28" id="28"/>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29" id="29"/>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17</a:t>
              </a:r>
            </a:p>
          </p:txBody>
        </p:sp>
      </p:gr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7726467" y="1917716"/>
            <a:ext cx="2835066" cy="0"/>
          </a:xfrm>
          <a:prstGeom prst="line">
            <a:avLst/>
          </a:prstGeom>
          <a:ln cap="rnd" w="14287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7607808" y="9603467"/>
            <a:ext cx="9326499" cy="285750"/>
            <a:chOff x="0" y="0"/>
            <a:chExt cx="12435332" cy="381000"/>
          </a:xfrm>
        </p:grpSpPr>
        <p:sp>
          <p:nvSpPr>
            <p:cNvPr name="Freeform 6" id="6"/>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7" id="7"/>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8" id="8"/>
          <p:cNvGrpSpPr/>
          <p:nvPr/>
        </p:nvGrpSpPr>
        <p:grpSpPr>
          <a:xfrm rot="0">
            <a:off x="17202150" y="9603467"/>
            <a:ext cx="511169" cy="285750"/>
            <a:chOff x="0" y="0"/>
            <a:chExt cx="681558" cy="381000"/>
          </a:xfrm>
        </p:grpSpPr>
        <p:sp>
          <p:nvSpPr>
            <p:cNvPr name="Freeform 9" id="9"/>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0" id="10"/>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18</a:t>
              </a:r>
            </a:p>
          </p:txBody>
        </p:sp>
      </p:grpSp>
      <p:sp>
        <p:nvSpPr>
          <p:cNvPr name="Freeform 11" id="11"/>
          <p:cNvSpPr/>
          <p:nvPr/>
        </p:nvSpPr>
        <p:spPr>
          <a:xfrm flipH="false" flipV="false" rot="0">
            <a:off x="2065039" y="4476691"/>
            <a:ext cx="14157922" cy="3240839"/>
          </a:xfrm>
          <a:custGeom>
            <a:avLst/>
            <a:gdLst/>
            <a:ahLst/>
            <a:cxnLst/>
            <a:rect r="r" b="b" t="t" l="l"/>
            <a:pathLst>
              <a:path h="3240839" w="14157922">
                <a:moveTo>
                  <a:pt x="0" y="0"/>
                </a:moveTo>
                <a:lnTo>
                  <a:pt x="14157922" y="0"/>
                </a:lnTo>
                <a:lnTo>
                  <a:pt x="14157922" y="3240839"/>
                </a:lnTo>
                <a:lnTo>
                  <a:pt x="0" y="3240839"/>
                </a:lnTo>
                <a:lnTo>
                  <a:pt x="0" y="0"/>
                </a:lnTo>
                <a:close/>
              </a:path>
            </a:pathLst>
          </a:custGeom>
          <a:blipFill>
            <a:blip r:embed="rId5"/>
            <a:stretch>
              <a:fillRect l="-2021" t="-4835" r="0" b="-331"/>
            </a:stretch>
          </a:blipFill>
        </p:spPr>
      </p:sp>
      <p:sp>
        <p:nvSpPr>
          <p:cNvPr name="TextBox 12" id="12"/>
          <p:cNvSpPr txBox="true"/>
          <p:nvPr/>
        </p:nvSpPr>
        <p:spPr>
          <a:xfrm rot="0">
            <a:off x="3429762" y="2446487"/>
            <a:ext cx="11428476" cy="1144258"/>
          </a:xfrm>
          <a:prstGeom prst="rect">
            <a:avLst/>
          </a:prstGeom>
        </p:spPr>
        <p:txBody>
          <a:bodyPr anchor="t" rtlCol="false" tIns="0" lIns="0" bIns="0" rIns="0">
            <a:spAutoFit/>
          </a:bodyPr>
          <a:lstStyle/>
          <a:p>
            <a:pPr algn="ctr">
              <a:lnSpc>
                <a:spcPts val="9380"/>
              </a:lnSpc>
            </a:pPr>
            <a:r>
              <a:rPr lang="en-US" sz="6700" b="true">
                <a:solidFill>
                  <a:srgbClr val="292D3A"/>
                </a:solidFill>
                <a:latin typeface="Canva Sans Bold"/>
                <a:ea typeface="Canva Sans Bold"/>
                <a:cs typeface="Canva Sans Bold"/>
                <a:sym typeface="Canva Sans Bold"/>
              </a:rPr>
              <a:t>Conclusion</a:t>
            </a:r>
          </a:p>
        </p:txBody>
      </p:sp>
      <p:sp>
        <p:nvSpPr>
          <p:cNvPr name="TextBox 13" id="13"/>
          <p:cNvSpPr txBox="true"/>
          <p:nvPr/>
        </p:nvSpPr>
        <p:spPr>
          <a:xfrm rot="0">
            <a:off x="2305341" y="4773068"/>
            <a:ext cx="13435323" cy="2657610"/>
          </a:xfrm>
          <a:prstGeom prst="rect">
            <a:avLst/>
          </a:prstGeom>
        </p:spPr>
        <p:txBody>
          <a:bodyPr anchor="t" rtlCol="false" tIns="0" lIns="0" bIns="0" rIns="0">
            <a:spAutoFit/>
          </a:bodyPr>
          <a:lstStyle/>
          <a:p>
            <a:pPr algn="ctr">
              <a:lnSpc>
                <a:spcPts val="2099"/>
              </a:lnSpc>
              <a:spcBef>
                <a:spcPct val="0"/>
              </a:spcBef>
            </a:pPr>
          </a:p>
          <a:p>
            <a:pPr algn="ctr">
              <a:lnSpc>
                <a:spcPts val="3059"/>
              </a:lnSpc>
              <a:spcBef>
                <a:spcPct val="0"/>
              </a:spcBef>
            </a:pPr>
            <a:r>
              <a:rPr lang="en-US" b="true" sz="2549">
                <a:solidFill>
                  <a:srgbClr val="000000"/>
                </a:solidFill>
                <a:latin typeface="Canva Sans Bold"/>
                <a:ea typeface="Canva Sans Bold"/>
                <a:cs typeface="Canva Sans Bold"/>
                <a:sym typeface="Canva Sans Bold"/>
              </a:rPr>
              <a:t>Major Project Outcomes</a:t>
            </a:r>
          </a:p>
          <a:p>
            <a:pPr algn="ctr">
              <a:lnSpc>
                <a:spcPts val="2099"/>
              </a:lnSpc>
              <a:spcBef>
                <a:spcPct val="0"/>
              </a:spcBef>
            </a:pPr>
          </a:p>
          <a:p>
            <a:pPr algn="l" marL="421002" indent="-210501" lvl="1">
              <a:lnSpc>
                <a:spcPts val="2339"/>
              </a:lnSpc>
              <a:buFont typeface="Arial"/>
              <a:buChar char="•"/>
            </a:pPr>
            <a:r>
              <a:rPr lang="en-US" sz="1949">
                <a:solidFill>
                  <a:srgbClr val="000000"/>
                </a:solidFill>
                <a:latin typeface="Canva Sans"/>
                <a:ea typeface="Canva Sans"/>
                <a:cs typeface="Canva Sans"/>
                <a:sym typeface="Canva Sans"/>
              </a:rPr>
              <a:t>Bypassed the QUIC encryption blindspot using raw byte heuristics and statistical flow modeling.</a:t>
            </a:r>
          </a:p>
          <a:p>
            <a:pPr algn="l">
              <a:lnSpc>
                <a:spcPts val="2339"/>
              </a:lnSpc>
            </a:pPr>
          </a:p>
          <a:p>
            <a:pPr algn="l" marL="421002" indent="-210501" lvl="1">
              <a:lnSpc>
                <a:spcPts val="2339"/>
              </a:lnSpc>
              <a:buFont typeface="Arial"/>
              <a:buChar char="•"/>
            </a:pPr>
            <a:r>
              <a:rPr lang="en-US" sz="1949">
                <a:solidFill>
                  <a:srgbClr val="000000"/>
                </a:solidFill>
                <a:latin typeface="Canva Sans"/>
                <a:ea typeface="Canva Sans"/>
                <a:cs typeface="Canva Sans"/>
                <a:sym typeface="Canva Sans"/>
              </a:rPr>
              <a:t>Achieved an 88.6% real-time classification accuracy via an optimized, SMOTE-balanced XGBoost architecture.</a:t>
            </a:r>
          </a:p>
          <a:p>
            <a:pPr algn="l">
              <a:lnSpc>
                <a:spcPts val="2339"/>
              </a:lnSpc>
            </a:pPr>
          </a:p>
          <a:p>
            <a:pPr algn="l" marL="421002" indent="-210501" lvl="1">
              <a:lnSpc>
                <a:spcPts val="2339"/>
              </a:lnSpc>
              <a:buFont typeface="Arial"/>
              <a:buChar char="•"/>
            </a:pPr>
            <a:r>
              <a:rPr lang="en-US" sz="1949">
                <a:solidFill>
                  <a:srgbClr val="000000"/>
                </a:solidFill>
                <a:latin typeface="Canva Sans"/>
                <a:ea typeface="Canva Sans"/>
                <a:cs typeface="Canva Sans"/>
                <a:sym typeface="Canva Sans"/>
              </a:rPr>
              <a:t>Proved the viability of translating ML predictions into autonomous, dynamic QoS policing via Open vSwitch.</a:t>
            </a:r>
          </a:p>
          <a:p>
            <a:pPr algn="ctr">
              <a:lnSpc>
                <a:spcPts val="2339"/>
              </a:lnSpc>
              <a:spcBef>
                <a:spcPct val="0"/>
              </a:spcBef>
            </a:pP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5">
              <a:extLst>
                <a:ext uri="{96DAC541-7B7A-43D3-8B79-37D633B846F1}">
                  <asvg:svgBlip xmlns:asvg="http://schemas.microsoft.com/office/drawing/2016/SVG/main" r:embed="rId6"/>
                </a:ext>
              </a:extLst>
            </a:blip>
            <a:stretch>
              <a:fillRect l="-27" t="0" r="-28" b="0"/>
            </a:stretch>
          </a:blipFill>
        </p:spPr>
      </p:sp>
      <p:sp>
        <p:nvSpPr>
          <p:cNvPr name="TextBox 4" id="4"/>
          <p:cNvSpPr txBox="true"/>
          <p:nvPr/>
        </p:nvSpPr>
        <p:spPr>
          <a:xfrm rot="0">
            <a:off x="7639221" y="9608658"/>
            <a:ext cx="10076736" cy="226800"/>
          </a:xfrm>
          <a:prstGeom prst="rect">
            <a:avLst/>
          </a:prstGeom>
        </p:spPr>
        <p:txBody>
          <a:bodyPr anchor="t" rtlCol="false" tIns="0" lIns="0" bIns="0" rIns="0">
            <a:spAutoFit/>
          </a:bodyPr>
          <a:lstStyle/>
          <a:p>
            <a:pPr algn="r">
              <a:lnSpc>
                <a:spcPts val="1620"/>
              </a:lnSpc>
            </a:pPr>
            <a:r>
              <a:rPr lang="en-US" sz="1350">
                <a:solidFill>
                  <a:srgbClr val="292D3A"/>
                </a:solidFill>
                <a:latin typeface="Arimo"/>
                <a:ea typeface="Arimo"/>
                <a:cs typeface="Arimo"/>
                <a:sym typeface="Arimo"/>
              </a:rPr>
              <a:t>© 2026 Hewlett Packard Enterprise Development LP</a:t>
            </a:r>
          </a:p>
        </p:txBody>
      </p:sp>
      <p:grpSp>
        <p:nvGrpSpPr>
          <p:cNvPr name="Group 5" id="5"/>
          <p:cNvGrpSpPr/>
          <p:nvPr/>
        </p:nvGrpSpPr>
        <p:grpSpPr>
          <a:xfrm rot="0">
            <a:off x="562356" y="3674364"/>
            <a:ext cx="12282783" cy="1313850"/>
            <a:chOff x="0" y="0"/>
            <a:chExt cx="16377044" cy="1751800"/>
          </a:xfrm>
        </p:grpSpPr>
        <p:sp>
          <p:nvSpPr>
            <p:cNvPr name="Freeform 6" id="6"/>
            <p:cNvSpPr/>
            <p:nvPr/>
          </p:nvSpPr>
          <p:spPr>
            <a:xfrm flipH="false" flipV="false" rot="0">
              <a:off x="0" y="0"/>
              <a:ext cx="16377050" cy="1751798"/>
            </a:xfrm>
            <a:custGeom>
              <a:avLst/>
              <a:gdLst/>
              <a:ahLst/>
              <a:cxnLst/>
              <a:rect r="r" b="b" t="t" l="l"/>
              <a:pathLst>
                <a:path h="1751798" w="16377050">
                  <a:moveTo>
                    <a:pt x="0" y="0"/>
                  </a:moveTo>
                  <a:lnTo>
                    <a:pt x="16377050" y="0"/>
                  </a:lnTo>
                  <a:lnTo>
                    <a:pt x="16377050" y="1751798"/>
                  </a:lnTo>
                  <a:lnTo>
                    <a:pt x="0" y="1751798"/>
                  </a:lnTo>
                  <a:close/>
                </a:path>
              </a:pathLst>
            </a:custGeom>
            <a:blipFill>
              <a:blip r:embed="rId7">
                <a:alphaModFix amt="0"/>
              </a:blip>
              <a:stretch>
                <a:fillRect l="0" t="-132159" r="0" b="-132159"/>
              </a:stretch>
            </a:blipFill>
          </p:spPr>
        </p:sp>
        <p:sp>
          <p:nvSpPr>
            <p:cNvPr name="TextBox 7" id="7"/>
            <p:cNvSpPr txBox="true"/>
            <p:nvPr/>
          </p:nvSpPr>
          <p:spPr>
            <a:xfrm>
              <a:off x="0" y="66675"/>
              <a:ext cx="16377044" cy="1685125"/>
            </a:xfrm>
            <a:prstGeom prst="rect">
              <a:avLst/>
            </a:prstGeom>
          </p:spPr>
          <p:txBody>
            <a:bodyPr anchor="b" rtlCol="false" tIns="0" lIns="0" bIns="0" rIns="0"/>
            <a:lstStyle/>
            <a:p>
              <a:pPr algn="l">
                <a:lnSpc>
                  <a:spcPts val="9072"/>
                </a:lnSpc>
              </a:pPr>
              <a:r>
                <a:rPr lang="en-US" sz="8400" b="true">
                  <a:solidFill>
                    <a:srgbClr val="292D3A"/>
                  </a:solidFill>
                  <a:latin typeface="Arimo Bold"/>
                  <a:ea typeface="Arimo Bold"/>
                  <a:cs typeface="Arimo Bold"/>
                  <a:sym typeface="Arimo Bold"/>
                </a:rPr>
                <a:t>Thank You</a:t>
              </a:r>
            </a:p>
          </p:txBody>
        </p:sp>
      </p:grpSp>
      <p:grpSp>
        <p:nvGrpSpPr>
          <p:cNvPr name="Group 8" id="8"/>
          <p:cNvGrpSpPr/>
          <p:nvPr/>
        </p:nvGrpSpPr>
        <p:grpSpPr>
          <a:xfrm rot="0">
            <a:off x="8389458" y="9289142"/>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7">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DAHNgnySnwQ</dc:identifier>
  <dcterms:modified xsi:type="dcterms:W3CDTF">2011-08-01T06:04:30Z</dcterms:modified>
  <cp:revision>1</cp:revision>
  <dc:title>CPP3 project template - FY26.pptx</dc:title>
</cp:coreProperties>
</file>